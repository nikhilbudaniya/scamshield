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</p:sldIdLst>
  <p:sldSz cy="5143500" cx="9144000"/>
  <p:notesSz cx="6858000" cy="9144000"/>
  <p:embeddedFontLst>
    <p:embeddedFont>
      <p:font typeface="Google Sans Flex Medium"/>
      <p:regular r:id="rId22"/>
      <p:bold r:id="rId23"/>
    </p:embeddedFont>
    <p:embeddedFont>
      <p:font typeface="Google Sans Flex"/>
      <p:regular r:id="rId24"/>
      <p:bold r:id="rId25"/>
    </p:embeddedFont>
    <p:embeddedFont>
      <p:font typeface="Google Sans Flex SemiBold"/>
      <p:regular r:id="rId26"/>
      <p:bold r:id="rId27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font" Target="fonts/GoogleSansFlexMedium-regular.fntdata"/><Relationship Id="rId21" Type="http://schemas.openxmlformats.org/officeDocument/2006/relationships/slide" Target="slides/slide16.xml"/><Relationship Id="rId24" Type="http://schemas.openxmlformats.org/officeDocument/2006/relationships/font" Target="fonts/GoogleSansFlex-regular.fntdata"/><Relationship Id="rId23" Type="http://schemas.openxmlformats.org/officeDocument/2006/relationships/font" Target="fonts/GoogleSansFlexMedium-bold.fntdata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font" Target="fonts/GoogleSansFlexSemiBold-regular.fntdata"/><Relationship Id="rId25" Type="http://schemas.openxmlformats.org/officeDocument/2006/relationships/font" Target="fonts/GoogleSansFlex-bold.fntdata"/><Relationship Id="rId27" Type="http://schemas.openxmlformats.org/officeDocument/2006/relationships/font" Target="fonts/GoogleSansFlexSemiBold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7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g3fb085bff3c_0_13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9" name="Google Shape;59;g3fb085bff3c_0_13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g3fb085bff3c_0_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7" name="Google Shape;67;g3fb085bff3c_0_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3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g3fb085bff3c_0_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5" name="Google Shape;75;g3fb085bff3c_0_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2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g3fb085bff3c_0_1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4" name="Google Shape;84;g3fb085bff3c_0_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g3fb085bff3c_0_2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3" name="Google Shape;93;g3fb085bff3c_0_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g3fb085bff3c_0_2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6" name="Google Shape;116;g3fb085bff3c_0_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g3fb085bff3c_0_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5" name="Google Shape;125;g3fb085bff3c_0_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g3fb085bff3c_0_3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3" name="Google Shape;143;g3fb085bff3c_0_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g3fb085bff3c_0_4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2" name="Google Shape;152;g3fb085bff3c_0_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ScamShield uses Vertex AI Gemini 2.5 Flash-Lite, Firebase Authentication, Firestore and Cloud Run. The ₹100 budget alert through 6 Nov 2026 is not a spending cap. 59 backend tests passed. Live synthetic invoice checks covered extraction, classification, explanation, Firestore reads, idempotency, restart durability and visitor isolation. Use synthetic data only.</a:t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9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g3fb085bff3c_0_4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1" name="Google Shape;161;g3fb085bff3c_0_4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g3fb085bff3c_0_5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1" name="Google Shape;171;g3fb085bff3c_0_5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g3fb085bff3c_0_5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0" name="Google Shape;180;g3fb085bff3c_0_5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g3fb085bff3c_0_6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9" name="Google Shape;189;g3fb085bff3c_0_6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g3fb085bff3c_0_10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8" name="Google Shape;198;g3fb085bff3c_0_10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g3fb085bff3c_0_6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5" name="Google Shape;205;g3fb085bff3c_0_6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5.png"/><Relationship Id="rId4" Type="http://schemas.openxmlformats.org/officeDocument/2006/relationships/image" Target="../media/image1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Relationship Id="rId4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Relationship Id="rId4" Type="http://schemas.openxmlformats.org/officeDocument/2006/relationships/image" Target="../media/image2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2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Relationship Id="rId4" Type="http://schemas.openxmlformats.org/officeDocument/2006/relationships/image" Target="../media/image2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Relationship Id="rId4" Type="http://schemas.openxmlformats.org/officeDocument/2006/relationships/image" Target="../media/image2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5.png"/><Relationship Id="rId4" Type="http://schemas.openxmlformats.org/officeDocument/2006/relationships/image" Target="../media/image2.png"/><Relationship Id="rId5" Type="http://schemas.openxmlformats.org/officeDocument/2006/relationships/image" Target="../media/image3.jp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2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Relationship Id="rId4" Type="http://schemas.openxmlformats.org/officeDocument/2006/relationships/image" Target="../media/image2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5.png"/><Relationship Id="rId4" Type="http://schemas.openxmlformats.org/officeDocument/2006/relationships/image" Target="../media/image2.png"/><Relationship Id="rId5" Type="http://schemas.openxmlformats.org/officeDocument/2006/relationships/hyperlink" Target="https://github.com/NikhilBudaniya/scamshield/releases/download/hackathon-prototype/scamshield-demo.mp4" TargetMode="Externa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5.png"/><Relationship Id="rId4" Type="http://schemas.openxmlformats.org/officeDocument/2006/relationships/image" Target="../media/image2.png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46600" y="2902694"/>
            <a:ext cx="8760000" cy="2003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100"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ScamShield</a:t>
            </a:r>
            <a:endParaRPr sz="2100">
              <a:latin typeface="Google Sans Flex SemiBold"/>
              <a:ea typeface="Google Sans Flex SemiBold"/>
              <a:cs typeface="Google Sans Flex SemiBold"/>
              <a:sym typeface="Google Sans Flex SemiBold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Font typeface="Google Sans Flex"/>
              <a:buAutoNum type="alphaLcPeriod"/>
            </a:pPr>
            <a:r>
              <a:rPr lang="en-GB" sz="1800">
                <a:latin typeface="Google Sans Flex"/>
                <a:ea typeface="Google Sans Flex"/>
                <a:cs typeface="Google Sans Flex"/>
                <a:sym typeface="Google Sans Flex"/>
              </a:rPr>
              <a:t>Team name: pulse</a:t>
            </a:r>
            <a:endParaRPr sz="18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Font typeface="Google Sans Flex"/>
              <a:buAutoNum type="alphaLcPeriod"/>
            </a:pPr>
            <a:r>
              <a:rPr lang="en-GB" sz="1800">
                <a:latin typeface="Google Sans Flex"/>
                <a:ea typeface="Google Sans Flex"/>
                <a:cs typeface="Google Sans Flex"/>
                <a:sym typeface="Google Sans Flex"/>
              </a:rPr>
              <a:t>Team leader name: Nikhil Kumar</a:t>
            </a:r>
            <a:endParaRPr sz="18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Font typeface="Google Sans Flex"/>
              <a:buAutoNum type="alphaLcPeriod"/>
            </a:pPr>
            <a:r>
              <a:rPr lang="en-GB" sz="1800">
                <a:latin typeface="Google Sans Flex"/>
                <a:ea typeface="Google Sans Flex"/>
                <a:cs typeface="Google Sans Flex"/>
                <a:sym typeface="Google Sans Flex"/>
              </a:rPr>
              <a:t>Problem Statement: Invoice bank-detail changes can redirect a payment.</a:t>
            </a:r>
            <a:endParaRPr sz="18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pic>
        <p:nvPicPr>
          <p:cNvPr id="55" name="Google Shape;55;p13" title="Frame 14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-3"/>
            <a:ext cx="9144000" cy="2715526"/>
          </a:xfrm>
          <a:prstGeom prst="rect">
            <a:avLst/>
          </a:prstGeom>
          <a:noFill/>
          <a:ln>
            <a:noFill/>
          </a:ln>
        </p:spPr>
      </p:pic>
      <p:pic>
        <p:nvPicPr>
          <p:cNvPr id="56" name="Google Shape;56;p13" title="Frame 144.png"/>
          <p:cNvPicPr preferRelativeResize="0"/>
          <p:nvPr/>
        </p:nvPicPr>
        <p:blipFill rotWithShape="1">
          <a:blip r:embed="rId4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0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" name="Google Shape;61;p14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sp>
        <p:nvSpPr>
          <p:cNvPr id="62" name="Google Shape;62;p14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3" name="Google Shape;63;p14"/>
          <p:cNvSpPr txBox="1"/>
          <p:nvPr/>
        </p:nvSpPr>
        <p:spPr>
          <a:xfrm>
            <a:off x="5092475" y="1968750"/>
            <a:ext cx="3311400" cy="1206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>
                <a:solidFill>
                  <a:schemeClr val="lt1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Note:</a:t>
            </a:r>
            <a:r>
              <a:rPr lang="en-GB" sz="11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 Please download this template to make your edits and submit the final version.</a:t>
            </a:r>
            <a:br>
              <a:rPr lang="en-GB" sz="11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</a:br>
            <a:br>
              <a:rPr lang="en-GB" sz="11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</a:br>
            <a:r>
              <a:rPr lang="en-GB" sz="11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To download, go to File &gt; Download &gt; Microsoft PowerPoint (.PPTX). Kindly refrain from sending edit requests.</a:t>
            </a:r>
            <a:endParaRPr sz="1100">
              <a:solidFill>
                <a:schemeClr val="lt1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chemeClr val="lt1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</p:txBody>
      </p:sp>
      <p:pic>
        <p:nvPicPr>
          <p:cNvPr id="64" name="Google Shape;64;p1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924203" y="1194675"/>
            <a:ext cx="3604250" cy="2621725"/>
          </a:xfrm>
          <a:prstGeom prst="rect">
            <a:avLst/>
          </a:prstGeom>
          <a:noFill/>
          <a:ln>
            <a:noFill/>
          </a:ln>
          <a:effectLst>
            <a:outerShdw blurRad="971550" rotWithShape="0" algn="bl" dir="5400000" dist="19050">
              <a:schemeClr val="lt1">
                <a:alpha val="50000"/>
              </a:schemeClr>
            </a:outerShdw>
          </a:effectLst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9" name="Google Shape;69;p15" title="Group 427319979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70" name="Google Shape;70;p15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1" name="Google Shape;71;p15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ScamShield invoice intelligence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72" name="Google Shape;72;p15"/>
          <p:cNvSpPr txBox="1"/>
          <p:nvPr/>
        </p:nvSpPr>
        <p:spPr>
          <a:xfrm>
            <a:off x="381000" y="1320800"/>
            <a:ext cx="8382000" cy="3365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solidFill>
                  <a:srgbClr val="1F2926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Invoice instructions can change the destination account while the rest of the invoice looks routine.</a:t>
            </a:r>
            <a:endParaRPr>
              <a:solidFill>
                <a:srgbClr val="1F2926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0" lvl="0" marL="0" rtl="0" algn="l">
              <a:lnSpc>
                <a:spcPct val="112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rgbClr val="1F2926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0" lvl="0" marL="0" rtl="0" algn="l">
              <a:lnSpc>
                <a:spcPct val="112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en-GB">
                <a:solidFill>
                  <a:srgbClr val="1F2926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ScamShield extracts candidate fields for human review, then compares the confirmed destination with a known vendor record. Deterministic policy returns Continue, Verify or Review with evidence.</a:t>
            </a:r>
            <a:endParaRPr>
              <a:solidFill>
                <a:srgbClr val="1F2926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0" lvl="0" marL="0" rtl="0" algn="l">
              <a:lnSpc>
                <a:spcPct val="112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rgbClr val="1F2926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0" lvl="0" marL="0" rtl="0" algn="l">
              <a:lnSpc>
                <a:spcPct val="1120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GB">
                <a:solidFill>
                  <a:srgbClr val="1F2926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LIVE PROTOTYPE  Two synthetic invoice flows ran on the public service. Gemini extracts fields and classifies context. On request, it ranks saved evidence; deterministic templates render the explanation. No payment is executed.</a:t>
            </a:r>
            <a:endParaRPr>
              <a:solidFill>
                <a:srgbClr val="1F2926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6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7" name="Google Shape;77;p16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78" name="Google Shape;78;p16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79" name="Google Shape;79;p16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0" name="Google Shape;80;p16"/>
          <p:cNvSpPr txBox="1"/>
          <p:nvPr/>
        </p:nvSpPr>
        <p:spPr>
          <a:xfrm>
            <a:off x="265350" y="663825"/>
            <a:ext cx="8943000" cy="1366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Opportunities</a:t>
            </a:r>
            <a:br>
              <a:rPr lang="en-GB" sz="1600"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</a:br>
            <a:endParaRPr sz="1600">
              <a:latin typeface="Google Sans Flex SemiBold"/>
              <a:ea typeface="Google Sans Flex SemiBold"/>
              <a:cs typeface="Google Sans Flex SemiBold"/>
              <a:sym typeface="Google Sans Flex SemiBold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81" name="Google Shape;81;p16"/>
          <p:cNvSpPr txBox="1"/>
          <p:nvPr/>
        </p:nvSpPr>
        <p:spPr>
          <a:xfrm>
            <a:off x="381000" y="1524000"/>
            <a:ext cx="8382000" cy="3365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solidFill>
                  <a:srgbClr val="1F2926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DIFFERENTIATION</a:t>
            </a:r>
            <a:endParaRPr>
              <a:solidFill>
                <a:srgbClr val="1F2926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0" lvl="0" marL="0" rtl="0" algn="l">
              <a:lnSpc>
                <a:spcPct val="112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en-GB">
                <a:solidFill>
                  <a:srgbClr val="1F2926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Invoice instructions are reviewed alongside the saved vendor destination before a simulated decision.</a:t>
            </a:r>
            <a:endParaRPr>
              <a:solidFill>
                <a:srgbClr val="1F2926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0" lvl="0" marL="0" rtl="0" algn="l">
              <a:lnSpc>
                <a:spcPct val="112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rgbClr val="1F2926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0" lvl="0" marL="0" rtl="0" algn="l">
              <a:lnSpc>
                <a:spcPct val="112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en-GB">
                <a:solidFill>
                  <a:srgbClr val="1F2926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HOW IT HELPS</a:t>
            </a:r>
            <a:endParaRPr>
              <a:solidFill>
                <a:srgbClr val="1F2926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0" lvl="0" marL="0" rtl="0" algn="l">
              <a:lnSpc>
                <a:spcPct val="112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en-GB">
                <a:solidFill>
                  <a:srgbClr val="1F2926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Vertex Gemini extracts invoice fields and classifies request context. A person reviews and confirms invoice details. Deterministic rules compare the destination with vendor details and show anomalies or missing checks.</a:t>
            </a:r>
            <a:endParaRPr>
              <a:solidFill>
                <a:srgbClr val="1F2926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0" lvl="0" marL="0" rtl="0" algn="l">
              <a:lnSpc>
                <a:spcPct val="112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rgbClr val="1F2926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0" lvl="0" marL="0" rtl="0" algn="l">
              <a:lnSpc>
                <a:spcPct val="112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en-GB">
                <a:solidFill>
                  <a:srgbClr val="1F2926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USP</a:t>
            </a:r>
            <a:endParaRPr>
              <a:solidFill>
                <a:srgbClr val="1F2926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0" lvl="0" marL="0" rtl="0" algn="l">
              <a:lnSpc>
                <a:spcPct val="1120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GB">
                <a:solidFill>
                  <a:srgbClr val="1F2926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The policy decision stays separate from model output. Requested explanations use Gemini-ranked saved evidence and deterministic templates.</a:t>
            </a:r>
            <a:endParaRPr>
              <a:solidFill>
                <a:srgbClr val="1F2926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6" name="Google Shape;86;p17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87" name="Google Shape;87;p17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17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9" name="Google Shape;89;p17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Solution features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90" name="Google Shape;90;p17"/>
          <p:cNvSpPr txBox="1"/>
          <p:nvPr/>
        </p:nvSpPr>
        <p:spPr>
          <a:xfrm>
            <a:off x="381000" y="1320800"/>
            <a:ext cx="8382000" cy="3365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solidFill>
                  <a:srgbClr val="1F2926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CURRENT PROTOTYPE</a:t>
            </a:r>
            <a:endParaRPr>
              <a:solidFill>
                <a:srgbClr val="1F2926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0" lvl="0" marL="0" rtl="0" algn="l">
              <a:lnSpc>
                <a:spcPct val="112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en-GB">
                <a:solidFill>
                  <a:srgbClr val="1F2926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Synthetic consumer UPI and vendor-invoice assessments in INR</a:t>
            </a:r>
            <a:endParaRPr>
              <a:solidFill>
                <a:srgbClr val="1F2926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0" lvl="0" marL="0" rtl="0" algn="l">
              <a:lnSpc>
                <a:spcPct val="112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en-GB">
                <a:solidFill>
                  <a:srgbClr val="1F2926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Shared FastAPI assessment engine with deterministic rules and context classification</a:t>
            </a:r>
            <a:endParaRPr>
              <a:solidFill>
                <a:srgbClr val="1F2926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0" lvl="0" marL="0" rtl="0" algn="l">
              <a:lnSpc>
                <a:spcPct val="112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en-GB">
                <a:solidFill>
                  <a:srgbClr val="1F2926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Vertex Gemini extracts invoice fields and classifies request context</a:t>
            </a:r>
            <a:endParaRPr>
              <a:solidFill>
                <a:srgbClr val="1F2926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0" lvl="0" marL="0" rtl="0" algn="l">
              <a:lnSpc>
                <a:spcPct val="112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en-GB">
                <a:solidFill>
                  <a:srgbClr val="1F2926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Case history stores evidence, missing checks and provider status</a:t>
            </a:r>
            <a:endParaRPr>
              <a:solidFill>
                <a:srgbClr val="1F2926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0" lvl="0" marL="0" rtl="0" algn="l">
              <a:lnSpc>
                <a:spcPct val="112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rgbClr val="1F2926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0" lvl="0" marL="0" rtl="0" algn="l">
              <a:lnSpc>
                <a:spcPct val="112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en-GB">
                <a:solidFill>
                  <a:srgbClr val="1F2926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CLOUD SERVICES</a:t>
            </a:r>
            <a:endParaRPr>
              <a:solidFill>
                <a:srgbClr val="1F2926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0" lvl="0" marL="0" rtl="0" algn="l">
              <a:lnSpc>
                <a:spcPct val="1120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GB">
                <a:solidFill>
                  <a:srgbClr val="1F2926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Cloud Run, Firebase anonymous authentication and Firestore support the live demo. The prototype simulates decisions; no payment is executed.</a:t>
            </a:r>
            <a:endParaRPr>
              <a:solidFill>
                <a:srgbClr val="1F2926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5" name="Google Shape;95;p18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96" name="Google Shape;96;p18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97" name="Google Shape;97;p18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8" name="Google Shape;98;p18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Invoice review flow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99" name="Google Shape;99;p18"/>
          <p:cNvSpPr/>
          <p:nvPr/>
        </p:nvSpPr>
        <p:spPr>
          <a:xfrm>
            <a:off x="342900" y="1752600"/>
            <a:ext cx="1346100" cy="990600"/>
          </a:xfrm>
          <a:prstGeom prst="roundRect">
            <a:avLst>
              <a:gd fmla="val 16667" name="adj"/>
            </a:avLst>
          </a:prstGeom>
          <a:solidFill>
            <a:srgbClr val="E5F2ED"/>
          </a:solidFill>
          <a:ln cap="flat" cmpd="sng" w="9525">
            <a:solidFill>
              <a:srgbClr val="29615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>
                <a:solidFill>
                  <a:srgbClr val="1F2926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Invoice upload</a:t>
            </a:r>
            <a:endParaRPr sz="1100">
              <a:solidFill>
                <a:srgbClr val="1F2926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</p:txBody>
      </p:sp>
      <p:sp>
        <p:nvSpPr>
          <p:cNvPr id="100" name="Google Shape;100;p18"/>
          <p:cNvSpPr/>
          <p:nvPr/>
        </p:nvSpPr>
        <p:spPr>
          <a:xfrm>
            <a:off x="1765300" y="1752600"/>
            <a:ext cx="1346100" cy="990600"/>
          </a:xfrm>
          <a:prstGeom prst="roundRect">
            <a:avLst>
              <a:gd fmla="val 16667" name="adj"/>
            </a:avLst>
          </a:prstGeom>
          <a:solidFill>
            <a:srgbClr val="E5F2ED"/>
          </a:solidFill>
          <a:ln cap="flat" cmpd="sng" w="9525">
            <a:solidFill>
              <a:srgbClr val="29615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>
                <a:solidFill>
                  <a:srgbClr val="1F2926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Gemini field extraction</a:t>
            </a:r>
            <a:endParaRPr sz="1100">
              <a:solidFill>
                <a:srgbClr val="1F2926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</p:txBody>
      </p:sp>
      <p:sp>
        <p:nvSpPr>
          <p:cNvPr id="101" name="Google Shape;101;p18"/>
          <p:cNvSpPr/>
          <p:nvPr/>
        </p:nvSpPr>
        <p:spPr>
          <a:xfrm>
            <a:off x="3187700" y="1752600"/>
            <a:ext cx="1346100" cy="990600"/>
          </a:xfrm>
          <a:prstGeom prst="roundRect">
            <a:avLst>
              <a:gd fmla="val 16667" name="adj"/>
            </a:avLst>
          </a:prstGeom>
          <a:solidFill>
            <a:srgbClr val="E5F2ED"/>
          </a:solidFill>
          <a:ln cap="flat" cmpd="sng" w="9525">
            <a:solidFill>
              <a:srgbClr val="29615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>
                <a:solidFill>
                  <a:srgbClr val="1F2926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Human review and confirmation</a:t>
            </a:r>
            <a:endParaRPr sz="1100">
              <a:solidFill>
                <a:srgbClr val="1F2926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</p:txBody>
      </p:sp>
      <p:sp>
        <p:nvSpPr>
          <p:cNvPr id="102" name="Google Shape;102;p18"/>
          <p:cNvSpPr/>
          <p:nvPr/>
        </p:nvSpPr>
        <p:spPr>
          <a:xfrm>
            <a:off x="4610100" y="1752600"/>
            <a:ext cx="1346100" cy="990600"/>
          </a:xfrm>
          <a:prstGeom prst="roundRect">
            <a:avLst>
              <a:gd fmla="val 16667" name="adj"/>
            </a:avLst>
          </a:prstGeom>
          <a:solidFill>
            <a:srgbClr val="E5F2ED"/>
          </a:solidFill>
          <a:ln cap="flat" cmpd="sng" w="9525">
            <a:solidFill>
              <a:srgbClr val="29615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>
                <a:solidFill>
                  <a:srgbClr val="1F2926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Rules + Gemini context</a:t>
            </a:r>
            <a:endParaRPr sz="1100">
              <a:solidFill>
                <a:srgbClr val="1F2926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</p:txBody>
      </p:sp>
      <p:sp>
        <p:nvSpPr>
          <p:cNvPr id="103" name="Google Shape;103;p18"/>
          <p:cNvSpPr/>
          <p:nvPr/>
        </p:nvSpPr>
        <p:spPr>
          <a:xfrm>
            <a:off x="6032500" y="1752600"/>
            <a:ext cx="1346100" cy="990600"/>
          </a:xfrm>
          <a:prstGeom prst="roundRect">
            <a:avLst>
              <a:gd fmla="val 16667" name="adj"/>
            </a:avLst>
          </a:prstGeom>
          <a:solidFill>
            <a:srgbClr val="E5F2ED"/>
          </a:solidFill>
          <a:ln cap="flat" cmpd="sng" w="9525">
            <a:solidFill>
              <a:srgbClr val="29615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>
                <a:solidFill>
                  <a:srgbClr val="1F2926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Policy decision</a:t>
            </a:r>
            <a:endParaRPr sz="1100">
              <a:solidFill>
                <a:srgbClr val="1F2926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0" lvl="0" marL="0" rtl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>
                <a:solidFill>
                  <a:srgbClr val="1F2926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Continue · Verify · Review</a:t>
            </a:r>
            <a:endParaRPr sz="1100">
              <a:solidFill>
                <a:srgbClr val="1F2926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</p:txBody>
      </p:sp>
      <p:sp>
        <p:nvSpPr>
          <p:cNvPr id="104" name="Google Shape;104;p18"/>
          <p:cNvSpPr/>
          <p:nvPr/>
        </p:nvSpPr>
        <p:spPr>
          <a:xfrm>
            <a:off x="7454900" y="1752600"/>
            <a:ext cx="1346100" cy="990600"/>
          </a:xfrm>
          <a:prstGeom prst="roundRect">
            <a:avLst>
              <a:gd fmla="val 16667" name="adj"/>
            </a:avLst>
          </a:prstGeom>
          <a:solidFill>
            <a:srgbClr val="E5F2ED"/>
          </a:solidFill>
          <a:ln cap="flat" cmpd="sng" w="9525">
            <a:solidFill>
              <a:srgbClr val="29615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>
                <a:solidFill>
                  <a:srgbClr val="1F2926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Firestore case record</a:t>
            </a:r>
            <a:endParaRPr sz="1100">
              <a:solidFill>
                <a:srgbClr val="1F2926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</p:txBody>
      </p:sp>
      <p:cxnSp>
        <p:nvCxnSpPr>
          <p:cNvPr id="105" name="Google Shape;105;p18"/>
          <p:cNvCxnSpPr/>
          <p:nvPr/>
        </p:nvCxnSpPr>
        <p:spPr>
          <a:xfrm>
            <a:off x="1689100" y="2247900"/>
            <a:ext cx="76200" cy="1200"/>
          </a:xfrm>
          <a:prstGeom prst="straightConnector1">
            <a:avLst/>
          </a:prstGeom>
          <a:noFill/>
          <a:ln cap="flat" cmpd="sng" w="19050">
            <a:solidFill>
              <a:srgbClr val="296157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106" name="Google Shape;106;p18"/>
          <p:cNvCxnSpPr/>
          <p:nvPr/>
        </p:nvCxnSpPr>
        <p:spPr>
          <a:xfrm>
            <a:off x="3111500" y="2247900"/>
            <a:ext cx="76200" cy="1200"/>
          </a:xfrm>
          <a:prstGeom prst="straightConnector1">
            <a:avLst/>
          </a:prstGeom>
          <a:noFill/>
          <a:ln cap="flat" cmpd="sng" w="19050">
            <a:solidFill>
              <a:srgbClr val="296157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107" name="Google Shape;107;p18"/>
          <p:cNvCxnSpPr/>
          <p:nvPr/>
        </p:nvCxnSpPr>
        <p:spPr>
          <a:xfrm>
            <a:off x="4533900" y="2247900"/>
            <a:ext cx="76200" cy="1200"/>
          </a:xfrm>
          <a:prstGeom prst="straightConnector1">
            <a:avLst/>
          </a:prstGeom>
          <a:noFill/>
          <a:ln cap="flat" cmpd="sng" w="19050">
            <a:solidFill>
              <a:srgbClr val="296157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108" name="Google Shape;108;p18"/>
          <p:cNvCxnSpPr/>
          <p:nvPr/>
        </p:nvCxnSpPr>
        <p:spPr>
          <a:xfrm>
            <a:off x="5956300" y="2247900"/>
            <a:ext cx="76200" cy="1200"/>
          </a:xfrm>
          <a:prstGeom prst="straightConnector1">
            <a:avLst/>
          </a:prstGeom>
          <a:noFill/>
          <a:ln cap="flat" cmpd="sng" w="19050">
            <a:solidFill>
              <a:srgbClr val="296157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109" name="Google Shape;109;p18"/>
          <p:cNvCxnSpPr/>
          <p:nvPr/>
        </p:nvCxnSpPr>
        <p:spPr>
          <a:xfrm>
            <a:off x="7378700" y="2247900"/>
            <a:ext cx="76200" cy="1200"/>
          </a:xfrm>
          <a:prstGeom prst="straightConnector1">
            <a:avLst/>
          </a:prstGeom>
          <a:noFill/>
          <a:ln cap="flat" cmpd="sng" w="19050">
            <a:solidFill>
              <a:srgbClr val="296157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110" name="Google Shape;110;p18"/>
          <p:cNvSpPr/>
          <p:nvPr/>
        </p:nvSpPr>
        <p:spPr>
          <a:xfrm>
            <a:off x="2476500" y="3175000"/>
            <a:ext cx="2793900" cy="711300"/>
          </a:xfrm>
          <a:prstGeom prst="roundRect">
            <a:avLst>
              <a:gd fmla="val 16667" name="adj"/>
            </a:avLst>
          </a:prstGeom>
          <a:solidFill>
            <a:srgbClr val="F5F2E5"/>
          </a:solidFill>
          <a:ln cap="flat" cmpd="sng" w="9525">
            <a:solidFill>
              <a:srgbClr val="29615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>
                <a:solidFill>
                  <a:srgbClr val="1F2926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On request: Gemini ranks saved evidence</a:t>
            </a:r>
            <a:endParaRPr sz="1100">
              <a:solidFill>
                <a:srgbClr val="1F2926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</p:txBody>
      </p:sp>
      <p:sp>
        <p:nvSpPr>
          <p:cNvPr id="111" name="Google Shape;111;p18"/>
          <p:cNvSpPr/>
          <p:nvPr/>
        </p:nvSpPr>
        <p:spPr>
          <a:xfrm>
            <a:off x="5842000" y="3175000"/>
            <a:ext cx="2793900" cy="711300"/>
          </a:xfrm>
          <a:prstGeom prst="roundRect">
            <a:avLst>
              <a:gd fmla="val 16667" name="adj"/>
            </a:avLst>
          </a:prstGeom>
          <a:solidFill>
            <a:srgbClr val="F5F2E5"/>
          </a:solidFill>
          <a:ln cap="flat" cmpd="sng" w="9525">
            <a:solidFill>
              <a:srgbClr val="29615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>
                <a:solidFill>
                  <a:srgbClr val="1F2926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Deterministic templates render the explanation</a:t>
            </a:r>
            <a:endParaRPr sz="1100">
              <a:solidFill>
                <a:srgbClr val="1F2926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</p:txBody>
      </p:sp>
      <p:cxnSp>
        <p:nvCxnSpPr>
          <p:cNvPr id="112" name="Google Shape;112;p18"/>
          <p:cNvCxnSpPr/>
          <p:nvPr/>
        </p:nvCxnSpPr>
        <p:spPr>
          <a:xfrm>
            <a:off x="5270500" y="3530600"/>
            <a:ext cx="571500" cy="1200"/>
          </a:xfrm>
          <a:prstGeom prst="straightConnector1">
            <a:avLst/>
          </a:prstGeom>
          <a:noFill/>
          <a:ln cap="flat" cmpd="sng" w="19050">
            <a:solidFill>
              <a:srgbClr val="296157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113" name="Google Shape;113;p18"/>
          <p:cNvSpPr txBox="1"/>
          <p:nvPr/>
        </p:nvSpPr>
        <p:spPr>
          <a:xfrm>
            <a:off x="381000" y="4114800"/>
            <a:ext cx="8382000" cy="444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>
                <a:solidFill>
                  <a:srgbClr val="1F2926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Synthetic demo only. The recommendation is simulated; no payment is executed.</a:t>
            </a:r>
            <a:endParaRPr sz="1100">
              <a:solidFill>
                <a:srgbClr val="1F2926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8" name="Google Shape;118;p19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19" name="Google Shape;119;p19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20" name="Google Shape;120;p19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19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Invoice review flow (optional)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22" name="Google Shape;122;p19"/>
          <p:cNvSpPr txBox="1"/>
          <p:nvPr/>
        </p:nvSpPr>
        <p:spPr>
          <a:xfrm>
            <a:off x="381000" y="1320800"/>
            <a:ext cx="8382000" cy="3365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solidFill>
                  <a:srgbClr val="1F2926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INVOICE REVIEW FLOW  Live synthetic cases shown on slide 11</a:t>
            </a:r>
            <a:endParaRPr>
              <a:solidFill>
                <a:srgbClr val="1F2926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0" lvl="0" marL="0" rtl="0" algn="l">
              <a:lnSpc>
                <a:spcPct val="112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rgbClr val="1F2926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0" lvl="0" marL="0" rtl="0" algn="l">
              <a:lnSpc>
                <a:spcPct val="112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en-GB">
                <a:solidFill>
                  <a:srgbClr val="1F2926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Input  Synthetic invoice PDF, PNG or JPEG</a:t>
            </a:r>
            <a:endParaRPr>
              <a:solidFill>
                <a:srgbClr val="1F2926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0" lvl="0" marL="0" rtl="0" algn="l">
              <a:lnSpc>
                <a:spcPct val="112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en-GB">
                <a:solidFill>
                  <a:srgbClr val="1F2926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Extraction  Vertex Gemini returns candidate fields</a:t>
            </a:r>
            <a:endParaRPr>
              <a:solidFill>
                <a:srgbClr val="1F2926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0" lvl="0" marL="0" rtl="0" algn="l">
              <a:lnSpc>
                <a:spcPct val="112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en-GB">
                <a:solidFill>
                  <a:srgbClr val="1F2926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Human review  Confirm fields and select a vendor record</a:t>
            </a:r>
            <a:endParaRPr>
              <a:solidFill>
                <a:srgbClr val="1F2926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0" lvl="0" marL="0" rtl="0" algn="l">
              <a:lnSpc>
                <a:spcPct val="112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en-GB">
                <a:solidFill>
                  <a:srgbClr val="1F2926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Vendor check  Compare requested destination with the saved account</a:t>
            </a:r>
            <a:endParaRPr>
              <a:solidFill>
                <a:srgbClr val="1F2926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0" lvl="0" marL="0" rtl="0" algn="l">
              <a:lnSpc>
                <a:spcPct val="112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en-GB">
                <a:solidFill>
                  <a:srgbClr val="1F2926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Context  Gemini classifies the payment request</a:t>
            </a:r>
            <a:endParaRPr>
              <a:solidFill>
                <a:srgbClr val="1F2926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0" lvl="0" marL="0" rtl="0" algn="l">
              <a:lnSpc>
                <a:spcPct val="112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en-GB">
                <a:solidFill>
                  <a:srgbClr val="1F2926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Decision  Continue, Verify or Review</a:t>
            </a:r>
            <a:endParaRPr>
              <a:solidFill>
                <a:srgbClr val="1F2926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0" lvl="0" marL="0" rtl="0" algn="l">
              <a:lnSpc>
                <a:spcPct val="112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rgbClr val="1F2926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0" lvl="0" marL="0" rtl="0" algn="l">
              <a:lnSpc>
                <a:spcPct val="1120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GB">
                <a:solidFill>
                  <a:srgbClr val="1F2926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The changed destination case recommends Review; the normal invoice returns Continue.</a:t>
            </a:r>
            <a:endParaRPr>
              <a:solidFill>
                <a:srgbClr val="1F2926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6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7" name="Google Shape;127;p20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28" name="Google Shape;128;p20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29" name="Google Shape;129;p20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0" name="Google Shape;130;p20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Target Google Cloud architecture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31" name="Google Shape;131;p20"/>
          <p:cNvSpPr/>
          <p:nvPr/>
        </p:nvSpPr>
        <p:spPr>
          <a:xfrm>
            <a:off x="381000" y="1752600"/>
            <a:ext cx="1905000" cy="1016100"/>
          </a:xfrm>
          <a:prstGeom prst="roundRect">
            <a:avLst>
              <a:gd fmla="val 16667" name="adj"/>
            </a:avLst>
          </a:prstGeom>
          <a:solidFill>
            <a:srgbClr val="E5F2ED"/>
          </a:solidFill>
          <a:ln cap="flat" cmpd="sng" w="9525">
            <a:solidFill>
              <a:srgbClr val="29615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>
                <a:solidFill>
                  <a:srgbClr val="1F2926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Firebase anonymous auth</a:t>
            </a:r>
            <a:endParaRPr sz="1100">
              <a:solidFill>
                <a:srgbClr val="1F2926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</p:txBody>
      </p:sp>
      <p:sp>
        <p:nvSpPr>
          <p:cNvPr id="132" name="Google Shape;132;p20"/>
          <p:cNvSpPr/>
          <p:nvPr/>
        </p:nvSpPr>
        <p:spPr>
          <a:xfrm>
            <a:off x="2540000" y="1752600"/>
            <a:ext cx="1905000" cy="1016100"/>
          </a:xfrm>
          <a:prstGeom prst="roundRect">
            <a:avLst>
              <a:gd fmla="val 16667" name="adj"/>
            </a:avLst>
          </a:prstGeom>
          <a:solidFill>
            <a:srgbClr val="E5F2ED"/>
          </a:solidFill>
          <a:ln cap="flat" cmpd="sng" w="9525">
            <a:solidFill>
              <a:srgbClr val="29615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>
                <a:solidFill>
                  <a:srgbClr val="1F2926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Browser client</a:t>
            </a:r>
            <a:endParaRPr sz="1100">
              <a:solidFill>
                <a:srgbClr val="1F2926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0" lvl="0" marL="0" rtl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>
                <a:solidFill>
                  <a:srgbClr val="1F2926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React</a:t>
            </a:r>
            <a:endParaRPr sz="1100">
              <a:solidFill>
                <a:srgbClr val="1F2926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</p:txBody>
      </p:sp>
      <p:sp>
        <p:nvSpPr>
          <p:cNvPr id="133" name="Google Shape;133;p20"/>
          <p:cNvSpPr/>
          <p:nvPr/>
        </p:nvSpPr>
        <p:spPr>
          <a:xfrm>
            <a:off x="4699000" y="1752600"/>
            <a:ext cx="1905000" cy="1016100"/>
          </a:xfrm>
          <a:prstGeom prst="roundRect">
            <a:avLst>
              <a:gd fmla="val 16667" name="adj"/>
            </a:avLst>
          </a:prstGeom>
          <a:solidFill>
            <a:srgbClr val="E5F2ED"/>
          </a:solidFill>
          <a:ln cap="flat" cmpd="sng" w="9525">
            <a:solidFill>
              <a:srgbClr val="29615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>
                <a:solidFill>
                  <a:srgbClr val="1F2926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Cloud Run</a:t>
            </a:r>
            <a:endParaRPr sz="1100">
              <a:solidFill>
                <a:srgbClr val="1F2926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0" lvl="0" marL="0" rtl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>
                <a:solidFill>
                  <a:srgbClr val="1F2926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FastAPI</a:t>
            </a:r>
            <a:endParaRPr sz="1100">
              <a:solidFill>
                <a:srgbClr val="1F2926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</p:txBody>
      </p:sp>
      <p:sp>
        <p:nvSpPr>
          <p:cNvPr id="134" name="Google Shape;134;p20"/>
          <p:cNvSpPr/>
          <p:nvPr/>
        </p:nvSpPr>
        <p:spPr>
          <a:xfrm>
            <a:off x="6858000" y="1752600"/>
            <a:ext cx="1905000" cy="1016100"/>
          </a:xfrm>
          <a:prstGeom prst="roundRect">
            <a:avLst>
              <a:gd fmla="val 16667" name="adj"/>
            </a:avLst>
          </a:prstGeom>
          <a:solidFill>
            <a:srgbClr val="E5F2ED"/>
          </a:solidFill>
          <a:ln cap="flat" cmpd="sng" w="9525">
            <a:solidFill>
              <a:srgbClr val="29615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>
                <a:solidFill>
                  <a:srgbClr val="1F2926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Vertex AI</a:t>
            </a:r>
            <a:endParaRPr sz="1100">
              <a:solidFill>
                <a:srgbClr val="1F2926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0" lvl="0" marL="0" rtl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>
                <a:solidFill>
                  <a:srgbClr val="1F2926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Gemini 2.5 Flash-Lite</a:t>
            </a:r>
            <a:endParaRPr sz="1100">
              <a:solidFill>
                <a:srgbClr val="1F2926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</p:txBody>
      </p:sp>
      <p:cxnSp>
        <p:nvCxnSpPr>
          <p:cNvPr id="135" name="Google Shape;135;p20"/>
          <p:cNvCxnSpPr/>
          <p:nvPr/>
        </p:nvCxnSpPr>
        <p:spPr>
          <a:xfrm>
            <a:off x="2286000" y="2260600"/>
            <a:ext cx="254100" cy="1200"/>
          </a:xfrm>
          <a:prstGeom prst="straightConnector1">
            <a:avLst/>
          </a:prstGeom>
          <a:noFill/>
          <a:ln cap="flat" cmpd="sng" w="19050">
            <a:solidFill>
              <a:srgbClr val="296157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136" name="Google Shape;136;p20"/>
          <p:cNvCxnSpPr/>
          <p:nvPr/>
        </p:nvCxnSpPr>
        <p:spPr>
          <a:xfrm>
            <a:off x="4445000" y="2260600"/>
            <a:ext cx="254100" cy="1200"/>
          </a:xfrm>
          <a:prstGeom prst="straightConnector1">
            <a:avLst/>
          </a:prstGeom>
          <a:noFill/>
          <a:ln cap="flat" cmpd="sng" w="19050">
            <a:solidFill>
              <a:srgbClr val="296157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137" name="Google Shape;137;p20"/>
          <p:cNvCxnSpPr/>
          <p:nvPr/>
        </p:nvCxnSpPr>
        <p:spPr>
          <a:xfrm>
            <a:off x="6604000" y="2260600"/>
            <a:ext cx="254100" cy="1200"/>
          </a:xfrm>
          <a:prstGeom prst="straightConnector1">
            <a:avLst/>
          </a:prstGeom>
          <a:noFill/>
          <a:ln cap="flat" cmpd="sng" w="19050">
            <a:solidFill>
              <a:srgbClr val="296157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138" name="Google Shape;138;p20"/>
          <p:cNvSpPr/>
          <p:nvPr/>
        </p:nvSpPr>
        <p:spPr>
          <a:xfrm>
            <a:off x="4572000" y="3302000"/>
            <a:ext cx="2286000" cy="762000"/>
          </a:xfrm>
          <a:prstGeom prst="roundRect">
            <a:avLst>
              <a:gd fmla="val 16667" name="adj"/>
            </a:avLst>
          </a:prstGeom>
          <a:solidFill>
            <a:srgbClr val="F5F2E5"/>
          </a:solidFill>
          <a:ln cap="flat" cmpd="sng" w="9525">
            <a:solidFill>
              <a:srgbClr val="29615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>
                <a:solidFill>
                  <a:srgbClr val="1F2926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Firestore</a:t>
            </a:r>
            <a:endParaRPr sz="1100">
              <a:solidFill>
                <a:srgbClr val="1F2926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0" lvl="0" marL="0" rtl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>
                <a:solidFill>
                  <a:srgbClr val="1F2926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Owner-scoped cases + quotas</a:t>
            </a:r>
            <a:endParaRPr sz="1100">
              <a:solidFill>
                <a:srgbClr val="1F2926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</p:txBody>
      </p:sp>
      <p:cxnSp>
        <p:nvCxnSpPr>
          <p:cNvPr id="139" name="Google Shape;139;p20"/>
          <p:cNvCxnSpPr/>
          <p:nvPr/>
        </p:nvCxnSpPr>
        <p:spPr>
          <a:xfrm>
            <a:off x="5524500" y="2768600"/>
            <a:ext cx="190500" cy="533400"/>
          </a:xfrm>
          <a:prstGeom prst="straightConnector1">
            <a:avLst/>
          </a:prstGeom>
          <a:noFill/>
          <a:ln cap="flat" cmpd="sng" w="19050">
            <a:solidFill>
              <a:srgbClr val="296157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140" name="Google Shape;140;p20"/>
          <p:cNvSpPr txBox="1"/>
          <p:nvPr/>
        </p:nvSpPr>
        <p:spPr>
          <a:xfrm>
            <a:off x="381000" y="4279900"/>
            <a:ext cx="8382000" cy="609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>
                <a:solidFill>
                  <a:srgbClr val="1F2926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Deterministic rules set the decision. On request, Gemini ranks saved evidence and templates render the explanation. No direct browser access to Firestore; no payment executes.</a:t>
            </a:r>
            <a:endParaRPr sz="1100">
              <a:solidFill>
                <a:srgbClr val="1F2926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5" name="Google Shape;145;p21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6" name="Google Shape;146;p21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47" name="Google Shape;147;p21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8" name="Google Shape;148;p21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Technology stack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49" name="Google Shape;149;p21"/>
          <p:cNvSpPr txBox="1"/>
          <p:nvPr/>
        </p:nvSpPr>
        <p:spPr>
          <a:xfrm>
            <a:off x="381000" y="1320800"/>
            <a:ext cx="8382000" cy="3365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00">
                <a:solidFill>
                  <a:srgbClr val="1F2926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APPLICATION</a:t>
            </a:r>
            <a:endParaRPr sz="1300">
              <a:solidFill>
                <a:srgbClr val="1F2926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0" lvl="0" marL="0" rtl="0" algn="l">
              <a:lnSpc>
                <a:spcPct val="112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en-GB" sz="1300">
                <a:solidFill>
                  <a:srgbClr val="1F2926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React and TypeScript client, Python FastAPI service, deterministic policy and evidence-backed case records.</a:t>
            </a:r>
            <a:endParaRPr sz="1300">
              <a:solidFill>
                <a:srgbClr val="1F2926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0" lvl="0" marL="0" rtl="0" algn="l">
              <a:lnSpc>
                <a:spcPct val="112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sz="1300">
              <a:solidFill>
                <a:srgbClr val="1F2926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0" lvl="0" marL="0" rtl="0" algn="l">
              <a:lnSpc>
                <a:spcPct val="112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en-GB" sz="1300">
                <a:solidFill>
                  <a:srgbClr val="1F2926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GOOGLE CLOUD</a:t>
            </a:r>
            <a:endParaRPr sz="1300">
              <a:solidFill>
                <a:srgbClr val="1F2926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0" lvl="0" marL="0" rtl="0" algn="l">
              <a:lnSpc>
                <a:spcPct val="112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en-GB" sz="1300">
                <a:solidFill>
                  <a:srgbClr val="1F2926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Firebase anonymous authentication, Firestore, Cloud Run and Vertex AI Gemini 2.5 Flash-Lite. Two live synthetic invoice paths returned Continue and Review.</a:t>
            </a:r>
            <a:endParaRPr sz="1300">
              <a:solidFill>
                <a:srgbClr val="1F2926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0" lvl="0" marL="0" rtl="0" algn="l">
              <a:lnSpc>
                <a:spcPct val="112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sz="1300">
              <a:solidFill>
                <a:srgbClr val="1F2926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0" lvl="0" marL="0" rtl="0" algn="l">
              <a:lnSpc>
                <a:spcPct val="1120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GB" sz="1300">
                <a:solidFill>
                  <a:srgbClr val="1F2926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The app is human reviewed. Requested explanations use Gemini-ranked recorded evidence rendered with deterministic templates. No real payment is initiated.</a:t>
            </a:r>
            <a:endParaRPr sz="1300">
              <a:solidFill>
                <a:srgbClr val="1F2926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4" name="Google Shape;154;p22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55" name="Google Shape;155;p22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56" name="Google Shape;156;p22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22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Implementation cost (optional)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58" name="Google Shape;158;p22"/>
          <p:cNvSpPr txBox="1"/>
          <p:nvPr/>
        </p:nvSpPr>
        <p:spPr>
          <a:xfrm>
            <a:off x="381000" y="1320800"/>
            <a:ext cx="8382000" cy="3365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00">
                <a:solidFill>
                  <a:srgbClr val="1F2926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CLOUD COST STATUS</a:t>
            </a:r>
            <a:endParaRPr sz="1300">
              <a:solidFill>
                <a:srgbClr val="1F2926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0" lvl="0" marL="0" rtl="0" algn="l">
              <a:lnSpc>
                <a:spcPct val="112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en-GB" sz="1300">
                <a:solidFill>
                  <a:srgbClr val="1F2926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Project billing is enabled. No credit coverage is confirmed. Cloud Run, Firestore and Vertex AI calls may incur charges.</a:t>
            </a:r>
            <a:endParaRPr sz="1300">
              <a:solidFill>
                <a:srgbClr val="1F2926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0" lvl="0" marL="0" rtl="0" algn="l">
              <a:lnSpc>
                <a:spcPct val="112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sz="1300">
              <a:solidFill>
                <a:srgbClr val="1F2926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0" lvl="0" marL="0" rtl="0" algn="l">
              <a:lnSpc>
                <a:spcPct val="112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en-GB" sz="1300">
                <a:solidFill>
                  <a:srgbClr val="1F2926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A ₹100 project budget alert is configured through 6 November 2026. Budget alerts notify; they do not stop spending.</a:t>
            </a:r>
            <a:endParaRPr sz="1300">
              <a:solidFill>
                <a:srgbClr val="1F2926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0" lvl="0" marL="0" rtl="0" algn="l">
              <a:lnSpc>
                <a:spcPct val="112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sz="1300">
              <a:solidFill>
                <a:srgbClr val="1F2926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0" lvl="0" marL="0" rtl="0" algn="l">
              <a:lnSpc>
                <a:spcPct val="112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en-GB" sz="1300">
                <a:solidFill>
                  <a:srgbClr val="1F2926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APPLICATION REQUEST LIMITS</a:t>
            </a:r>
            <a:endParaRPr sz="1300">
              <a:solidFill>
                <a:srgbClr val="1F2926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0" lvl="0" marL="0" rtl="0" algn="l">
              <a:lnSpc>
                <a:spcPct val="112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en-GB" sz="1300">
                <a:solidFill>
                  <a:srgbClr val="1F2926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9 model attempts per visitor per day · 50 globally per day · 200 total. These limits restrict model calls and are not a billing cap.</a:t>
            </a:r>
            <a:endParaRPr sz="1300">
              <a:solidFill>
                <a:srgbClr val="1F2926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0" lvl="0" marL="0" rtl="0" algn="l">
              <a:lnSpc>
                <a:spcPct val="112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sz="1300">
              <a:solidFill>
                <a:srgbClr val="1F2926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0" lvl="0" marL="0" rtl="0" algn="l">
              <a:lnSpc>
                <a:spcPct val="1120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GB" sz="1300">
                <a:solidFill>
                  <a:srgbClr val="1F2926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Use synthetic invoice data only.</a:t>
            </a:r>
            <a:endParaRPr sz="1300">
              <a:solidFill>
                <a:srgbClr val="1F2926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2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3" name="Google Shape;163;p23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64" name="Google Shape;164;p23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65" name="Google Shape;165;p23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23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Live synthetic case evidence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pic>
        <p:nvPicPr>
          <p:cNvPr id="167" name="Google Shape;167;p23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533400" y="1321024"/>
            <a:ext cx="2209799" cy="3479351"/>
          </a:xfrm>
          <a:prstGeom prst="rect">
            <a:avLst/>
          </a:prstGeom>
          <a:noFill/>
          <a:ln>
            <a:noFill/>
          </a:ln>
        </p:spPr>
      </p:pic>
      <p:sp>
        <p:nvSpPr>
          <p:cNvPr id="168" name="Google Shape;168;p23"/>
          <p:cNvSpPr txBox="1"/>
          <p:nvPr/>
        </p:nvSpPr>
        <p:spPr>
          <a:xfrm>
            <a:off x="3365500" y="1651000"/>
            <a:ext cx="5207100" cy="2984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solidFill>
                  <a:srgbClr val="1F2926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LIVE SYNTHETIC INVOICE CASE</a:t>
            </a:r>
            <a:endParaRPr>
              <a:solidFill>
                <a:srgbClr val="1F2926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0" lvl="0" marL="0" rtl="0" algn="l">
              <a:lnSpc>
                <a:spcPct val="112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en-GB">
                <a:solidFill>
                  <a:srgbClr val="1F2926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The public app used Vertex Gemini to extract fields and classify request context. The person confirmed the vendor destination before assessment. Requested explanations use Gemini-ranked saved evidence and deterministic templates.</a:t>
            </a:r>
            <a:endParaRPr>
              <a:solidFill>
                <a:srgbClr val="1F2926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0" lvl="0" marL="0" rtl="0" algn="l">
              <a:lnSpc>
                <a:spcPct val="112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rgbClr val="1F2926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0" lvl="0" marL="0" rtl="0" algn="l">
              <a:lnSpc>
                <a:spcPct val="1120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GB">
                <a:solidFill>
                  <a:srgbClr val="1F2926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One invoice matched the saved account and returned Continue. The changed destination and bypass request returned Review. Firestore retained both cases across a deployment revision. No payment moved.</a:t>
            </a:r>
            <a:endParaRPr>
              <a:solidFill>
                <a:srgbClr val="1F2926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3" name="Google Shape;173;p24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74" name="Google Shape;174;p24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75" name="Google Shape;175;p24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6" name="Google Shape;176;p24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Prototype Performance report/Benchmarking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77" name="Google Shape;177;p24"/>
          <p:cNvSpPr txBox="1"/>
          <p:nvPr/>
        </p:nvSpPr>
        <p:spPr>
          <a:xfrm>
            <a:off x="381000" y="1320800"/>
            <a:ext cx="8382000" cy="3365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00">
                <a:solidFill>
                  <a:srgbClr val="1F2926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SOFTWARE CHECKS</a:t>
            </a:r>
            <a:endParaRPr sz="1300">
              <a:solidFill>
                <a:srgbClr val="1F2926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0" lvl="0" marL="0" rtl="0" algn="l">
              <a:lnSpc>
                <a:spcPct val="112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en-GB" sz="1300">
                <a:solidFill>
                  <a:srgbClr val="1F2926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59 backend tests pass in the release check.</a:t>
            </a:r>
            <a:endParaRPr sz="1300">
              <a:solidFill>
                <a:srgbClr val="1F2926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0" lvl="0" marL="0" rtl="0" algn="l">
              <a:lnSpc>
                <a:spcPct val="112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sz="1300">
              <a:solidFill>
                <a:srgbClr val="1F2926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0" lvl="0" marL="0" rtl="0" algn="l">
              <a:lnSpc>
                <a:spcPct val="112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en-GB" sz="1300">
                <a:solidFill>
                  <a:srgbClr val="1F2926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LIVE INTEGRATION CHECK</a:t>
            </a:r>
            <a:endParaRPr sz="1300">
              <a:solidFill>
                <a:srgbClr val="1F2926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0" lvl="0" marL="0" rtl="0" algn="l">
              <a:lnSpc>
                <a:spcPct val="112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en-GB" sz="1300">
                <a:solidFill>
                  <a:srgbClr val="1F2926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Two synthetic invoice flows completed with live Vertex Gemini extraction and classification. A requested explanation used Gemini-ranked evidence with deterministic templates. Firestore readback, retry idempotency, restart durability and visitor isolation were verified.</a:t>
            </a:r>
            <a:endParaRPr sz="1300">
              <a:solidFill>
                <a:srgbClr val="1F2926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0" lvl="0" marL="0" rtl="0" algn="l">
              <a:lnSpc>
                <a:spcPct val="112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sz="1300">
              <a:solidFill>
                <a:srgbClr val="1F2926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0" lvl="0" marL="0" rtl="0" algn="l">
              <a:lnSpc>
                <a:spcPct val="112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en-GB" sz="1300">
                <a:solidFill>
                  <a:srgbClr val="1F2926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LIMITS</a:t>
            </a:r>
            <a:endParaRPr sz="1300">
              <a:solidFill>
                <a:srgbClr val="1F2926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0" lvl="0" marL="0" rtl="0" algn="l">
              <a:lnSpc>
                <a:spcPct val="1120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GB" sz="1300">
                <a:solidFill>
                  <a:srgbClr val="1F2926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Tests do not measure model accuracy or real-world fraud detection. No accuracy or latency benchmark is claimed.</a:t>
            </a:r>
            <a:endParaRPr sz="1300">
              <a:solidFill>
                <a:srgbClr val="1F2926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2" name="Google Shape;182;p25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83" name="Google Shape;183;p25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84" name="Google Shape;184;p25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5" name="Google Shape;185;p25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Future development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86" name="Google Shape;186;p25"/>
          <p:cNvSpPr txBox="1"/>
          <p:nvPr/>
        </p:nvSpPr>
        <p:spPr>
          <a:xfrm>
            <a:off x="381000" y="1320800"/>
            <a:ext cx="8382000" cy="3365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00">
                <a:solidFill>
                  <a:srgbClr val="1F2926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NEXT STEPS</a:t>
            </a:r>
            <a:endParaRPr sz="1300">
              <a:solidFill>
                <a:srgbClr val="1F2926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0" lvl="0" marL="0" rtl="0" algn="l">
              <a:lnSpc>
                <a:spcPct val="112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en-GB" sz="1300">
                <a:solidFill>
                  <a:srgbClr val="1F2926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01  Continue testing model failure, malformed files and quota exhaustion.</a:t>
            </a:r>
            <a:endParaRPr sz="1300">
              <a:solidFill>
                <a:srgbClr val="1F2926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0" lvl="0" marL="0" rtl="0" algn="l">
              <a:lnSpc>
                <a:spcPct val="112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en-GB" sz="1300">
                <a:solidFill>
                  <a:srgbClr val="1F2926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02  Expand evaluation with reviewed synthetic cases before making performance claims.</a:t>
            </a:r>
            <a:endParaRPr sz="1300">
              <a:solidFill>
                <a:srgbClr val="1F2926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0" lvl="0" marL="0" rtl="0" algn="l">
              <a:lnSpc>
                <a:spcPct val="112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en-GB" sz="1300">
                <a:solidFill>
                  <a:srgbClr val="1F2926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03  Monitor Cloud usage against the ₹100 budget alert through 6 November 2026.</a:t>
            </a:r>
            <a:endParaRPr sz="1300">
              <a:solidFill>
                <a:srgbClr val="1F2926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0" lvl="0" marL="0" rtl="0" algn="l">
              <a:lnSpc>
                <a:spcPct val="1120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GB" sz="1300">
                <a:solidFill>
                  <a:srgbClr val="1F2926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04  Keep a human in the review path; the app never initiates a payment.</a:t>
            </a:r>
            <a:endParaRPr sz="1300">
              <a:solidFill>
                <a:srgbClr val="1F2926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1" name="Google Shape;191;p26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92" name="Google Shape;192;p26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93" name="Google Shape;193;p26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26"/>
          <p:cNvSpPr txBox="1"/>
          <p:nvPr/>
        </p:nvSpPr>
        <p:spPr>
          <a:xfrm>
            <a:off x="265350" y="663825"/>
            <a:ext cx="8943000" cy="1333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Submission links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95" name="Google Shape;195;p26"/>
          <p:cNvSpPr txBox="1"/>
          <p:nvPr/>
        </p:nvSpPr>
        <p:spPr>
          <a:xfrm>
            <a:off x="381000" y="1600200"/>
            <a:ext cx="8382000" cy="3365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solidFill>
                  <a:srgbClr val="1F2926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Public repository</a:t>
            </a:r>
            <a:endParaRPr>
              <a:solidFill>
                <a:srgbClr val="1F2926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0" lvl="0" marL="0" rtl="0" algn="l">
              <a:lnSpc>
                <a:spcPct val="112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en-GB">
                <a:solidFill>
                  <a:srgbClr val="1F2926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https://github.com/NikhilBudaniya/scamshield</a:t>
            </a:r>
            <a:endParaRPr>
              <a:solidFill>
                <a:srgbClr val="1F2926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0" lvl="0" marL="0" rtl="0" algn="l">
              <a:lnSpc>
                <a:spcPct val="112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rgbClr val="1F2926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0" lvl="0" marL="0" rtl="0" algn="l">
              <a:lnSpc>
                <a:spcPct val="112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en-GB">
                <a:solidFill>
                  <a:srgbClr val="1F2926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Live Cloud Run app</a:t>
            </a:r>
            <a:endParaRPr>
              <a:solidFill>
                <a:srgbClr val="1F2926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0" lvl="0" marL="0" rtl="0" algn="l">
              <a:lnSpc>
                <a:spcPct val="112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en-GB">
                <a:solidFill>
                  <a:srgbClr val="1F2926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https://scamshield-304420617883.us-central1.run.app</a:t>
            </a:r>
            <a:endParaRPr>
              <a:solidFill>
                <a:srgbClr val="1F2926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0" lvl="0" marL="0" rtl="0" algn="l">
              <a:lnSpc>
                <a:spcPct val="112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rgbClr val="1F2926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0" lvl="0" marL="0" rtl="0" algn="l">
              <a:lnSpc>
                <a:spcPct val="112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en-GB">
                <a:solidFill>
                  <a:srgbClr val="1F2926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3:03 demo video</a:t>
            </a:r>
            <a:endParaRPr>
              <a:solidFill>
                <a:srgbClr val="1F2926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0" lvl="0" marL="0" rtl="0" algn="l">
              <a:lnSpc>
                <a:spcPct val="112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en-GB" u="sng">
                <a:solidFill>
                  <a:srgbClr val="14428C"/>
                </a:solidFill>
                <a:latin typeface="Google Sans Flex"/>
                <a:ea typeface="Google Sans Flex"/>
                <a:cs typeface="Google Sans Flex"/>
                <a:sym typeface="Google Sans Flex"/>
                <a:hlinkClick r:id="rId5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Watch demo video (3:03)</a:t>
            </a:r>
            <a:endParaRPr u="sng">
              <a:solidFill>
                <a:srgbClr val="14428C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0" lvl="0" marL="0" rtl="0" algn="l">
              <a:lnSpc>
                <a:spcPct val="112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rgbClr val="1F2926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0" lvl="0" marL="0" rtl="0" algn="l">
              <a:lnSpc>
                <a:spcPct val="1120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GB">
                <a:solidFill>
                  <a:srgbClr val="1F2926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Use synthetic examples only. No payment is executed.</a:t>
            </a:r>
            <a:endParaRPr>
              <a:solidFill>
                <a:srgbClr val="1F2926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9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0" name="Google Shape;200;p27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01" name="Google Shape;201;p27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202" name="Google Shape;202;p27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6" name="Shape 2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7" name="Google Shape;207;p28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08" name="Google Shape;208;p28" title="Frame 145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0"/>
            <a:ext cx="9144000" cy="514351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