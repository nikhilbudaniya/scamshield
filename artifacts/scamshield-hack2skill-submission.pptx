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GoogleSansFlexMedium-regular.fntdata"/><Relationship Id="rId21" Type="http://schemas.openxmlformats.org/officeDocument/2006/relationships/slide" Target="slides/slide16.xml"/><Relationship Id="rId24" Type="http://schemas.openxmlformats.org/officeDocument/2006/relationships/font" Target="fonts/GoogleSansFlex-regular.fntdata"/><Relationship Id="rId23" Type="http://schemas.openxmlformats.org/officeDocument/2006/relationships/font" Target="fonts/GoogleSansFlex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oogleSansFlexSemiBold-regular.fntdata"/><Relationship Id="rId25" Type="http://schemas.openxmlformats.org/officeDocument/2006/relationships/font" Target="fonts/GoogleSansFlex-bold.fntdata"/><Relationship Id="rId27"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Gemini API pricing: https://ai.google.dev/gemini-api/docs/pricing. Firebase pricing: https://firebase.google.com/pricing. Cloud Run pricing: https://cloud.google.com/run/pricing. Checked 18 Oct 2026. Free-tier content-use and rate-limit terms may change. Use synthetic invoices only.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ScamShield</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pulse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Nikhil 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Invoice bank-detail changes can redirect a payment.</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ScamShield invoice intelligence</a:t>
            </a:r>
            <a:endParaRPr sz="1600">
              <a:latin typeface="Google Sans Flex Medium"/>
              <a:ea typeface="Google Sans Flex Medium"/>
              <a:cs typeface="Google Sans Flex Medium"/>
              <a:sym typeface="Google Sans Flex Medium"/>
            </a:endParaRPr>
          </a:p>
        </p:txBody>
      </p:sp>
      <p:sp>
        <p:nvSpPr>
          <p:cNvPr id="72" name="Google Shape;72;p15"/>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Invoice instructions can change the payment destination while the invoice still looks routine.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The intended live flow uses Gemini to propose candidate fields, then asks a person to confirm them before comparison with the saved vendor record. The local demo loads a saved fixture. No payment is executed.</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CURRENT PROTOTYPE  Synthetic INR forms, a shared assessment API, deterministic rules and case evidence. </a:t>
            </a:r>
            <a:r>
              <a:rPr lang="en-GB">
                <a:solidFill>
                  <a:srgbClr val="1F2926"/>
                </a:solidFill>
                <a:latin typeface="Google Sans Flex"/>
                <a:ea typeface="Google Sans Flex"/>
                <a:cs typeface="Google Sans Flex"/>
                <a:sym typeface="Google Sans Flex"/>
              </a:rPr>
              <a:t>Local fixture-mode invoice review is available. Live Gemini extraction, hosted persistence and Cloud Run are unverified.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pic>
        <p:nvPicPr>
          <p:cNvPr id="77" name="Google Shape;77;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8" name="Google Shape;78;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9" name="Google Shape;79;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0" name="Google Shape;80;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81" name="Google Shape;81;p16"/>
          <p:cNvSpPr txBox="1"/>
          <p:nvPr/>
        </p:nvSpPr>
        <p:spPr>
          <a:xfrm>
            <a:off x="381000" y="1981200"/>
            <a:ext cx="8400000" cy="276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DIFFERENTIATION</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Assess invoice instructions alongside the saved vendor destination before payment approval.</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HOW IT HELPS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Gemini proposes structured fields. A person checks and confirms them. Deterministic rules compare the confirmed destination with vendor details and surface anomalies or missing checks.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USP</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Evidence stays visible. A separate policy recommends continue, verify or review. The simulator moves no money and never treats extracted identity as trusted by itself.</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7" name="Google Shape;87;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8" name="Google Shape;88;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9" name="Google Shape;89;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Solution features</a:t>
            </a:r>
            <a:endParaRPr sz="1600">
              <a:latin typeface="Google Sans Flex Medium"/>
              <a:ea typeface="Google Sans Flex Medium"/>
              <a:cs typeface="Google Sans Flex Medium"/>
              <a:sym typeface="Google Sans Flex Medium"/>
            </a:endParaRPr>
          </a:p>
        </p:txBody>
      </p:sp>
      <p:sp>
        <p:nvSpPr>
          <p:cNvPr id="90" name="Google Shape;90;p17"/>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CURRENT PROTOTYPE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Synthetic consumer UPI and vendor-invoice assessments in INR</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Shared FastAPI assessment engine with deterministic rules and optional context classification</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Case history records evidence, missing checks and provider status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Fixture mode keeps the local walkthrough repeatable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INVOICE REVIEW</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Local invoice review uses a saved fixture. Gemini extraction with human confirmation, vendor comparison, anomaly evidence and downloadable case JSON is the intended live path; live extraction and hosted persistence remain unverified.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pic>
        <p:nvPicPr>
          <p:cNvPr id="95" name="Google Shape;95;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6" name="Google Shape;96;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7" name="Google Shape;97;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8" name="Google Shape;98;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Invoice review flow</a:t>
            </a:r>
            <a:endParaRPr sz="1600">
              <a:latin typeface="Google Sans Flex Medium"/>
              <a:ea typeface="Google Sans Flex Medium"/>
              <a:cs typeface="Google Sans Flex Medium"/>
              <a:sym typeface="Google Sans Flex Medium"/>
            </a:endParaRPr>
          </a:p>
        </p:txBody>
      </p:sp>
      <p:sp>
        <p:nvSpPr>
          <p:cNvPr id="99" name="Google Shape;99;p18"/>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PROPOSED INVOICE FLOW</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01  Upload a PDF, PNG or JPEG invoice up to 5 MiB.</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02  The intended live path uses Gemini to propose fields; the current demo loads a saved fixture.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03  A person reviews and edits the extracted fields. Nothing submits automatically.</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04  The person selects a known vendor record and confirms the destination.</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05  Rules check changed details, transaction history and missing data.</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06  The policy returns continue, verify or review with visible evidence.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07  The operator chooses a simulated next step. No payment is executed.</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The local upload/review walkthrough uses a saved fixture. Live Gemini extraction has not been verified.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5" name="Google Shape;105;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6" name="Google Shape;106;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 name="Google Shape;107;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Invoice review flow (optional)</a:t>
            </a:r>
            <a:endParaRPr sz="1600">
              <a:latin typeface="Google Sans Flex Medium"/>
              <a:ea typeface="Google Sans Flex Medium"/>
              <a:cs typeface="Google Sans Flex Medium"/>
              <a:sym typeface="Google Sans Flex Medium"/>
            </a:endParaRPr>
          </a:p>
        </p:txBody>
      </p:sp>
      <p:sp>
        <p:nvSpPr>
          <p:cNvPr id="108" name="Google Shape;108;p19"/>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OPTIONAL FLOW SKETCH  Implemented local invoice review is shown on slide 11</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Invoice file  PDF / PNG / JPEG, maximum 5 MiB</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Extracted fields  Vendor, invoice ID, amount, currency, destination</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Human review  Edit or confirm each extracted value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Vendor match  Select a known synthetic vendor record</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Evidence  Show changed bank details, anomalies and missing checks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Decision  Continue, verify or review</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Candidate fields in the local walkthrough use a saved fixture.</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pic>
        <p:nvPicPr>
          <p:cNvPr id="113" name="Google Shape;113;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4" name="Google Shape;114;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5" name="Google Shape;115;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6" name="Google Shape;116;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Target Google Cloud architecture</a:t>
            </a:r>
            <a:endParaRPr sz="1600">
              <a:latin typeface="Google Sans Flex Medium"/>
              <a:ea typeface="Google Sans Flex Medium"/>
              <a:cs typeface="Google Sans Flex Medium"/>
              <a:sym typeface="Google Sans Flex Medium"/>
            </a:endParaRPr>
          </a:p>
        </p:txBody>
      </p:sp>
      <p:sp>
        <p:nvSpPr>
          <p:cNvPr id="117" name="Google Shape;117;p20"/>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TARGET GOOGLE CLOUD DESIGN  Proposed, not deployed</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01  Web client uses Firebase anonymous authentication.</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02  FastAPI serves the app and API from Cloud Run.</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03  Gemini Developer API extracts invoice fields and evaluates payment context.</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04  Human confirmation precedes assessment; deterministic rules compare fields with vendor history.</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05  Firestore stores owner-scoped cases and daily usage quotas.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STATUS  Local React/FastAPI and fixture-mode invoice review work with SQLite. Firebase Auth and Firestore code are implemented; live credentials and persistence checks are unverified. Cloud Run deployment is pending credit coverage; Gemini calls are unverified.</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pic>
        <p:nvPicPr>
          <p:cNvPr id="122" name="Google Shape;122;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3" name="Google Shape;123;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4" name="Google Shape;124;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5" name="Google Shape;125;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Technology stack</a:t>
            </a:r>
            <a:endParaRPr sz="1600">
              <a:latin typeface="Google Sans Flex Medium"/>
              <a:ea typeface="Google Sans Flex Medium"/>
              <a:cs typeface="Google Sans Flex Medium"/>
              <a:sym typeface="Google Sans Flex Medium"/>
            </a:endParaRPr>
          </a:p>
        </p:txBody>
      </p:sp>
      <p:sp>
        <p:nvSpPr>
          <p:cNvPr id="126" name="Google Shape;126;p21"/>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LOCAL PROTOTYPE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React and TypeScript interface, Python FastAPI service, SQLite, fixture-first providers and deterministic policy.</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TARGET CLOUD STACK</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Firebase Authentication, Firestore, Cloud Run and Gemini Developer API for invoice extraction and contextual analysis.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STATUS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Firebase Auth and Firestore code are implemented. Live credentials and persistence are unverified; Cloud Run deployment awaits credit coverage. No live Gemini request has been verified.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pic>
        <p:nvPicPr>
          <p:cNvPr id="131" name="Google Shape;131;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2" name="Google Shape;132;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3" name="Google Shape;133;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4" name="Google Shape;134;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Implementation cost (optional)</a:t>
            </a:r>
            <a:endParaRPr sz="1600">
              <a:latin typeface="Google Sans Flex Medium"/>
              <a:ea typeface="Google Sans Flex Medium"/>
              <a:cs typeface="Google Sans Flex Medium"/>
              <a:sym typeface="Google Sans Flex Medium"/>
            </a:endParaRPr>
          </a:p>
        </p:txBody>
      </p:sp>
      <p:sp>
        <p:nvSpPr>
          <p:cNvPr id="135" name="Google Shape;135;p22"/>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LOCAL PROTOTYPE  Runs on a developer machine with SQLite; no hosted database is needed.</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GEMINI  Google lists free input and output for selected models on its Free tier, subject to model eligibility and rate limits. Google may use free-tier content to improve products. Use synthetic invoices only.</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CLOUD  Firebase, Firestore and Cloud Run costs depend on project settings and usage. Billing may be required. No paid services are provisioned and no deployment cost estimate is available. Set quotas and a budget before launch.</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Source: ai.google.dev/gemini-api/docs/pricing (checked 18 Oct 2026).</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44" name="Google Shape;144;p23"/>
          <p:cNvPicPr preferRelativeResize="0"/>
          <p:nvPr/>
        </p:nvPicPr>
        <p:blipFill>
          <a:blip r:embed="rId5">
            <a:alphaModFix/>
          </a:blip>
          <a:stretch>
            <a:fillRect/>
          </a:stretch>
        </p:blipFill>
        <p:spPr>
          <a:xfrm>
            <a:off x="535188" y="1320800"/>
            <a:ext cx="2206225" cy="3479801"/>
          </a:xfrm>
          <a:prstGeom prst="rect">
            <a:avLst/>
          </a:prstGeom>
          <a:noFill/>
          <a:ln>
            <a:noFill/>
          </a:ln>
        </p:spPr>
      </p:pic>
      <p:sp>
        <p:nvSpPr>
          <p:cNvPr id="145" name="Google Shape;145;p23"/>
          <p:cNvSpPr txBox="1"/>
          <p:nvPr/>
        </p:nvSpPr>
        <p:spPr>
          <a:xfrm>
            <a:off x="3365500" y="1651000"/>
            <a:ext cx="5207100" cy="298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GB">
                <a:solidFill>
                  <a:srgbClr val="1F2926"/>
                </a:solidFill>
                <a:latin typeface="Google Sans Flex"/>
                <a:ea typeface="Google Sans Flex"/>
                <a:cs typeface="Google Sans Flex"/>
                <a:sym typeface="Google Sans Flex"/>
              </a:rPr>
              <a:t>LOCAL FIXTURE-MODE DEMO</a:t>
            </a:r>
            <a:endParaRPr>
              <a:solidFill>
                <a:srgbClr val="1F2926"/>
              </a:solidFill>
              <a:latin typeface="Google Sans Flex"/>
              <a:ea typeface="Google Sans Flex"/>
              <a:cs typeface="Google Sans Flex"/>
              <a:sym typeface="Google Sans Flex"/>
            </a:endParaRPr>
          </a:p>
          <a:p>
            <a:pPr indent="0" lvl="0" marL="0" rtl="0" algn="l">
              <a:lnSpc>
                <a:spcPct val="115000"/>
              </a:lnSpc>
              <a:spcBef>
                <a:spcPts val="8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5000"/>
              </a:lnSpc>
              <a:spcBef>
                <a:spcPts val="800"/>
              </a:spcBef>
              <a:spcAft>
                <a:spcPts val="0"/>
              </a:spcAft>
              <a:buNone/>
            </a:pPr>
            <a:r>
              <a:rPr lang="en-GB">
                <a:solidFill>
                  <a:srgbClr val="1F2926"/>
                </a:solidFill>
                <a:latin typeface="Google Sans Flex"/>
                <a:ea typeface="Google Sans Flex"/>
                <a:cs typeface="Google Sans Flex"/>
                <a:sym typeface="Google Sans Flex"/>
              </a:rPr>
              <a:t>A synthetic invoice walkthrough shows candidate fields awaiting human review, vendor comparison, recorded risk evidence and a simulated decision.</a:t>
            </a:r>
            <a:endParaRPr>
              <a:solidFill>
                <a:srgbClr val="1F2926"/>
              </a:solidFill>
              <a:latin typeface="Google Sans Flex"/>
              <a:ea typeface="Google Sans Flex"/>
              <a:cs typeface="Google Sans Flex"/>
              <a:sym typeface="Google Sans Flex"/>
            </a:endParaRPr>
          </a:p>
          <a:p>
            <a:pPr indent="0" lvl="0" marL="0" rtl="0" algn="l">
              <a:lnSpc>
                <a:spcPct val="115000"/>
              </a:lnSpc>
              <a:spcBef>
                <a:spcPts val="8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5000"/>
              </a:lnSpc>
              <a:spcBef>
                <a:spcPts val="800"/>
              </a:spcBef>
              <a:spcAft>
                <a:spcPts val="800"/>
              </a:spcAft>
              <a:buNone/>
            </a:pPr>
            <a:r>
              <a:rPr lang="en-GB">
                <a:solidFill>
                  <a:srgbClr val="1F2926"/>
                </a:solidFill>
                <a:latin typeface="Google Sans Flex"/>
                <a:ea typeface="Google Sans Flex"/>
                <a:cs typeface="Google Sans Flex"/>
                <a:sym typeface="Google Sans Flex"/>
              </a:rPr>
              <a:t>The screen uses a saved fixture. It does not show live Gemini extraction or a public GCP deployment. No payment moves.</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pic>
        <p:nvPicPr>
          <p:cNvPr id="150" name="Google Shape;15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1" name="Google Shape;15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2" name="Google Shape;15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3" name="Google Shape;15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54" name="Google Shape;154;p24"/>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CURRENT LOCAL CHECKS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52 backend tests pass in the current release check.</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HISTORICAL SYNTHETIC EVALUATION  Recorded 11 Oct 2026; 40 policy cases split into 20 development and 20 held-out examples.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Classifier outputs in this evaluation were curated fixtures.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LIMITS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These checks do not measure Gemini extraction accuracy or real-world fraud detection. No live extraction accuracy, public deployment, or end-to-end latency benchmark is recorded.</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id="159" name="Google Shape;159;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0" name="Google Shape;160;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1" name="Google Shape;161;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2" name="Google Shape;162;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Future development</a:t>
            </a:r>
            <a:endParaRPr sz="1600">
              <a:latin typeface="Google Sans Flex Medium"/>
              <a:ea typeface="Google Sans Flex Medium"/>
              <a:cs typeface="Google Sans Flex Medium"/>
              <a:sym typeface="Google Sans Flex Medium"/>
            </a:endParaRPr>
          </a:p>
        </p:txBody>
      </p:sp>
      <p:sp>
        <p:nvSpPr>
          <p:cNvPr id="163" name="Google Shape;163;p25"/>
          <p:cNvSpPr txBox="1"/>
          <p:nvPr/>
        </p:nvSpPr>
        <p:spPr>
          <a:xfrm>
            <a:off x="381000" y="1320800"/>
            <a:ext cx="8400000" cy="30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NEXT STEPS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01  </a:t>
            </a:r>
            <a:r>
              <a:rPr lang="en-GB" sz="1300">
                <a:solidFill>
                  <a:srgbClr val="1F2926"/>
                </a:solidFill>
                <a:latin typeface="Google Sans Flex"/>
                <a:ea typeface="Google Sans Flex"/>
                <a:cs typeface="Google Sans Flex"/>
                <a:sym typeface="Google Sans Flex"/>
              </a:rPr>
              <a:t>Verify Gemini extraction with synthetic invoices and require a person to confirm each field before assessment.</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02  </a:t>
            </a:r>
            <a:r>
              <a:rPr lang="en-GB" sz="1300">
                <a:solidFill>
                  <a:srgbClr val="1F2926"/>
                </a:solidFill>
                <a:latin typeface="Google Sans Flex"/>
                <a:ea typeface="Google Sans Flex"/>
                <a:cs typeface="Google Sans Flex"/>
                <a:sym typeface="Google Sans Flex"/>
              </a:rPr>
              <a:t>Validate Firebase anonymous identity and Firestore owner-scoped cases and quotas with live credentials.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03  </a:t>
            </a:r>
            <a:r>
              <a:rPr lang="en-GB" sz="1300">
                <a:solidFill>
                  <a:srgbClr val="1F2926"/>
                </a:solidFill>
                <a:latin typeface="Google Sans Flex"/>
                <a:ea typeface="Google Sans Flex"/>
                <a:cs typeface="Google Sans Flex"/>
                <a:sym typeface="Google Sans Flex"/>
              </a:rPr>
              <a:t>Deploy the API and frontend to Cloud Run after confirming credit coverage.</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04  </a:t>
            </a:r>
            <a:r>
              <a:rPr lang="en-GB" sz="1300">
                <a:solidFill>
                  <a:srgbClr val="1F2926"/>
                </a:solidFill>
                <a:latin typeface="Google Sans Flex"/>
                <a:ea typeface="Google Sans Flex"/>
                <a:cs typeface="Google Sans Flex"/>
                <a:sym typeface="Google Sans Flex"/>
              </a:rPr>
              <a:t>Test upload, extraction, confirmation, assessment, ownership and persistence end to end.</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05  </a:t>
            </a:r>
            <a:r>
              <a:rPr lang="en-GB" sz="1300">
                <a:solidFill>
                  <a:srgbClr val="1F2926"/>
                </a:solidFill>
                <a:latin typeface="Google Sans Flex"/>
                <a:ea typeface="Google Sans Flex"/>
                <a:cs typeface="Google Sans Flex"/>
                <a:sym typeface="Google Sans Flex"/>
              </a:rPr>
              <a:t>Record measured timings, capture deployed UI and publish a 3–4 minute walkthrough.</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Live Gemini extraction and cloud deployment remain unverified.</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pic>
        <p:nvPicPr>
          <p:cNvPr id="168" name="Google Shape;168;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9" name="Google Shape;169;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70" name="Google Shape;170;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1" name="Google Shape;171;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Submission links</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(3–4 Minutes)</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72" name="Google Shape;172;p26"/>
          <p:cNvSpPr txBox="1"/>
          <p:nvPr/>
        </p:nvSpPr>
        <p:spPr>
          <a:xfrm>
            <a:off x="381000" y="2159000"/>
            <a:ext cx="8400000" cy="27000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Public GitHub repository  Pending verified public URL</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Demo video  Pending recording; current form asks for 3–4 minutes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Public GCP / Cloud Run product  Pending deployment and anonymous-browser verification</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Do not submit this draft until all three links work without a signed-in session.</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8" name="Google Shape;178;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79" name="Google Shape;179;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pic>
        <p:nvPicPr>
          <p:cNvPr id="184" name="Google Shape;184;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85" name="Google Shape;185;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