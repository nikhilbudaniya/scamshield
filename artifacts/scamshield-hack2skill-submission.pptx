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Google Sans Flex Medium"/>
      <p:regular r:id="rId20"/>
      <p:bold r:id="rId21"/>
    </p:embeddedFont>
    <p:embeddedFont>
      <p:font typeface="Google Sans Flex"/>
      <p:regular r:id="rId22"/>
      <p:bold r:id="rId23"/>
    </p:embeddedFont>
    <p:embeddedFont>
      <p:font typeface="Google Sans Flex SemiBold"/>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GoogleSansFlexMedium-regular.fntdata"/><Relationship Id="rId22" Type="http://schemas.openxmlformats.org/officeDocument/2006/relationships/font" Target="fonts/GoogleSansFlex-regular.fntdata"/><Relationship Id="rId21" Type="http://schemas.openxmlformats.org/officeDocument/2006/relationships/font" Target="fonts/GoogleSansFlexMedium-bold.fntdata"/><Relationship Id="rId24" Type="http://schemas.openxmlformats.org/officeDocument/2006/relationships/font" Target="fonts/GoogleSansFlexSemiBold-regular.fntdata"/><Relationship Id="rId23" Type="http://schemas.openxmlformats.org/officeDocument/2006/relationships/font" Target="fonts/GoogleSansFlex-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GoogleSansFlexSemi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Source: UK Finance Fraud Report 2026, p. 41. For 2025 UK invoice and mandate fraud: £41.3m gross losses across 2,305 cases; 68% of lost value was on business and other non-personal accounts. Reported totals include value later recovered. https://www.ukfinance.org.uk/system/files/2026-06/UK%20Finance%20Fraud%20Report%202026.pdf</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TypeSafe describes Jev as a structured probabilistic decision model intended to emit actionable structured decisions. ScamShield’s adapter passes fixture tests but is disabled on live GCP. Jev has no measured latency or quality result in this project. https://typesafe.ai/blog/introducing-system-one-models-and-jev</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ScamShield uses Vertex AI Gemini 2.5 Flash-Lite, Firebase Authentication, Firestore and Cloud Run. 59 backend tests passed. Live synthetic invoice checks covered extraction, classification, requested explanation, Firestore reads, idempotency, restart durability and visitor isolation. Use synthetic data only.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hyperlink" Target="https://www.ukfinance.org.uk/system/files/2026-06/UK%20Finance%20Fraud%20Report%202026.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hyperlink" Target="https://github.com/NikhilBudaniya/scamshield" TargetMode="External"/><Relationship Id="rId6" Type="http://schemas.openxmlformats.org/officeDocument/2006/relationships/hyperlink" Target="https://scamshield-304420617883.us-central1.run.app" TargetMode="External"/><Relationship Id="rId7" Type="http://schemas.openxmlformats.org/officeDocument/2006/relationships/hyperlink" Target="https://www.loom.com/share/76e58b695b58433f998c84a59b3d0d2b"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ScamShield</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pulse</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Nikhil Kumar</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Invoice bank-detail changes can redirect a payment.</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62" name="Google Shape;62;p1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ScamShield invoice intelligence</a:t>
            </a:r>
            <a:endParaRPr sz="1600">
              <a:latin typeface="Google Sans Flex Medium"/>
              <a:ea typeface="Google Sans Flex Medium"/>
              <a:cs typeface="Google Sans Flex Medium"/>
              <a:sym typeface="Google Sans Flex Medium"/>
            </a:endParaRPr>
          </a:p>
        </p:txBody>
      </p:sp>
      <p:sp>
        <p:nvSpPr>
          <p:cNvPr id="64" name="Google Shape;64;p14"/>
          <p:cNvSpPr txBox="1"/>
          <p:nvPr/>
        </p:nvSpPr>
        <p:spPr>
          <a:xfrm>
            <a:off x="381000" y="1320800"/>
            <a:ext cx="8382000" cy="3365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a:solidFill>
                  <a:srgbClr val="1F2926"/>
                </a:solidFill>
                <a:latin typeface="Google Sans Flex"/>
                <a:ea typeface="Google Sans Flex"/>
                <a:cs typeface="Google Sans Flex"/>
                <a:sym typeface="Google Sans Flex"/>
              </a:rPr>
              <a:t>Invoice fraud hides in ordinary payment work: a familiar invoice can carry a changed bank account or a request to bypass checks.</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a:solidFill>
                  <a:srgbClr val="1F2926"/>
                </a:solidFill>
                <a:latin typeface="Google Sans Flex"/>
                <a:ea typeface="Google Sans Flex"/>
                <a:cs typeface="Google Sans Flex"/>
                <a:sym typeface="Google Sans Flex"/>
              </a:rPr>
              <a:t>ScamShield is an invoice-first fraud intervention that combines Gemini’s semantic reading of payment instructions with deterministic transaction checks. The same pattern can extend to other payment rails.</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600"/>
              </a:spcAft>
              <a:buNone/>
            </a:pPr>
            <a:r>
              <a:rPr lang="en-GB">
                <a:solidFill>
                  <a:srgbClr val="1F2926"/>
                </a:solidFill>
                <a:latin typeface="Google Sans Flex"/>
                <a:ea typeface="Google Sans Flex"/>
                <a:cs typeface="Google Sans Flex"/>
                <a:sym typeface="Google Sans Flex"/>
              </a:rPr>
              <a:t>LIVE PROTOTYPE  Two synthetic invoice paths ran on the public service. People confirm extracted fields; policy returns Continue, Verify or Review. No payment is executed.</a:t>
            </a:r>
            <a:endParaRPr>
              <a:solidFill>
                <a:srgbClr val="1F2926"/>
              </a:solidFill>
              <a:latin typeface="Google Sans Flex"/>
              <a:ea typeface="Google Sans Flex"/>
              <a:cs typeface="Google Sans Flex"/>
              <a:sym typeface="Google Sans Flex"/>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0" name="Google Shape;70;p1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1" name="Google Shape;71;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5"/>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Invoice fraud in numbers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73" name="Google Shape;73;p15"/>
          <p:cNvSpPr txBox="1"/>
          <p:nvPr/>
        </p:nvSpPr>
        <p:spPr>
          <a:xfrm>
            <a:off x="381000" y="1524000"/>
            <a:ext cx="8382000" cy="3365400"/>
          </a:xfrm>
          <a:prstGeom prst="rect">
            <a:avLst/>
          </a:prstGeom>
          <a:noFill/>
          <a:ln>
            <a:noFill/>
          </a:ln>
        </p:spPr>
        <p:txBody>
          <a:bodyPr anchorCtr="0" anchor="t" bIns="91425" lIns="91425" spcFirstLastPara="1" rIns="91425" wrap="square" tIns="91425">
            <a:noAutofit/>
          </a:bodyPr>
          <a:lstStyle/>
          <a:p>
            <a:pPr indent="0" lvl="0" marL="0" rtl="0" algn="l">
              <a:lnSpc>
                <a:spcPct val="104000"/>
              </a:lnSpc>
              <a:spcBef>
                <a:spcPts val="0"/>
              </a:spcBef>
              <a:spcAft>
                <a:spcPts val="0"/>
              </a:spcAft>
              <a:buNone/>
            </a:pPr>
            <a:r>
              <a:rPr b="1" lang="en-GB" sz="2400">
                <a:solidFill>
                  <a:srgbClr val="1F2926"/>
                </a:solidFill>
                <a:latin typeface="Google Sans Flex"/>
                <a:ea typeface="Google Sans Flex"/>
                <a:cs typeface="Google Sans Flex"/>
                <a:sym typeface="Google Sans Flex"/>
              </a:rPr>
              <a:t>£41.3m</a:t>
            </a:r>
            <a:r>
              <a:rPr lang="en-GB">
                <a:solidFill>
                  <a:srgbClr val="1F2926"/>
                </a:solidFill>
                <a:latin typeface="Google Sans Flex"/>
                <a:ea typeface="Google Sans Flex"/>
                <a:cs typeface="Google Sans Flex"/>
                <a:sym typeface="Google Sans Flex"/>
              </a:rPr>
              <a:t>   UK invoice and mandate fraud losses · 2025</a:t>
            </a:r>
            <a:endParaRPr>
              <a:solidFill>
                <a:srgbClr val="1F2926"/>
              </a:solidFill>
              <a:latin typeface="Google Sans Flex"/>
              <a:ea typeface="Google Sans Flex"/>
              <a:cs typeface="Google Sans Flex"/>
              <a:sym typeface="Google Sans Flex"/>
            </a:endParaRPr>
          </a:p>
          <a:p>
            <a:pPr indent="0" lvl="0" marL="0" rtl="0" algn="l">
              <a:lnSpc>
                <a:spcPct val="104000"/>
              </a:lnSpc>
              <a:spcBef>
                <a:spcPts val="200"/>
              </a:spcBef>
              <a:spcAft>
                <a:spcPts val="0"/>
              </a:spcAft>
              <a:buNone/>
            </a:pPr>
            <a:r>
              <a:rPr b="1" lang="en-GB" sz="2200">
                <a:solidFill>
                  <a:srgbClr val="1F2926"/>
                </a:solidFill>
                <a:latin typeface="Google Sans Flex"/>
                <a:ea typeface="Google Sans Flex"/>
                <a:cs typeface="Google Sans Flex"/>
                <a:sym typeface="Google Sans Flex"/>
              </a:rPr>
              <a:t>2,305</a:t>
            </a:r>
            <a:r>
              <a:rPr lang="en-GB">
                <a:solidFill>
                  <a:srgbClr val="1F2926"/>
                </a:solidFill>
                <a:latin typeface="Google Sans Flex"/>
                <a:ea typeface="Google Sans Flex"/>
                <a:cs typeface="Google Sans Flex"/>
                <a:sym typeface="Google Sans Flex"/>
              </a:rPr>
              <a:t>   reported UK cases · 2025</a:t>
            </a:r>
            <a:endParaRPr>
              <a:solidFill>
                <a:srgbClr val="1F2926"/>
              </a:solidFill>
              <a:latin typeface="Google Sans Flex"/>
              <a:ea typeface="Google Sans Flex"/>
              <a:cs typeface="Google Sans Flex"/>
              <a:sym typeface="Google Sans Flex"/>
            </a:endParaRPr>
          </a:p>
          <a:p>
            <a:pPr indent="0" lvl="0" marL="0" rtl="0" algn="l">
              <a:lnSpc>
                <a:spcPct val="104000"/>
              </a:lnSpc>
              <a:spcBef>
                <a:spcPts val="200"/>
              </a:spcBef>
              <a:spcAft>
                <a:spcPts val="0"/>
              </a:spcAft>
              <a:buNone/>
            </a:pPr>
            <a:r>
              <a:rPr b="1" lang="en-GB" sz="2200">
                <a:solidFill>
                  <a:srgbClr val="1F2926"/>
                </a:solidFill>
                <a:latin typeface="Google Sans Flex"/>
                <a:ea typeface="Google Sans Flex"/>
                <a:cs typeface="Google Sans Flex"/>
                <a:sym typeface="Google Sans Flex"/>
              </a:rPr>
              <a:t>68%</a:t>
            </a:r>
            <a:r>
              <a:rPr lang="en-GB">
                <a:solidFill>
                  <a:srgbClr val="1F2926"/>
                </a:solidFill>
                <a:latin typeface="Google Sans Flex"/>
                <a:ea typeface="Google Sans Flex"/>
                <a:cs typeface="Google Sans Flex"/>
                <a:sym typeface="Google Sans Flex"/>
              </a:rPr>
              <a:t>   of loss value on business and other non-personal accounts</a:t>
            </a:r>
            <a:endParaRPr>
              <a:solidFill>
                <a:srgbClr val="1F2926"/>
              </a:solidFill>
              <a:latin typeface="Google Sans Flex"/>
              <a:ea typeface="Google Sans Flex"/>
              <a:cs typeface="Google Sans Flex"/>
              <a:sym typeface="Google Sans Flex"/>
            </a:endParaRPr>
          </a:p>
          <a:p>
            <a:pPr indent="0" lvl="0" marL="0" rtl="0" algn="l">
              <a:lnSpc>
                <a:spcPct val="104000"/>
              </a:lnSpc>
              <a:spcBef>
                <a:spcPts val="200"/>
              </a:spcBef>
              <a:spcAft>
                <a:spcPts val="0"/>
              </a:spcAft>
              <a:buNone/>
            </a:pPr>
            <a:r>
              <a:t/>
            </a:r>
            <a:endParaRPr>
              <a:solidFill>
                <a:srgbClr val="1F2926"/>
              </a:solidFill>
              <a:latin typeface="Google Sans Flex"/>
              <a:ea typeface="Google Sans Flex"/>
              <a:cs typeface="Google Sans Flex"/>
              <a:sym typeface="Google Sans Flex"/>
            </a:endParaRPr>
          </a:p>
          <a:p>
            <a:pPr indent="0" lvl="0" marL="0" rtl="0" algn="l">
              <a:lnSpc>
                <a:spcPct val="104000"/>
              </a:lnSpc>
              <a:spcBef>
                <a:spcPts val="200"/>
              </a:spcBef>
              <a:spcAft>
                <a:spcPts val="0"/>
              </a:spcAft>
              <a:buNone/>
            </a:pPr>
            <a:r>
              <a:rPr lang="en-GB">
                <a:solidFill>
                  <a:srgbClr val="1F2926"/>
                </a:solidFill>
                <a:latin typeface="Google Sans Flex"/>
                <a:ea typeface="Google Sans Flex"/>
                <a:cs typeface="Google Sans Flex"/>
                <a:sym typeface="Google Sans Flex"/>
              </a:rPr>
              <a:t>Semantic context plus transaction checks can surface risky invoice instructions before payment.</a:t>
            </a:r>
            <a:endParaRPr>
              <a:solidFill>
                <a:srgbClr val="1F2926"/>
              </a:solidFill>
              <a:latin typeface="Google Sans Flex"/>
              <a:ea typeface="Google Sans Flex"/>
              <a:cs typeface="Google Sans Flex"/>
              <a:sym typeface="Google Sans Flex"/>
            </a:endParaRPr>
          </a:p>
          <a:p>
            <a:pPr indent="0" lvl="0" marL="0" rtl="0" algn="l">
              <a:lnSpc>
                <a:spcPct val="104000"/>
              </a:lnSpc>
              <a:spcBef>
                <a:spcPts val="200"/>
              </a:spcBef>
              <a:spcAft>
                <a:spcPts val="200"/>
              </a:spcAft>
              <a:buNone/>
            </a:pPr>
            <a:r>
              <a:rPr lang="en-GB" sz="900" u="sng">
                <a:solidFill>
                  <a:srgbClr val="14428C"/>
                </a:solidFill>
                <a:latin typeface="Google Sans Flex"/>
                <a:ea typeface="Google Sans Flex"/>
                <a:cs typeface="Google Sans Flex"/>
                <a:sym typeface="Google Sans Flex"/>
                <a:hlinkClick r:id="rId5">
                  <a:extLst>
                    <a:ext uri="{A12FA001-AC4F-418D-AE19-62706E023703}">
                      <ahyp:hlinkClr val="tx"/>
                    </a:ext>
                  </a:extLst>
                </a:hlinkClick>
              </a:rPr>
              <a:t>Source: UK Finance, Fraud Report 2026, p. 41.</a:t>
            </a:r>
            <a:endParaRPr sz="900" u="sng">
              <a:solidFill>
                <a:srgbClr val="14428C"/>
              </a:solidFill>
              <a:latin typeface="Google Sans Flex"/>
              <a:ea typeface="Google Sans Flex"/>
              <a:cs typeface="Google Sans Flex"/>
              <a:sym typeface="Google Sans Flex"/>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9" name="Google Shape;79;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0" name="Google Shape;80;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6"/>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Solution features</a:t>
            </a:r>
            <a:endParaRPr sz="1600">
              <a:latin typeface="Google Sans Flex Medium"/>
              <a:ea typeface="Google Sans Flex Medium"/>
              <a:cs typeface="Google Sans Flex Medium"/>
              <a:sym typeface="Google Sans Flex Medium"/>
            </a:endParaRPr>
          </a:p>
        </p:txBody>
      </p:sp>
      <p:sp>
        <p:nvSpPr>
          <p:cNvPr id="82" name="Google Shape;82;p16"/>
          <p:cNvSpPr txBox="1"/>
          <p:nvPr/>
        </p:nvSpPr>
        <p:spPr>
          <a:xfrm>
            <a:off x="381000" y="1320800"/>
            <a:ext cx="8382000" cy="3365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a:solidFill>
                  <a:srgbClr val="1F2926"/>
                </a:solidFill>
                <a:latin typeface="Google Sans Flex"/>
                <a:ea typeface="Google Sans Flex"/>
                <a:cs typeface="Google Sans Flex"/>
                <a:sym typeface="Google Sans Flex"/>
              </a:rPr>
              <a:t>MODEL-READ SEMANTIC SIGNALS</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a:solidFill>
                  <a:srgbClr val="1F2926"/>
                </a:solidFill>
                <a:latin typeface="Google Sans Flex"/>
                <a:ea typeface="Google Sans Flex"/>
                <a:cs typeface="Google Sans Flex"/>
                <a:sym typeface="Google Sans Flex"/>
              </a:rPr>
              <a:t>Gemini classifies impersonation, safe-account claims, urgency, secrecy, upfront fees and verification bypass. For invoices, it also extracts candidate fields for a person to confirm.</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a:solidFill>
                  <a:srgbClr val="1F2926"/>
                </a:solidFill>
                <a:latin typeface="Google Sans Flex"/>
                <a:ea typeface="Google Sans Flex"/>
                <a:cs typeface="Google Sans Flex"/>
                <a:sym typeface="Google Sans Flex"/>
              </a:rPr>
              <a:t>DETERMINISTIC TRANSACTION CHECKS</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a:solidFill>
                  <a:srgbClr val="1F2926"/>
                </a:solidFill>
                <a:latin typeface="Google Sans Flex"/>
                <a:ea typeface="Google Sans Flex"/>
                <a:cs typeface="Google Sans Flex"/>
                <a:sym typeface="Google Sans Flex"/>
              </a:rPr>
              <a:t>Rules compare amount, payment history, vendor identity and destination account with available case and vendor records.</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a:solidFill>
                  <a:srgbClr val="1F2926"/>
                </a:solidFill>
                <a:latin typeface="Google Sans Flex"/>
                <a:ea typeface="Google Sans Flex"/>
                <a:cs typeface="Google Sans Flex"/>
                <a:sym typeface="Google Sans Flex"/>
              </a:rPr>
              <a:t>POLICY OUTCOMES</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600"/>
              </a:spcAft>
              <a:buNone/>
            </a:pPr>
            <a:r>
              <a:rPr lang="en-GB">
                <a:solidFill>
                  <a:srgbClr val="1F2926"/>
                </a:solidFill>
                <a:latin typeface="Google Sans Flex"/>
                <a:ea typeface="Google Sans Flex"/>
                <a:cs typeface="Google Sans Flex"/>
                <a:sym typeface="Google Sans Flex"/>
              </a:rPr>
              <a:t>A deterministic policy maps the combined evidence to Continue, Verify or Review. Evidence and missing checks are saved with the case.</a:t>
            </a:r>
            <a:endParaRPr>
              <a:solidFill>
                <a:srgbClr val="1F2926"/>
              </a:solidFill>
              <a:latin typeface="Google Sans Flex"/>
              <a:ea typeface="Google Sans Flex"/>
              <a:cs typeface="Google Sans Flex"/>
              <a:sym typeface="Google Sans Flex"/>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8" name="Google Shape;88;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9" name="Google Shape;89;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Invoice review flow</a:t>
            </a:r>
            <a:endParaRPr sz="1600">
              <a:latin typeface="Google Sans Flex Medium"/>
              <a:ea typeface="Google Sans Flex Medium"/>
              <a:cs typeface="Google Sans Flex Medium"/>
              <a:sym typeface="Google Sans Flex Medium"/>
            </a:endParaRPr>
          </a:p>
        </p:txBody>
      </p:sp>
      <p:sp>
        <p:nvSpPr>
          <p:cNvPr id="91" name="Google Shape;91;p17"/>
          <p:cNvSpPr/>
          <p:nvPr/>
        </p:nvSpPr>
        <p:spPr>
          <a:xfrm>
            <a:off x="342900" y="1752600"/>
            <a:ext cx="1346100" cy="990600"/>
          </a:xfrm>
          <a:prstGeom prst="roundRect">
            <a:avLst>
              <a:gd fmla="val 16667" name="adj"/>
            </a:avLst>
          </a:prstGeom>
          <a:solidFill>
            <a:srgbClr val="E5F2ED"/>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Invoice upload</a:t>
            </a:r>
            <a:endParaRPr sz="1100">
              <a:solidFill>
                <a:srgbClr val="1F2926"/>
              </a:solidFill>
              <a:latin typeface="Google Sans Flex"/>
              <a:ea typeface="Google Sans Flex"/>
              <a:cs typeface="Google Sans Flex"/>
              <a:sym typeface="Google Sans Flex"/>
            </a:endParaRPr>
          </a:p>
        </p:txBody>
      </p:sp>
      <p:sp>
        <p:nvSpPr>
          <p:cNvPr id="92" name="Google Shape;92;p17"/>
          <p:cNvSpPr/>
          <p:nvPr/>
        </p:nvSpPr>
        <p:spPr>
          <a:xfrm>
            <a:off x="1765300" y="1752600"/>
            <a:ext cx="1346100" cy="990600"/>
          </a:xfrm>
          <a:prstGeom prst="roundRect">
            <a:avLst>
              <a:gd fmla="val 16667" name="adj"/>
            </a:avLst>
          </a:prstGeom>
          <a:solidFill>
            <a:srgbClr val="E5F2ED"/>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Gemini field extraction</a:t>
            </a:r>
            <a:endParaRPr sz="1100">
              <a:solidFill>
                <a:srgbClr val="1F2926"/>
              </a:solidFill>
              <a:latin typeface="Google Sans Flex"/>
              <a:ea typeface="Google Sans Flex"/>
              <a:cs typeface="Google Sans Flex"/>
              <a:sym typeface="Google Sans Flex"/>
            </a:endParaRPr>
          </a:p>
        </p:txBody>
      </p:sp>
      <p:sp>
        <p:nvSpPr>
          <p:cNvPr id="93" name="Google Shape;93;p17"/>
          <p:cNvSpPr/>
          <p:nvPr/>
        </p:nvSpPr>
        <p:spPr>
          <a:xfrm>
            <a:off x="3187700" y="1752600"/>
            <a:ext cx="1346100" cy="990600"/>
          </a:xfrm>
          <a:prstGeom prst="roundRect">
            <a:avLst>
              <a:gd fmla="val 16667" name="adj"/>
            </a:avLst>
          </a:prstGeom>
          <a:solidFill>
            <a:srgbClr val="E5F2ED"/>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Human review and confirmation</a:t>
            </a:r>
            <a:endParaRPr sz="1100">
              <a:solidFill>
                <a:srgbClr val="1F2926"/>
              </a:solidFill>
              <a:latin typeface="Google Sans Flex"/>
              <a:ea typeface="Google Sans Flex"/>
              <a:cs typeface="Google Sans Flex"/>
              <a:sym typeface="Google Sans Flex"/>
            </a:endParaRPr>
          </a:p>
        </p:txBody>
      </p:sp>
      <p:sp>
        <p:nvSpPr>
          <p:cNvPr id="94" name="Google Shape;94;p17"/>
          <p:cNvSpPr/>
          <p:nvPr/>
        </p:nvSpPr>
        <p:spPr>
          <a:xfrm>
            <a:off x="4610100" y="1752600"/>
            <a:ext cx="1346100" cy="990600"/>
          </a:xfrm>
          <a:prstGeom prst="roundRect">
            <a:avLst>
              <a:gd fmla="val 16667" name="adj"/>
            </a:avLst>
          </a:prstGeom>
          <a:solidFill>
            <a:srgbClr val="E5F2ED"/>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Rules + Gemini context</a:t>
            </a:r>
            <a:endParaRPr sz="1100">
              <a:solidFill>
                <a:srgbClr val="1F2926"/>
              </a:solidFill>
              <a:latin typeface="Google Sans Flex"/>
              <a:ea typeface="Google Sans Flex"/>
              <a:cs typeface="Google Sans Flex"/>
              <a:sym typeface="Google Sans Flex"/>
            </a:endParaRPr>
          </a:p>
        </p:txBody>
      </p:sp>
      <p:sp>
        <p:nvSpPr>
          <p:cNvPr id="95" name="Google Shape;95;p17"/>
          <p:cNvSpPr/>
          <p:nvPr/>
        </p:nvSpPr>
        <p:spPr>
          <a:xfrm>
            <a:off x="6032500" y="1752600"/>
            <a:ext cx="1346100" cy="990600"/>
          </a:xfrm>
          <a:prstGeom prst="roundRect">
            <a:avLst>
              <a:gd fmla="val 16667" name="adj"/>
            </a:avLst>
          </a:prstGeom>
          <a:solidFill>
            <a:srgbClr val="E5F2ED"/>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Policy decision</a:t>
            </a:r>
            <a:endParaRPr sz="1100">
              <a:solidFill>
                <a:srgbClr val="1F2926"/>
              </a:solidFill>
              <a:latin typeface="Google Sans Flex"/>
              <a:ea typeface="Google Sans Flex"/>
              <a:cs typeface="Google Sans Flex"/>
              <a:sym typeface="Google Sans Flex"/>
            </a:endParaRPr>
          </a:p>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Continue · Verify · Review</a:t>
            </a:r>
            <a:endParaRPr sz="1100">
              <a:solidFill>
                <a:srgbClr val="1F2926"/>
              </a:solidFill>
              <a:latin typeface="Google Sans Flex"/>
              <a:ea typeface="Google Sans Flex"/>
              <a:cs typeface="Google Sans Flex"/>
              <a:sym typeface="Google Sans Flex"/>
            </a:endParaRPr>
          </a:p>
        </p:txBody>
      </p:sp>
      <p:sp>
        <p:nvSpPr>
          <p:cNvPr id="96" name="Google Shape;96;p17"/>
          <p:cNvSpPr/>
          <p:nvPr/>
        </p:nvSpPr>
        <p:spPr>
          <a:xfrm>
            <a:off x="7454900" y="1752600"/>
            <a:ext cx="1346100" cy="990600"/>
          </a:xfrm>
          <a:prstGeom prst="roundRect">
            <a:avLst>
              <a:gd fmla="val 16667" name="adj"/>
            </a:avLst>
          </a:prstGeom>
          <a:solidFill>
            <a:srgbClr val="E5F2ED"/>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Firestore case record</a:t>
            </a:r>
            <a:endParaRPr sz="1100">
              <a:solidFill>
                <a:srgbClr val="1F2926"/>
              </a:solidFill>
              <a:latin typeface="Google Sans Flex"/>
              <a:ea typeface="Google Sans Flex"/>
              <a:cs typeface="Google Sans Flex"/>
              <a:sym typeface="Google Sans Flex"/>
            </a:endParaRPr>
          </a:p>
        </p:txBody>
      </p:sp>
      <p:cxnSp>
        <p:nvCxnSpPr>
          <p:cNvPr id="97" name="Google Shape;97;p17"/>
          <p:cNvCxnSpPr/>
          <p:nvPr/>
        </p:nvCxnSpPr>
        <p:spPr>
          <a:xfrm>
            <a:off x="1689100" y="2247900"/>
            <a:ext cx="76200" cy="1200"/>
          </a:xfrm>
          <a:prstGeom prst="straightConnector1">
            <a:avLst/>
          </a:prstGeom>
          <a:noFill/>
          <a:ln cap="flat" cmpd="sng" w="19050">
            <a:solidFill>
              <a:srgbClr val="296157"/>
            </a:solidFill>
            <a:prstDash val="solid"/>
            <a:round/>
            <a:headEnd len="med" w="med" type="none"/>
            <a:tailEnd len="med" w="med" type="triangle"/>
          </a:ln>
        </p:spPr>
      </p:cxnSp>
      <p:cxnSp>
        <p:nvCxnSpPr>
          <p:cNvPr id="98" name="Google Shape;98;p17"/>
          <p:cNvCxnSpPr/>
          <p:nvPr/>
        </p:nvCxnSpPr>
        <p:spPr>
          <a:xfrm>
            <a:off x="3111500" y="2247900"/>
            <a:ext cx="76200" cy="1200"/>
          </a:xfrm>
          <a:prstGeom prst="straightConnector1">
            <a:avLst/>
          </a:prstGeom>
          <a:noFill/>
          <a:ln cap="flat" cmpd="sng" w="19050">
            <a:solidFill>
              <a:srgbClr val="296157"/>
            </a:solidFill>
            <a:prstDash val="solid"/>
            <a:round/>
            <a:headEnd len="med" w="med" type="none"/>
            <a:tailEnd len="med" w="med" type="triangle"/>
          </a:ln>
        </p:spPr>
      </p:cxnSp>
      <p:cxnSp>
        <p:nvCxnSpPr>
          <p:cNvPr id="99" name="Google Shape;99;p17"/>
          <p:cNvCxnSpPr/>
          <p:nvPr/>
        </p:nvCxnSpPr>
        <p:spPr>
          <a:xfrm>
            <a:off x="4533900" y="2247900"/>
            <a:ext cx="76200" cy="1200"/>
          </a:xfrm>
          <a:prstGeom prst="straightConnector1">
            <a:avLst/>
          </a:prstGeom>
          <a:noFill/>
          <a:ln cap="flat" cmpd="sng" w="19050">
            <a:solidFill>
              <a:srgbClr val="296157"/>
            </a:solidFill>
            <a:prstDash val="solid"/>
            <a:round/>
            <a:headEnd len="med" w="med" type="none"/>
            <a:tailEnd len="med" w="med" type="triangle"/>
          </a:ln>
        </p:spPr>
      </p:cxnSp>
      <p:cxnSp>
        <p:nvCxnSpPr>
          <p:cNvPr id="100" name="Google Shape;100;p17"/>
          <p:cNvCxnSpPr/>
          <p:nvPr/>
        </p:nvCxnSpPr>
        <p:spPr>
          <a:xfrm>
            <a:off x="5956300" y="2247900"/>
            <a:ext cx="76200" cy="1200"/>
          </a:xfrm>
          <a:prstGeom prst="straightConnector1">
            <a:avLst/>
          </a:prstGeom>
          <a:noFill/>
          <a:ln cap="flat" cmpd="sng" w="19050">
            <a:solidFill>
              <a:srgbClr val="296157"/>
            </a:solidFill>
            <a:prstDash val="solid"/>
            <a:round/>
            <a:headEnd len="med" w="med" type="none"/>
            <a:tailEnd len="med" w="med" type="triangle"/>
          </a:ln>
        </p:spPr>
      </p:cxnSp>
      <p:cxnSp>
        <p:nvCxnSpPr>
          <p:cNvPr id="101" name="Google Shape;101;p17"/>
          <p:cNvCxnSpPr/>
          <p:nvPr/>
        </p:nvCxnSpPr>
        <p:spPr>
          <a:xfrm>
            <a:off x="7378700" y="2247900"/>
            <a:ext cx="76200" cy="1200"/>
          </a:xfrm>
          <a:prstGeom prst="straightConnector1">
            <a:avLst/>
          </a:prstGeom>
          <a:noFill/>
          <a:ln cap="flat" cmpd="sng" w="19050">
            <a:solidFill>
              <a:srgbClr val="296157"/>
            </a:solidFill>
            <a:prstDash val="solid"/>
            <a:round/>
            <a:headEnd len="med" w="med" type="none"/>
            <a:tailEnd len="med" w="med" type="triangle"/>
          </a:ln>
        </p:spPr>
      </p:cxnSp>
      <p:sp>
        <p:nvSpPr>
          <p:cNvPr id="102" name="Google Shape;102;p17"/>
          <p:cNvSpPr/>
          <p:nvPr/>
        </p:nvSpPr>
        <p:spPr>
          <a:xfrm>
            <a:off x="2476500" y="3175000"/>
            <a:ext cx="2793900" cy="711300"/>
          </a:xfrm>
          <a:prstGeom prst="roundRect">
            <a:avLst>
              <a:gd fmla="val 16667" name="adj"/>
            </a:avLst>
          </a:prstGeom>
          <a:solidFill>
            <a:srgbClr val="F5F2E5"/>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On request: Gemini ranks saved evidence</a:t>
            </a:r>
            <a:endParaRPr sz="1100">
              <a:solidFill>
                <a:srgbClr val="1F2926"/>
              </a:solidFill>
              <a:latin typeface="Google Sans Flex"/>
              <a:ea typeface="Google Sans Flex"/>
              <a:cs typeface="Google Sans Flex"/>
              <a:sym typeface="Google Sans Flex"/>
            </a:endParaRPr>
          </a:p>
        </p:txBody>
      </p:sp>
      <p:sp>
        <p:nvSpPr>
          <p:cNvPr id="103" name="Google Shape;103;p17"/>
          <p:cNvSpPr/>
          <p:nvPr/>
        </p:nvSpPr>
        <p:spPr>
          <a:xfrm>
            <a:off x="5842000" y="3175000"/>
            <a:ext cx="2793900" cy="711300"/>
          </a:xfrm>
          <a:prstGeom prst="roundRect">
            <a:avLst>
              <a:gd fmla="val 16667" name="adj"/>
            </a:avLst>
          </a:prstGeom>
          <a:solidFill>
            <a:srgbClr val="F5F2E5"/>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Deterministic templates render the explanation</a:t>
            </a:r>
            <a:endParaRPr sz="1100">
              <a:solidFill>
                <a:srgbClr val="1F2926"/>
              </a:solidFill>
              <a:latin typeface="Google Sans Flex"/>
              <a:ea typeface="Google Sans Flex"/>
              <a:cs typeface="Google Sans Flex"/>
              <a:sym typeface="Google Sans Flex"/>
            </a:endParaRPr>
          </a:p>
        </p:txBody>
      </p:sp>
      <p:cxnSp>
        <p:nvCxnSpPr>
          <p:cNvPr id="104" name="Google Shape;104;p17"/>
          <p:cNvCxnSpPr/>
          <p:nvPr/>
        </p:nvCxnSpPr>
        <p:spPr>
          <a:xfrm>
            <a:off x="5270500" y="3530600"/>
            <a:ext cx="571500" cy="1200"/>
          </a:xfrm>
          <a:prstGeom prst="straightConnector1">
            <a:avLst/>
          </a:prstGeom>
          <a:noFill/>
          <a:ln cap="flat" cmpd="sng" w="19050">
            <a:solidFill>
              <a:srgbClr val="296157"/>
            </a:solidFill>
            <a:prstDash val="solid"/>
            <a:round/>
            <a:headEnd len="med" w="med" type="none"/>
            <a:tailEnd len="med" w="med" type="triangle"/>
          </a:ln>
        </p:spPr>
      </p:cxnSp>
      <p:sp>
        <p:nvSpPr>
          <p:cNvPr id="105" name="Google Shape;105;p17"/>
          <p:cNvSpPr txBox="1"/>
          <p:nvPr/>
        </p:nvSpPr>
        <p:spPr>
          <a:xfrm>
            <a:off x="381000" y="4114800"/>
            <a:ext cx="8382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1F2926"/>
                </a:solidFill>
                <a:latin typeface="Google Sans Flex"/>
                <a:ea typeface="Google Sans Flex"/>
                <a:cs typeface="Google Sans Flex"/>
                <a:sym typeface="Google Sans Flex"/>
              </a:rPr>
              <a:t>Synthetic demo only. The recommendation is simulated; no payment is executed.</a:t>
            </a:r>
            <a:endParaRPr sz="1100">
              <a:solidFill>
                <a:srgbClr val="1F2926"/>
              </a:solidFill>
              <a:latin typeface="Google Sans Flex"/>
              <a:ea typeface="Google Sans Flex"/>
              <a:cs typeface="Google Sans Flex"/>
              <a:sym typeface="Google Sans Flex"/>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1" name="Google Shape;111;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2" name="Google Shape;112;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Hybrid risk decision</a:t>
            </a:r>
            <a:endParaRPr sz="1600">
              <a:latin typeface="Google Sans Flex Medium"/>
              <a:ea typeface="Google Sans Flex Medium"/>
              <a:cs typeface="Google Sans Flex Medium"/>
              <a:sym typeface="Google Sans Flex Medium"/>
            </a:endParaRPr>
          </a:p>
        </p:txBody>
      </p:sp>
      <p:sp>
        <p:nvSpPr>
          <p:cNvPr id="114" name="Google Shape;114;p18"/>
          <p:cNvSpPr/>
          <p:nvPr/>
        </p:nvSpPr>
        <p:spPr>
          <a:xfrm>
            <a:off x="431800" y="1727200"/>
            <a:ext cx="2514600" cy="965100"/>
          </a:xfrm>
          <a:prstGeom prst="roundRect">
            <a:avLst>
              <a:gd fmla="val 16667" name="adj"/>
            </a:avLst>
          </a:prstGeom>
          <a:solidFill>
            <a:srgbClr val="E5F2ED"/>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Gemini semantic context</a:t>
            </a:r>
            <a:endParaRPr sz="1100">
              <a:solidFill>
                <a:srgbClr val="1F2926"/>
              </a:solidFill>
              <a:latin typeface="Google Sans Flex"/>
              <a:ea typeface="Google Sans Flex"/>
              <a:cs typeface="Google Sans Flex"/>
              <a:sym typeface="Google Sans Flex"/>
            </a:endParaRPr>
          </a:p>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6 signals from payment language</a:t>
            </a:r>
            <a:endParaRPr sz="1100">
              <a:solidFill>
                <a:srgbClr val="1F2926"/>
              </a:solidFill>
              <a:latin typeface="Google Sans Flex"/>
              <a:ea typeface="Google Sans Flex"/>
              <a:cs typeface="Google Sans Flex"/>
              <a:sym typeface="Google Sans Flex"/>
            </a:endParaRPr>
          </a:p>
        </p:txBody>
      </p:sp>
      <p:sp>
        <p:nvSpPr>
          <p:cNvPr id="115" name="Google Shape;115;p18"/>
          <p:cNvSpPr/>
          <p:nvPr/>
        </p:nvSpPr>
        <p:spPr>
          <a:xfrm>
            <a:off x="431800" y="3098800"/>
            <a:ext cx="2514600" cy="965100"/>
          </a:xfrm>
          <a:prstGeom prst="roundRect">
            <a:avLst>
              <a:gd fmla="val 16667" name="adj"/>
            </a:avLst>
          </a:prstGeom>
          <a:solidFill>
            <a:srgbClr val="E5F2ED"/>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Transaction facts</a:t>
            </a:r>
            <a:endParaRPr sz="1100">
              <a:solidFill>
                <a:srgbClr val="1F2926"/>
              </a:solidFill>
              <a:latin typeface="Google Sans Flex"/>
              <a:ea typeface="Google Sans Flex"/>
              <a:cs typeface="Google Sans Flex"/>
              <a:sym typeface="Google Sans Flex"/>
            </a:endParaRPr>
          </a:p>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Amount · history · vendor · destination</a:t>
            </a:r>
            <a:endParaRPr sz="1100">
              <a:solidFill>
                <a:srgbClr val="1F2926"/>
              </a:solidFill>
              <a:latin typeface="Google Sans Flex"/>
              <a:ea typeface="Google Sans Flex"/>
              <a:cs typeface="Google Sans Flex"/>
              <a:sym typeface="Google Sans Flex"/>
            </a:endParaRPr>
          </a:p>
        </p:txBody>
      </p:sp>
      <p:sp>
        <p:nvSpPr>
          <p:cNvPr id="116" name="Google Shape;116;p18"/>
          <p:cNvSpPr/>
          <p:nvPr/>
        </p:nvSpPr>
        <p:spPr>
          <a:xfrm>
            <a:off x="3708400" y="2413000"/>
            <a:ext cx="2235300" cy="1041300"/>
          </a:xfrm>
          <a:prstGeom prst="roundRect">
            <a:avLst>
              <a:gd fmla="val 16667" name="adj"/>
            </a:avLst>
          </a:prstGeom>
          <a:solidFill>
            <a:srgbClr val="F5F2E5"/>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Deterministic policy</a:t>
            </a:r>
            <a:endParaRPr sz="1100">
              <a:solidFill>
                <a:srgbClr val="1F2926"/>
              </a:solidFill>
              <a:latin typeface="Google Sans Flex"/>
              <a:ea typeface="Google Sans Flex"/>
              <a:cs typeface="Google Sans Flex"/>
              <a:sym typeface="Google Sans Flex"/>
            </a:endParaRPr>
          </a:p>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Combine available evidence</a:t>
            </a:r>
            <a:endParaRPr sz="1100">
              <a:solidFill>
                <a:srgbClr val="1F2926"/>
              </a:solidFill>
              <a:latin typeface="Google Sans Flex"/>
              <a:ea typeface="Google Sans Flex"/>
              <a:cs typeface="Google Sans Flex"/>
              <a:sym typeface="Google Sans Flex"/>
            </a:endParaRPr>
          </a:p>
        </p:txBody>
      </p:sp>
      <p:sp>
        <p:nvSpPr>
          <p:cNvPr id="117" name="Google Shape;117;p18"/>
          <p:cNvSpPr/>
          <p:nvPr/>
        </p:nvSpPr>
        <p:spPr>
          <a:xfrm>
            <a:off x="6680200" y="2413000"/>
            <a:ext cx="2006700" cy="1041300"/>
          </a:xfrm>
          <a:prstGeom prst="roundRect">
            <a:avLst>
              <a:gd fmla="val 16667" name="adj"/>
            </a:avLst>
          </a:prstGeom>
          <a:solidFill>
            <a:srgbClr val="E5F2ED"/>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Continue · Verify · Review</a:t>
            </a:r>
            <a:endParaRPr sz="1100">
              <a:solidFill>
                <a:srgbClr val="1F2926"/>
              </a:solidFill>
              <a:latin typeface="Google Sans Flex"/>
              <a:ea typeface="Google Sans Flex"/>
              <a:cs typeface="Google Sans Flex"/>
              <a:sym typeface="Google Sans Flex"/>
            </a:endParaRPr>
          </a:p>
        </p:txBody>
      </p:sp>
      <p:cxnSp>
        <p:nvCxnSpPr>
          <p:cNvPr id="118" name="Google Shape;118;p18"/>
          <p:cNvCxnSpPr/>
          <p:nvPr/>
        </p:nvCxnSpPr>
        <p:spPr>
          <a:xfrm>
            <a:off x="2946400" y="2209800"/>
            <a:ext cx="762000" cy="495300"/>
          </a:xfrm>
          <a:prstGeom prst="straightConnector1">
            <a:avLst/>
          </a:prstGeom>
          <a:noFill/>
          <a:ln cap="flat" cmpd="sng" w="19050">
            <a:solidFill>
              <a:srgbClr val="296157"/>
            </a:solidFill>
            <a:prstDash val="solid"/>
            <a:round/>
            <a:headEnd len="med" w="med" type="none"/>
            <a:tailEnd len="med" w="med" type="triangle"/>
          </a:ln>
        </p:spPr>
      </p:cxnSp>
      <p:cxnSp>
        <p:nvCxnSpPr>
          <p:cNvPr id="119" name="Google Shape;119;p18"/>
          <p:cNvCxnSpPr/>
          <p:nvPr/>
        </p:nvCxnSpPr>
        <p:spPr>
          <a:xfrm flipH="1" rot="10800000">
            <a:off x="2946400" y="3174900"/>
            <a:ext cx="762000" cy="406500"/>
          </a:xfrm>
          <a:prstGeom prst="straightConnector1">
            <a:avLst/>
          </a:prstGeom>
          <a:noFill/>
          <a:ln cap="flat" cmpd="sng" w="19050">
            <a:solidFill>
              <a:srgbClr val="296157"/>
            </a:solidFill>
            <a:prstDash val="solid"/>
            <a:round/>
            <a:headEnd len="med" w="med" type="none"/>
            <a:tailEnd len="med" w="med" type="triangle"/>
          </a:ln>
        </p:spPr>
      </p:cxnSp>
      <p:cxnSp>
        <p:nvCxnSpPr>
          <p:cNvPr id="120" name="Google Shape;120;p18"/>
          <p:cNvCxnSpPr/>
          <p:nvPr/>
        </p:nvCxnSpPr>
        <p:spPr>
          <a:xfrm>
            <a:off x="5943600" y="2933700"/>
            <a:ext cx="736500" cy="1200"/>
          </a:xfrm>
          <a:prstGeom prst="straightConnector1">
            <a:avLst/>
          </a:prstGeom>
          <a:noFill/>
          <a:ln cap="flat" cmpd="sng" w="19050">
            <a:solidFill>
              <a:srgbClr val="296157"/>
            </a:solidFill>
            <a:prstDash val="solid"/>
            <a:round/>
            <a:headEnd len="med" w="med" type="none"/>
            <a:tailEnd len="med" w="med" type="triangle"/>
          </a:ln>
        </p:spPr>
      </p:cxnSp>
      <p:sp>
        <p:nvSpPr>
          <p:cNvPr id="121" name="Google Shape;121;p18"/>
          <p:cNvSpPr/>
          <p:nvPr/>
        </p:nvSpPr>
        <p:spPr>
          <a:xfrm>
            <a:off x="1168400" y="4241800"/>
            <a:ext cx="6807300" cy="507900"/>
          </a:xfrm>
          <a:prstGeom prst="roundRect">
            <a:avLst>
              <a:gd fmla="val 16667" name="adj"/>
            </a:avLst>
          </a:prstGeom>
          <a:solidFill>
            <a:srgbClr val="F5F2E5"/>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Policy example: impersonation + secrecy scores each ≥ 0.8 → Review</a:t>
            </a:r>
            <a:endParaRPr sz="1100">
              <a:solidFill>
                <a:srgbClr val="1F2926"/>
              </a:solidFill>
              <a:latin typeface="Google Sans Flex"/>
              <a:ea typeface="Google Sans Flex"/>
              <a:cs typeface="Google Sans Flex"/>
              <a:sym typeface="Google Sans Flex"/>
            </a:endParaRPr>
          </a:p>
        </p:txBody>
      </p:sp>
      <p:sp>
        <p:nvSpPr>
          <p:cNvPr id="122" name="Google Shape;122;p18"/>
          <p:cNvSpPr txBox="1"/>
          <p:nvPr/>
        </p:nvSpPr>
        <p:spPr>
          <a:xfrm>
            <a:off x="381000" y="4787900"/>
            <a:ext cx="83820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800">
                <a:solidFill>
                  <a:srgbClr val="1F2926"/>
                </a:solidFill>
                <a:latin typeface="Google Sans Flex"/>
                <a:ea typeface="Google Sans Flex"/>
                <a:cs typeface="Google Sans Flex"/>
                <a:sym typeface="Google Sans Flex"/>
              </a:rPr>
              <a:t>Scores describe language signals, not fraud probability.</a:t>
            </a:r>
            <a:endParaRPr sz="800">
              <a:solidFill>
                <a:srgbClr val="1F2926"/>
              </a:solidFill>
              <a:latin typeface="Google Sans Flex"/>
              <a:ea typeface="Google Sans Flex"/>
              <a:cs typeface="Google Sans Flex"/>
              <a:sym typeface="Google Sans Flex"/>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8" name="Google Shape;128;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9" name="Google Shape;129;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Live Google Cloud architecture</a:t>
            </a:r>
            <a:endParaRPr sz="1600">
              <a:latin typeface="Google Sans Flex Medium"/>
              <a:ea typeface="Google Sans Flex Medium"/>
              <a:cs typeface="Google Sans Flex Medium"/>
              <a:sym typeface="Google Sans Flex Medium"/>
            </a:endParaRPr>
          </a:p>
        </p:txBody>
      </p:sp>
      <p:sp>
        <p:nvSpPr>
          <p:cNvPr id="131" name="Google Shape;131;p19"/>
          <p:cNvSpPr/>
          <p:nvPr/>
        </p:nvSpPr>
        <p:spPr>
          <a:xfrm>
            <a:off x="381000" y="1879600"/>
            <a:ext cx="1905000" cy="965100"/>
          </a:xfrm>
          <a:prstGeom prst="roundRect">
            <a:avLst>
              <a:gd fmla="val 16667" name="adj"/>
            </a:avLst>
          </a:prstGeom>
          <a:solidFill>
            <a:srgbClr val="E5F2ED"/>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Firebase anonymous auth</a:t>
            </a:r>
            <a:endParaRPr sz="1100">
              <a:solidFill>
                <a:srgbClr val="1F2926"/>
              </a:solidFill>
              <a:latin typeface="Google Sans Flex"/>
              <a:ea typeface="Google Sans Flex"/>
              <a:cs typeface="Google Sans Flex"/>
              <a:sym typeface="Google Sans Flex"/>
            </a:endParaRPr>
          </a:p>
        </p:txBody>
      </p:sp>
      <p:sp>
        <p:nvSpPr>
          <p:cNvPr id="132" name="Google Shape;132;p19"/>
          <p:cNvSpPr/>
          <p:nvPr/>
        </p:nvSpPr>
        <p:spPr>
          <a:xfrm>
            <a:off x="2844800" y="1879600"/>
            <a:ext cx="1905000" cy="965100"/>
          </a:xfrm>
          <a:prstGeom prst="roundRect">
            <a:avLst>
              <a:gd fmla="val 16667" name="adj"/>
            </a:avLst>
          </a:prstGeom>
          <a:solidFill>
            <a:srgbClr val="E5F2ED"/>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Browser client</a:t>
            </a:r>
            <a:endParaRPr sz="1100">
              <a:solidFill>
                <a:srgbClr val="1F2926"/>
              </a:solidFill>
              <a:latin typeface="Google Sans Flex"/>
              <a:ea typeface="Google Sans Flex"/>
              <a:cs typeface="Google Sans Flex"/>
              <a:sym typeface="Google Sans Flex"/>
            </a:endParaRPr>
          </a:p>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React</a:t>
            </a:r>
            <a:endParaRPr sz="1100">
              <a:solidFill>
                <a:srgbClr val="1F2926"/>
              </a:solidFill>
              <a:latin typeface="Google Sans Flex"/>
              <a:ea typeface="Google Sans Flex"/>
              <a:cs typeface="Google Sans Flex"/>
              <a:sym typeface="Google Sans Flex"/>
            </a:endParaRPr>
          </a:p>
        </p:txBody>
      </p:sp>
      <p:sp>
        <p:nvSpPr>
          <p:cNvPr id="133" name="Google Shape;133;p19"/>
          <p:cNvSpPr/>
          <p:nvPr/>
        </p:nvSpPr>
        <p:spPr>
          <a:xfrm>
            <a:off x="5308600" y="1879600"/>
            <a:ext cx="1905000" cy="965100"/>
          </a:xfrm>
          <a:prstGeom prst="roundRect">
            <a:avLst>
              <a:gd fmla="val 16667" name="adj"/>
            </a:avLst>
          </a:prstGeom>
          <a:solidFill>
            <a:srgbClr val="E5F2ED"/>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Cloud Run</a:t>
            </a:r>
            <a:endParaRPr sz="1100">
              <a:solidFill>
                <a:srgbClr val="1F2926"/>
              </a:solidFill>
              <a:latin typeface="Google Sans Flex"/>
              <a:ea typeface="Google Sans Flex"/>
              <a:cs typeface="Google Sans Flex"/>
              <a:sym typeface="Google Sans Flex"/>
            </a:endParaRPr>
          </a:p>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FastAPI</a:t>
            </a:r>
            <a:endParaRPr sz="1100">
              <a:solidFill>
                <a:srgbClr val="1F2926"/>
              </a:solidFill>
              <a:latin typeface="Google Sans Flex"/>
              <a:ea typeface="Google Sans Flex"/>
              <a:cs typeface="Google Sans Flex"/>
              <a:sym typeface="Google Sans Flex"/>
            </a:endParaRPr>
          </a:p>
        </p:txBody>
      </p:sp>
      <p:cxnSp>
        <p:nvCxnSpPr>
          <p:cNvPr id="134" name="Google Shape;134;p19"/>
          <p:cNvCxnSpPr/>
          <p:nvPr/>
        </p:nvCxnSpPr>
        <p:spPr>
          <a:xfrm>
            <a:off x="2286000" y="2362200"/>
            <a:ext cx="558900" cy="1200"/>
          </a:xfrm>
          <a:prstGeom prst="straightConnector1">
            <a:avLst/>
          </a:prstGeom>
          <a:noFill/>
          <a:ln cap="flat" cmpd="sng" w="19050">
            <a:solidFill>
              <a:srgbClr val="296157"/>
            </a:solidFill>
            <a:prstDash val="solid"/>
            <a:round/>
            <a:headEnd len="med" w="med" type="none"/>
            <a:tailEnd len="med" w="med" type="triangle"/>
          </a:ln>
        </p:spPr>
      </p:cxnSp>
      <p:cxnSp>
        <p:nvCxnSpPr>
          <p:cNvPr id="135" name="Google Shape;135;p19"/>
          <p:cNvCxnSpPr/>
          <p:nvPr/>
        </p:nvCxnSpPr>
        <p:spPr>
          <a:xfrm>
            <a:off x="4749800" y="2362200"/>
            <a:ext cx="558900" cy="1200"/>
          </a:xfrm>
          <a:prstGeom prst="straightConnector1">
            <a:avLst/>
          </a:prstGeom>
          <a:noFill/>
          <a:ln cap="flat" cmpd="sng" w="19050">
            <a:solidFill>
              <a:srgbClr val="296157"/>
            </a:solidFill>
            <a:prstDash val="solid"/>
            <a:round/>
            <a:headEnd len="med" w="med" type="none"/>
            <a:tailEnd len="med" w="med" type="triangle"/>
          </a:ln>
        </p:spPr>
      </p:cxnSp>
      <p:sp>
        <p:nvSpPr>
          <p:cNvPr id="136" name="Google Shape;136;p19"/>
          <p:cNvSpPr/>
          <p:nvPr/>
        </p:nvSpPr>
        <p:spPr>
          <a:xfrm>
            <a:off x="1803400" y="3479800"/>
            <a:ext cx="2463900" cy="787500"/>
          </a:xfrm>
          <a:prstGeom prst="roundRect">
            <a:avLst>
              <a:gd fmla="val 16667" name="adj"/>
            </a:avLst>
          </a:prstGeom>
          <a:solidFill>
            <a:srgbClr val="F5F2E5"/>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Vertex AI</a:t>
            </a:r>
            <a:endParaRPr sz="1100">
              <a:solidFill>
                <a:srgbClr val="1F2926"/>
              </a:solidFill>
              <a:latin typeface="Google Sans Flex"/>
              <a:ea typeface="Google Sans Flex"/>
              <a:cs typeface="Google Sans Flex"/>
              <a:sym typeface="Google Sans Flex"/>
            </a:endParaRPr>
          </a:p>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Gemini 2.5 Flash-Lite</a:t>
            </a:r>
            <a:endParaRPr sz="1100">
              <a:solidFill>
                <a:srgbClr val="1F2926"/>
              </a:solidFill>
              <a:latin typeface="Google Sans Flex"/>
              <a:ea typeface="Google Sans Flex"/>
              <a:cs typeface="Google Sans Flex"/>
              <a:sym typeface="Google Sans Flex"/>
            </a:endParaRPr>
          </a:p>
        </p:txBody>
      </p:sp>
      <p:sp>
        <p:nvSpPr>
          <p:cNvPr id="137" name="Google Shape;137;p19"/>
          <p:cNvSpPr/>
          <p:nvPr/>
        </p:nvSpPr>
        <p:spPr>
          <a:xfrm>
            <a:off x="4953000" y="3479800"/>
            <a:ext cx="2463900" cy="787500"/>
          </a:xfrm>
          <a:prstGeom prst="roundRect">
            <a:avLst>
              <a:gd fmla="val 16667" name="adj"/>
            </a:avLst>
          </a:prstGeom>
          <a:solidFill>
            <a:srgbClr val="F5F2E5"/>
          </a:solidFill>
          <a:ln cap="flat" cmpd="sng" w="9525">
            <a:solidFill>
              <a:srgbClr val="2961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Firestore</a:t>
            </a:r>
            <a:endParaRPr sz="1100">
              <a:solidFill>
                <a:srgbClr val="1F2926"/>
              </a:solidFill>
              <a:latin typeface="Google Sans Flex"/>
              <a:ea typeface="Google Sans Flex"/>
              <a:cs typeface="Google Sans Flex"/>
              <a:sym typeface="Google Sans Flex"/>
            </a:endParaRPr>
          </a:p>
          <a:p>
            <a:pPr indent="0" lvl="0" marL="0" rtl="0" algn="ctr">
              <a:lnSpc>
                <a:spcPct val="105000"/>
              </a:lnSpc>
              <a:spcBef>
                <a:spcPts val="0"/>
              </a:spcBef>
              <a:spcAft>
                <a:spcPts val="0"/>
              </a:spcAft>
              <a:buNone/>
            </a:pPr>
            <a:r>
              <a:rPr lang="en-GB" sz="1100">
                <a:solidFill>
                  <a:srgbClr val="1F2926"/>
                </a:solidFill>
                <a:latin typeface="Google Sans Flex"/>
                <a:ea typeface="Google Sans Flex"/>
                <a:cs typeface="Google Sans Flex"/>
                <a:sym typeface="Google Sans Flex"/>
              </a:rPr>
              <a:t>Owner-scoped cases + quotas</a:t>
            </a:r>
            <a:endParaRPr sz="1100">
              <a:solidFill>
                <a:srgbClr val="1F2926"/>
              </a:solidFill>
              <a:latin typeface="Google Sans Flex"/>
              <a:ea typeface="Google Sans Flex"/>
              <a:cs typeface="Google Sans Flex"/>
              <a:sym typeface="Google Sans Flex"/>
            </a:endParaRPr>
          </a:p>
        </p:txBody>
      </p:sp>
      <p:cxnSp>
        <p:nvCxnSpPr>
          <p:cNvPr id="138" name="Google Shape;138;p19"/>
          <p:cNvCxnSpPr/>
          <p:nvPr/>
        </p:nvCxnSpPr>
        <p:spPr>
          <a:xfrm flipH="1">
            <a:off x="3682900" y="2844800"/>
            <a:ext cx="2578200" cy="635100"/>
          </a:xfrm>
          <a:prstGeom prst="straightConnector1">
            <a:avLst/>
          </a:prstGeom>
          <a:noFill/>
          <a:ln cap="flat" cmpd="sng" w="19050">
            <a:solidFill>
              <a:srgbClr val="296157"/>
            </a:solidFill>
            <a:prstDash val="solid"/>
            <a:round/>
            <a:headEnd len="med" w="med" type="none"/>
            <a:tailEnd len="med" w="med" type="triangle"/>
          </a:ln>
        </p:spPr>
      </p:cxnSp>
      <p:cxnSp>
        <p:nvCxnSpPr>
          <p:cNvPr id="139" name="Google Shape;139;p19"/>
          <p:cNvCxnSpPr/>
          <p:nvPr/>
        </p:nvCxnSpPr>
        <p:spPr>
          <a:xfrm flipH="1">
            <a:off x="6184900" y="2844800"/>
            <a:ext cx="76200" cy="635100"/>
          </a:xfrm>
          <a:prstGeom prst="straightConnector1">
            <a:avLst/>
          </a:prstGeom>
          <a:noFill/>
          <a:ln cap="flat" cmpd="sng" w="19050">
            <a:solidFill>
              <a:srgbClr val="296157"/>
            </a:solidFill>
            <a:prstDash val="solid"/>
            <a:round/>
            <a:headEnd len="med" w="med" type="none"/>
            <a:tailEnd len="med" w="med" type="triangle"/>
          </a:ln>
        </p:spPr>
      </p:cxnSp>
      <p:sp>
        <p:nvSpPr>
          <p:cNvPr id="140" name="Google Shape;140;p19"/>
          <p:cNvSpPr txBox="1"/>
          <p:nvPr/>
        </p:nvSpPr>
        <p:spPr>
          <a:xfrm>
            <a:off x="381000" y="4394200"/>
            <a:ext cx="8382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rgbClr val="1F2926"/>
                </a:solidFill>
                <a:latin typeface="Google Sans Flex"/>
                <a:ea typeface="Google Sans Flex"/>
                <a:cs typeface="Google Sans Flex"/>
                <a:sym typeface="Google Sans Flex"/>
              </a:rPr>
              <a:t>Cloud Run owns deterministic policy and Firestore writes. Gemini classifies context and orders recorded evidence on request; templates render explanations. No payment executes.</a:t>
            </a:r>
            <a:endParaRPr sz="1100">
              <a:solidFill>
                <a:srgbClr val="1F2926"/>
              </a:solidFill>
              <a:latin typeface="Google Sans Flex"/>
              <a:ea typeface="Google Sans Flex"/>
              <a:cs typeface="Google Sans Flex"/>
              <a:sym typeface="Google Sans Flex"/>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6" name="Google Shape;146;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7" name="Google Shape;147;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Technology stack</a:t>
            </a:r>
            <a:endParaRPr sz="1600">
              <a:latin typeface="Google Sans Flex Medium"/>
              <a:ea typeface="Google Sans Flex Medium"/>
              <a:cs typeface="Google Sans Flex Medium"/>
              <a:sym typeface="Google Sans Flex Medium"/>
            </a:endParaRPr>
          </a:p>
        </p:txBody>
      </p:sp>
      <p:sp>
        <p:nvSpPr>
          <p:cNvPr id="149" name="Google Shape;149;p20"/>
          <p:cNvSpPr txBox="1"/>
          <p:nvPr/>
        </p:nvSpPr>
        <p:spPr>
          <a:xfrm>
            <a:off x="381000" y="1320800"/>
            <a:ext cx="8382000" cy="3365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300">
                <a:solidFill>
                  <a:srgbClr val="1F2926"/>
                </a:solidFill>
                <a:latin typeface="Google Sans Flex"/>
                <a:ea typeface="Google Sans Flex"/>
                <a:cs typeface="Google Sans Flex"/>
                <a:sym typeface="Google Sans Flex"/>
              </a:rPr>
              <a:t>LIVE PROTOTYPE</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React and TypeScript · Python FastAPI · deterministic policy</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Firebase anonymous authentication · Firestore · Cloud Run</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Vertex AI Gemini 2.5 Flash-Lite for invoice extraction and semantic classification</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NEXT CLASSIFIER: JEV</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600"/>
              </a:spcAft>
              <a:buNone/>
            </a:pPr>
            <a:r>
              <a:rPr lang="en-GB" sz="1300">
                <a:solidFill>
                  <a:srgbClr val="1F2926"/>
                </a:solidFill>
                <a:latin typeface="Google Sans Flex"/>
                <a:ea typeface="Google Sans Flex"/>
                <a:cs typeface="Google Sans Flex"/>
                <a:sym typeface="Google Sans Flex"/>
              </a:rPr>
              <a:t>Jev is a candidate structured decision model for a low-latency classification path. Its adapter passes fixture tests but is disabled on live GCP. Latency and quality remain unmeasured.</a:t>
            </a:r>
            <a:endParaRPr sz="1300">
              <a:solidFill>
                <a:srgbClr val="1F2926"/>
              </a:solidFill>
              <a:latin typeface="Google Sans Flex"/>
              <a:ea typeface="Google Sans Flex"/>
              <a:cs typeface="Google Sans Flex"/>
              <a:sym typeface="Google Sans Flex"/>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5" name="Google Shape;155;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6" name="Google Shape;156;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Cost and data safeguards</a:t>
            </a:r>
            <a:endParaRPr sz="1600">
              <a:latin typeface="Google Sans Flex Medium"/>
              <a:ea typeface="Google Sans Flex Medium"/>
              <a:cs typeface="Google Sans Flex Medium"/>
              <a:sym typeface="Google Sans Flex Medium"/>
            </a:endParaRPr>
          </a:p>
        </p:txBody>
      </p:sp>
      <p:sp>
        <p:nvSpPr>
          <p:cNvPr id="158" name="Google Shape;158;p21"/>
          <p:cNvSpPr txBox="1"/>
          <p:nvPr/>
        </p:nvSpPr>
        <p:spPr>
          <a:xfrm>
            <a:off x="381000" y="1320800"/>
            <a:ext cx="8382000" cy="3365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300">
                <a:solidFill>
                  <a:srgbClr val="1F2926"/>
                </a:solidFill>
                <a:latin typeface="Google Sans Flex"/>
                <a:ea typeface="Google Sans Flex"/>
                <a:cs typeface="Google Sans Flex"/>
                <a:sym typeface="Google Sans Flex"/>
              </a:rPr>
              <a:t>CLOUD COST STATUS</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Cloud Run, Firestore and Vertex AI calls may incur charges. Credit coverage is unconfirmed.</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MODEL REQUEST LIMITS</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9 attempts per visitor per day · 50 globally per day · 200 total. These restrict model calls and are not a billing cap.</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600"/>
              </a:spcAft>
              <a:buNone/>
            </a:pPr>
            <a:r>
              <a:rPr lang="en-GB" sz="1300">
                <a:solidFill>
                  <a:srgbClr val="1F2926"/>
                </a:solidFill>
                <a:latin typeface="Google Sans Flex"/>
                <a:ea typeface="Google Sans Flex"/>
                <a:cs typeface="Google Sans Flex"/>
                <a:sym typeface="Google Sans Flex"/>
              </a:rPr>
              <a:t>Use synthetic invoice data only.</a:t>
            </a:r>
            <a:endParaRPr sz="1300">
              <a:solidFill>
                <a:srgbClr val="1F2926"/>
              </a:solidFill>
              <a:latin typeface="Google Sans Flex"/>
              <a:ea typeface="Google Sans Flex"/>
              <a:cs typeface="Google Sans Flex"/>
              <a:sym typeface="Google Sans Flex"/>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4" name="Google Shape;164;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5" name="Google Shape;165;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Live synthetic case evidence</a:t>
            </a:r>
            <a:endParaRPr sz="1600">
              <a:latin typeface="Google Sans Flex Medium"/>
              <a:ea typeface="Google Sans Flex Medium"/>
              <a:cs typeface="Google Sans Flex Medium"/>
              <a:sym typeface="Google Sans Flex Medium"/>
            </a:endParaRPr>
          </a:p>
        </p:txBody>
      </p:sp>
      <p:pic>
        <p:nvPicPr>
          <p:cNvPr id="167" name="Google Shape;167;p22"/>
          <p:cNvPicPr preferRelativeResize="0"/>
          <p:nvPr/>
        </p:nvPicPr>
        <p:blipFill>
          <a:blip r:embed="rId5">
            <a:alphaModFix/>
          </a:blip>
          <a:stretch>
            <a:fillRect/>
          </a:stretch>
        </p:blipFill>
        <p:spPr>
          <a:xfrm>
            <a:off x="533400" y="1321024"/>
            <a:ext cx="2209799" cy="3479351"/>
          </a:xfrm>
          <a:prstGeom prst="rect">
            <a:avLst/>
          </a:prstGeom>
          <a:noFill/>
          <a:ln>
            <a:noFill/>
          </a:ln>
        </p:spPr>
      </p:pic>
      <p:sp>
        <p:nvSpPr>
          <p:cNvPr id="168" name="Google Shape;168;p22"/>
          <p:cNvSpPr txBox="1"/>
          <p:nvPr/>
        </p:nvSpPr>
        <p:spPr>
          <a:xfrm>
            <a:off x="3365500" y="1651000"/>
            <a:ext cx="5207100" cy="2984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a:solidFill>
                  <a:srgbClr val="1F2926"/>
                </a:solidFill>
                <a:latin typeface="Google Sans Flex"/>
                <a:ea typeface="Google Sans Flex"/>
                <a:cs typeface="Google Sans Flex"/>
                <a:sym typeface="Google Sans Flex"/>
              </a:rPr>
              <a:t>LIVE SYNTHETIC INVOICE CASE</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a:solidFill>
                  <a:srgbClr val="1F2926"/>
                </a:solidFill>
                <a:latin typeface="Google Sans Flex"/>
                <a:ea typeface="Google Sans Flex"/>
                <a:cs typeface="Google Sans Flex"/>
                <a:sym typeface="Google Sans Flex"/>
              </a:rPr>
              <a:t>The public app used Vertex Gemini to extract fields and classify request context. The person confirmed the vendor destination before assessment. The deterministic policy then assessed recorded evidence.</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600"/>
              </a:spcAft>
              <a:buNone/>
            </a:pPr>
            <a:r>
              <a:rPr lang="en-GB">
                <a:solidFill>
                  <a:srgbClr val="1F2926"/>
                </a:solidFill>
                <a:latin typeface="Google Sans Flex"/>
                <a:ea typeface="Google Sans Flex"/>
                <a:cs typeface="Google Sans Flex"/>
                <a:sym typeface="Google Sans Flex"/>
              </a:rPr>
              <a:t>One invoice matched the saved account and returned Continue. The changed destination case returned Review. A requested explanation used Gemini-ranked saved evidence with deterministic templates. Firestore retained both cases across a deployment revision. No payment moved.</a:t>
            </a:r>
            <a:endParaRPr>
              <a:solidFill>
                <a:srgbClr val="1F2926"/>
              </a:solidFill>
              <a:latin typeface="Google Sans Flex"/>
              <a:ea typeface="Google Sans Flex"/>
              <a:cs typeface="Google Sans Flex"/>
              <a:sym typeface="Google Sans Flex"/>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4" name="Google Shape;174;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75" name="Google Shape;175;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verification</a:t>
            </a:r>
            <a:endParaRPr sz="1600">
              <a:latin typeface="Google Sans Flex Medium"/>
              <a:ea typeface="Google Sans Flex Medium"/>
              <a:cs typeface="Google Sans Flex Medium"/>
              <a:sym typeface="Google Sans Flex Medium"/>
            </a:endParaRPr>
          </a:p>
        </p:txBody>
      </p:sp>
      <p:sp>
        <p:nvSpPr>
          <p:cNvPr id="177" name="Google Shape;177;p23"/>
          <p:cNvSpPr txBox="1"/>
          <p:nvPr/>
        </p:nvSpPr>
        <p:spPr>
          <a:xfrm>
            <a:off x="381000" y="1320800"/>
            <a:ext cx="8382000" cy="3365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300">
                <a:solidFill>
                  <a:srgbClr val="1F2926"/>
                </a:solidFill>
                <a:latin typeface="Google Sans Flex"/>
                <a:ea typeface="Google Sans Flex"/>
                <a:cs typeface="Google Sans Flex"/>
                <a:sym typeface="Google Sans Flex"/>
              </a:rPr>
              <a:t>SOFTWARE CHECKS</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59 backend tests pass in the release check.</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LIVE INTEGRATION CHECK</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Two synthetic invoice paths completed with live Vertex Gemini extraction and classification. A requested explanation used Gemini-ranked evidence with deterministic templates. Firestore readback, retry idempotency, restart durability and visitor isolation were verified.</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EVIDENCE LIMIT</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600"/>
              </a:spcAft>
              <a:buNone/>
            </a:pPr>
            <a:r>
              <a:rPr lang="en-GB" sz="1300">
                <a:solidFill>
                  <a:srgbClr val="1F2926"/>
                </a:solidFill>
                <a:latin typeface="Google Sans Flex"/>
                <a:ea typeface="Google Sans Flex"/>
                <a:cs typeface="Google Sans Flex"/>
                <a:sym typeface="Google Sans Flex"/>
              </a:rPr>
              <a:t>These checks establish integration behavior, not fraud-detection accuracy or model latency. No accuracy or latency benchmark is claimed.</a:t>
            </a:r>
            <a:endParaRPr sz="1300">
              <a:solidFill>
                <a:srgbClr val="1F2926"/>
              </a:solidFill>
              <a:latin typeface="Google Sans Flex"/>
              <a:ea typeface="Google Sans Flex"/>
              <a:cs typeface="Google Sans Flex"/>
              <a:sym typeface="Google Sans Flex"/>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83" name="Google Shape;183;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84" name="Google Shape;184;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Future development</a:t>
            </a:r>
            <a:endParaRPr sz="1600">
              <a:latin typeface="Google Sans Flex Medium"/>
              <a:ea typeface="Google Sans Flex Medium"/>
              <a:cs typeface="Google Sans Flex Medium"/>
              <a:sym typeface="Google Sans Flex Medium"/>
            </a:endParaRPr>
          </a:p>
        </p:txBody>
      </p:sp>
      <p:sp>
        <p:nvSpPr>
          <p:cNvPr id="186" name="Google Shape;186;p24"/>
          <p:cNvSpPr txBox="1"/>
          <p:nvPr/>
        </p:nvSpPr>
        <p:spPr>
          <a:xfrm>
            <a:off x="381000" y="1320800"/>
            <a:ext cx="8382000" cy="3365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sz="1300">
                <a:solidFill>
                  <a:srgbClr val="1F2926"/>
                </a:solidFill>
                <a:latin typeface="Google Sans Flex"/>
                <a:ea typeface="Google Sans Flex"/>
                <a:cs typeface="Google Sans Flex"/>
                <a:sym typeface="Google Sans Flex"/>
              </a:rPr>
              <a:t>NEXT STEPS</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01  Benchmark Jev against Gemini on a reviewed case set: p50/p95 latency, precision, recall, false-positive rate and calibration.</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02  Keep Jev disabled until quality and operational checks are complete.</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sz="1300">
                <a:solidFill>
                  <a:srgbClr val="1F2926"/>
                </a:solidFill>
                <a:latin typeface="Google Sans Flex"/>
                <a:ea typeface="Google Sans Flex"/>
                <a:cs typeface="Google Sans Flex"/>
                <a:sym typeface="Google Sans Flex"/>
              </a:rPr>
              <a:t>03  Add verified vendor feeds and extend beyond invoices to more payment rails.</a:t>
            </a:r>
            <a:endParaRPr sz="1300">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600"/>
              </a:spcAft>
              <a:buNone/>
            </a:pPr>
            <a:r>
              <a:rPr lang="en-GB" sz="1300">
                <a:solidFill>
                  <a:srgbClr val="1F2926"/>
                </a:solidFill>
                <a:latin typeface="Google Sans Flex"/>
                <a:ea typeface="Google Sans Flex"/>
                <a:cs typeface="Google Sans Flex"/>
                <a:sym typeface="Google Sans Flex"/>
              </a:rPr>
              <a:t>04  Preserve human review and deterministic policy control; the app never initiates a payment.</a:t>
            </a:r>
            <a:endParaRPr sz="1300">
              <a:solidFill>
                <a:srgbClr val="1F2926"/>
              </a:solidFill>
              <a:latin typeface="Google Sans Flex"/>
              <a:ea typeface="Google Sans Flex"/>
              <a:cs typeface="Google Sans Flex"/>
              <a:sym typeface="Google Sans Flex"/>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92" name="Google Shape;192;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93" name="Google Shape;193;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5"/>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Submission links</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195" name="Google Shape;195;p25"/>
          <p:cNvSpPr txBox="1"/>
          <p:nvPr/>
        </p:nvSpPr>
        <p:spPr>
          <a:xfrm>
            <a:off x="381000" y="1600200"/>
            <a:ext cx="8382000" cy="3365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GB">
                <a:solidFill>
                  <a:srgbClr val="1F2926"/>
                </a:solidFill>
                <a:latin typeface="Google Sans Flex"/>
                <a:ea typeface="Google Sans Flex"/>
                <a:cs typeface="Google Sans Flex"/>
                <a:sym typeface="Google Sans Flex"/>
              </a:rPr>
              <a:t>Public repository</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u="sng">
                <a:solidFill>
                  <a:srgbClr val="14428C"/>
                </a:solidFill>
                <a:latin typeface="Google Sans Flex"/>
                <a:ea typeface="Google Sans Flex"/>
                <a:cs typeface="Google Sans Flex"/>
                <a:sym typeface="Google Sans Flex"/>
                <a:hlinkClick r:id="rId5">
                  <a:extLst>
                    <a:ext uri="{A12FA001-AC4F-418D-AE19-62706E023703}">
                      <ahyp:hlinkClr val="tx"/>
                    </a:ext>
                  </a:extLst>
                </a:hlinkClick>
              </a:rPr>
              <a:t>https://github.com/NikhilBudaniya/scamshield</a:t>
            </a:r>
            <a:endParaRPr>
              <a:solidFill>
                <a:srgbClr val="14428C"/>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a:solidFill>
                  <a:srgbClr val="1F2926"/>
                </a:solidFill>
                <a:latin typeface="Google Sans Flex"/>
                <a:ea typeface="Google Sans Flex"/>
                <a:cs typeface="Google Sans Flex"/>
                <a:sym typeface="Google Sans Flex"/>
              </a:rPr>
              <a:t>Live Cloud Run app</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u="sng">
                <a:solidFill>
                  <a:srgbClr val="14428C"/>
                </a:solidFill>
                <a:latin typeface="Google Sans Flex"/>
                <a:ea typeface="Google Sans Flex"/>
                <a:cs typeface="Google Sans Flex"/>
                <a:sym typeface="Google Sans Flex"/>
                <a:hlinkClick r:id="rId6">
                  <a:extLst>
                    <a:ext uri="{A12FA001-AC4F-418D-AE19-62706E023703}">
                      <ahyp:hlinkClr val="tx"/>
                    </a:ext>
                  </a:extLst>
                </a:hlinkClick>
              </a:rPr>
              <a:t>https://scamshield-304420617883.us-central1.run.app</a:t>
            </a:r>
            <a:endParaRPr>
              <a:solidFill>
                <a:srgbClr val="14428C"/>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a:solidFill>
                  <a:srgbClr val="1F2926"/>
                </a:solidFill>
                <a:latin typeface="Google Sans Flex"/>
                <a:ea typeface="Google Sans Flex"/>
                <a:cs typeface="Google Sans Flex"/>
                <a:sym typeface="Google Sans Flex"/>
              </a:rPr>
              <a:t>Demo video</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rPr lang="en-GB" u="sng">
                <a:solidFill>
                  <a:srgbClr val="14428C"/>
                </a:solidFill>
                <a:latin typeface="Google Sans Flex"/>
                <a:ea typeface="Google Sans Flex"/>
                <a:cs typeface="Google Sans Flex"/>
                <a:sym typeface="Google Sans Flex"/>
                <a:hlinkClick r:id="rId7">
                  <a:extLst>
                    <a:ext uri="{A12FA001-AC4F-418D-AE19-62706E023703}">
                      <ahyp:hlinkClr val="tx"/>
                    </a:ext>
                  </a:extLst>
                </a:hlinkClick>
              </a:rPr>
              <a:t>Watch recorded demo</a:t>
            </a:r>
            <a:endParaRPr>
              <a:solidFill>
                <a:srgbClr val="14428C"/>
              </a:solidFill>
              <a:latin typeface="Google Sans Flex"/>
              <a:ea typeface="Google Sans Flex"/>
              <a:cs typeface="Google Sans Flex"/>
              <a:sym typeface="Google Sans Flex"/>
            </a:endParaRPr>
          </a:p>
          <a:p>
            <a:pPr indent="0" lvl="0" marL="0" rtl="0" algn="l">
              <a:lnSpc>
                <a:spcPct val="112000"/>
              </a:lnSpc>
              <a:spcBef>
                <a:spcPts val="600"/>
              </a:spcBef>
              <a:spcAft>
                <a:spcPts val="0"/>
              </a:spcAft>
              <a:buNone/>
            </a:pPr>
            <a:r>
              <a:t/>
            </a:r>
            <a:endParaRPr>
              <a:solidFill>
                <a:srgbClr val="1F2926"/>
              </a:solidFill>
              <a:latin typeface="Google Sans Flex"/>
              <a:ea typeface="Google Sans Flex"/>
              <a:cs typeface="Google Sans Flex"/>
              <a:sym typeface="Google Sans Flex"/>
            </a:endParaRPr>
          </a:p>
          <a:p>
            <a:pPr indent="0" lvl="0" marL="0" rtl="0" algn="l">
              <a:lnSpc>
                <a:spcPct val="112000"/>
              </a:lnSpc>
              <a:spcBef>
                <a:spcPts val="600"/>
              </a:spcBef>
              <a:spcAft>
                <a:spcPts val="600"/>
              </a:spcAft>
              <a:buNone/>
            </a:pPr>
            <a:r>
              <a:rPr lang="en-GB">
                <a:solidFill>
                  <a:srgbClr val="1F2926"/>
                </a:solidFill>
                <a:latin typeface="Google Sans Flex"/>
                <a:ea typeface="Google Sans Flex"/>
                <a:cs typeface="Google Sans Flex"/>
                <a:sym typeface="Google Sans Flex"/>
              </a:rPr>
              <a:t>Use synthetic examples only. No payment is executed.</a:t>
            </a:r>
            <a:endParaRPr>
              <a:solidFill>
                <a:srgbClr val="1F2926"/>
              </a:solidFill>
              <a:latin typeface="Google Sans Flex"/>
              <a:ea typeface="Google Sans Flex"/>
              <a:cs typeface="Google Sans Flex"/>
              <a:sym typeface="Google Sans Flex"/>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201" name="Google Shape;201;p26"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