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9528eb183e43ff" /><Relationship Type="http://schemas.openxmlformats.org/officeDocument/2006/relationships/extended-properties" Target="/docProps/app.xml" Id="Re74c0c3da20940df" /><Relationship Type="http://schemas.openxmlformats.org/officeDocument/2006/relationships/officeDocument" Target="/ppt/presentation.xml" Id="R74acd1f44a874ffa" /></Relationships>
</file>

<file path=ppt/presentation.xml><?xml version="1.0" encoding="utf-8"?>
<p:presentation xmlns:p="http://schemas.openxmlformats.org/presentationml/2006/main">
  <p:sldMasterIdLst>
    <p:sldMasterId xmlns:r="http://schemas.openxmlformats.org/officeDocument/2006/relationships" id="2147483648" r:id="Rca15cf2fe5654bd0"/>
  </p:sldMasterIdLst>
  <p:notesMasterIdLst>
    <p:notesMasterId xmlns:r="http://schemas.openxmlformats.org/officeDocument/2006/relationships" r:id="R5b9a28f7c529497f"/>
  </p:notesMasterIdLst>
  <p:sldIdLst>
    <p:sldId xmlns:r="http://schemas.openxmlformats.org/officeDocument/2006/relationships" id="256" r:id="R8ce4280b9a884fa5"/>
    <p:sldId xmlns:r="http://schemas.openxmlformats.org/officeDocument/2006/relationships" id="257" r:id="Re32399a0fd4d4cb3"/>
    <p:sldId xmlns:r="http://schemas.openxmlformats.org/officeDocument/2006/relationships" id="258" r:id="R17f1ab581bd04f6a"/>
    <p:sldId xmlns:r="http://schemas.openxmlformats.org/officeDocument/2006/relationships" id="259" r:id="Rc8685eb0a5824947"/>
    <p:sldId xmlns:r="http://schemas.openxmlformats.org/officeDocument/2006/relationships" id="260" r:id="R5ce6d1504498423d"/>
    <p:sldId xmlns:r="http://schemas.openxmlformats.org/officeDocument/2006/relationships" id="261" r:id="R23510dfc8d224b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7f019e24694652" /><Relationship Type="http://schemas.openxmlformats.org/officeDocument/2006/relationships/slideMaster" Target="/ppt/slideMasters/slideMaster1.xml" Id="Rca15cf2fe5654bd0" /><Relationship Type="http://schemas.openxmlformats.org/officeDocument/2006/relationships/notesMaster" Target="/ppt/notesMasters/notesMaster1.xml" Id="R5b9a28f7c529497f" /><Relationship Type="http://schemas.openxmlformats.org/officeDocument/2006/relationships/presProps" Target="/ppt/presProps.xml" Id="Rbca50e2e92d342af" /><Relationship Type="http://schemas.openxmlformats.org/officeDocument/2006/relationships/tableStyles" Target="/ppt/tableStyles.xml" Id="Rfa04bb2b5cd94b10" /><Relationship Type="http://schemas.openxmlformats.org/officeDocument/2006/relationships/slide" Target="/ppt/slides/slide1.xml" Id="R8ce4280b9a884fa5" /><Relationship Type="http://schemas.openxmlformats.org/officeDocument/2006/relationships/slide" Target="/ppt/slides/slide2.xml" Id="Re32399a0fd4d4cb3" /><Relationship Type="http://schemas.openxmlformats.org/officeDocument/2006/relationships/slide" Target="/ppt/slides/slide3.xml" Id="R17f1ab581bd04f6a" /><Relationship Type="http://schemas.openxmlformats.org/officeDocument/2006/relationships/slide" Target="/ppt/slides/slide4.xml" Id="Rc8685eb0a5824947" /><Relationship Type="http://schemas.openxmlformats.org/officeDocument/2006/relationships/slide" Target="/ppt/slides/slide5.xml" Id="R5ce6d1504498423d" /><Relationship Type="http://schemas.openxmlformats.org/officeDocument/2006/relationships/slide" Target="/ppt/slides/slide6.xml" Id="R23510dfc8d224b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0708f0439947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dcdca0bf944530" /><Relationship Type="http://schemas.openxmlformats.org/officeDocument/2006/relationships/notesMaster" Target="/ppt/notesMasters/notesMaster1.xml" Id="R12446a1d07194f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77aa7d40d54c50" /><Relationship Type="http://schemas.openxmlformats.org/officeDocument/2006/relationships/notesMaster" Target="/ppt/notesMasters/notesMaster1.xml" Id="R6edddee7610d48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205a16a02a4b91" /><Relationship Type="http://schemas.openxmlformats.org/officeDocument/2006/relationships/notesMaster" Target="/ppt/notesMasters/notesMaster1.xml" Id="Ra44ecb978ea040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bdf68a9c3545a3" /><Relationship Type="http://schemas.openxmlformats.org/officeDocument/2006/relationships/notesMaster" Target="/ppt/notesMasters/notesMaster1.xml" Id="R76ec5ca2fff94f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27012bf87a45a4" /><Relationship Type="http://schemas.openxmlformats.org/officeDocument/2006/relationships/notesMaster" Target="/ppt/notesMasters/notesMaster1.xml" Id="R251ce54ca37545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2e664fdaf144b4" /><Relationship Type="http://schemas.openxmlformats.org/officeDocument/2006/relationships/notesMaster" Target="/ppt/notesMasters/notesMaster1.xml" Id="R8615c1aa223c40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ScamShield is a proposal for proportionate payment intervention. The prototype uses synthetic records and simulated outcomes. Source: approved design specification, docs/superpowers/specs/2026-10-11-scamshield-design.md.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payment and message details on this slide are synthetic. A safe-account classification at the specified provisional threshold together with a new recipient routes to review; the recommendation language is intentionally cautious. Source: approved design specification, sections “Rules and policy” and “Demonstration and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workflow adapters feed one assessment contract. The policy recommendation is determined from recorded evidence; the explanation is generated separately and cannot change the recommendation. Source: approved design specification, sections “Workflows”, “Architecture” and “Model boundaries and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classifier can use Gemini Developer API by configuration; Vertex AI remains optional. Gemini explanation is a separate, optional operation after the recommendation is stored. The hackathon path is a local app with SQLite and the Gemini Developer API free tier. Cloud Run and Vertex AI are optional extensions; usage can incur charges. Default remains fixture mode, live calls are unverified, and no paid services are provisioned. Google’s current pricing documentation lists free input and output for standard Gemini 2.5 Flash and Flash-Lite, subject to rate limits, and says free-tier content may be used to improve Google products. Use synthetic data with the free tier. Source: https://ai.google.dev/gemini-api/docs/pricing; approved design specification, sections “Architecture” and “Model boundaries and resilience”; current project integration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named scenarios are in the spec; this slide shows four representative outcomes. Evaluation uses 40 synthetic examples split into 20 development and 20 held-out, with identical-input rules-only comparison. The dataset does not establish real-world fraud accuracy. Source: approved design specification, section “Demonstration and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schedule is a proposed delivery sequence, not a claim that implementation or deployment has completed. The local hackathon path uses SQLite and Gemini Developer API. Free tier availability is subject to rate limits and data-use terms; Google’s current documentation says free-tier content may be used to improve products, so use synthetic inputs. Vertex AI and Cloud Run are optional extensions and can incur charges. No paid services have been provisioned. Source: https://ai.google.dev/gemini-api/docs/pricing; approved design specification “Delivery sequence” and implementation plan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0813d660a14d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68988335ef41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ed10fbee78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e337390b0347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fa609f5b414a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380f7440634a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B4AD26-03E4-4F84-B8E2-882EF03D97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D27E04-02EB-45A7-A014-9D2E0DA073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E7B024-710E-4CF9-843B-744015BBD0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9F312D-54AB-4D25-A9C1-2720661855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C264E7-91E4-490D-993E-BA41C1D504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930F87-FBD7-4189-907F-37D134C9EC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5FD7BC-31ED-4557-96EF-514A3F08BC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D9370F-B993-4DD8-B169-24ACBE3AF4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289BB2-AF49-4F79-87D6-39CA9F49BA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F9F643-420B-420A-A39A-526CCB75EF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5e964e04cd4a43" /><Relationship Type="http://schemas.openxmlformats.org/officeDocument/2006/relationships/slideLayout" Target="/ppt/slideLayouts/slideLayout1.xml" Id="R657b4af440fd43c8" /><Relationship Type="http://schemas.openxmlformats.org/officeDocument/2006/relationships/slideLayout" Target="/ppt/slideLayouts/slideLayout2.xml" Id="Ra8ad9e94111849a0" /><Relationship Type="http://schemas.openxmlformats.org/officeDocument/2006/relationships/slideLayout" Target="/ppt/slideLayouts/slideLayout3.xml" Id="Rd1b21f8f3ed2459c" /><Relationship Type="http://schemas.openxmlformats.org/officeDocument/2006/relationships/slideLayout" Target="/ppt/slideLayouts/slideLayout4.xml" Id="Rab9550d6a36943c2" /><Relationship Type="http://schemas.openxmlformats.org/officeDocument/2006/relationships/slideLayout" Target="/ppt/slideLayouts/slideLayout5.xml" Id="R3cb7ce4d5c364fa1" /><Relationship Type="http://schemas.openxmlformats.org/officeDocument/2006/relationships/slideLayout" Target="/ppt/slideLayouts/slideLayout6.xml" Id="R9d205a240e6f46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7b4af440fd43c8"/>
    <p:sldLayoutId xmlns:r="http://schemas.openxmlformats.org/officeDocument/2006/relationships" id="2147483650" r:id="Ra8ad9e94111849a0"/>
    <p:sldLayoutId xmlns:r="http://schemas.openxmlformats.org/officeDocument/2006/relationships" id="2147483651" r:id="Rd1b21f8f3ed2459c"/>
    <p:sldLayoutId xmlns:r="http://schemas.openxmlformats.org/officeDocument/2006/relationships" id="2147483652" r:id="Rab9550d6a36943c2"/>
    <p:sldLayoutId xmlns:r="http://schemas.openxmlformats.org/officeDocument/2006/relationships" id="2147483653" r:id="R3cb7ce4d5c364fa1"/>
    <p:sldLayoutId xmlns:r="http://schemas.openxmlformats.org/officeDocument/2006/relationships" id="2147483654" r:id="R9d205a240e6f46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2b4fe4d5d64233" /><Relationship Type="http://schemas.openxmlformats.org/officeDocument/2006/relationships/notesSlide" Target="/ppt/notesSlides/notesSlide1.xml" Id="R3dd9cbdb1b304d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b42c6fd18d4505" /><Relationship Type="http://schemas.openxmlformats.org/officeDocument/2006/relationships/notesSlide" Target="/ppt/notesSlides/notesSlide2.xml" Id="R1e69bb83cc164c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5ddf2ec4534819" /><Relationship Type="http://schemas.openxmlformats.org/officeDocument/2006/relationships/notesSlide" Target="/ppt/notesSlides/notesSlide3.xml" Id="R7afaf9fdccab4c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2ba9c39beb4293" /><Relationship Type="http://schemas.openxmlformats.org/officeDocument/2006/relationships/notesSlide" Target="/ppt/notesSlides/notesSlide4.xml" Id="R9fdc5cfff4dd41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abad2eb1bd4edc" /><Relationship Type="http://schemas.openxmlformats.org/officeDocument/2006/relationships/notesSlide" Target="/ppt/notesSlides/notesSlide5.xml" Id="Rae1e94c93f2148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4d9bab37d84472" /><Relationship Type="http://schemas.openxmlformats.org/officeDocument/2006/relationships/notesSlide" Target="/ppt/notesSlides/notesSlide6.xml" Id="R12c7e867abd64624" /></Relationships>
</file>

<file path=ppt/slides/slide1.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3" name="SCAMSHIELD">
            <a:extLst xmlns:a="http://schemas.openxmlformats.org/drawingml/2006/main">
              <a:ext uri="{FF2B5EF4-FFF2-40B4-BE49-F238E27FC236}">
                <a16:creationId xmlns:a16="http://schemas.microsoft.com/office/drawing/2014/main" id="{777F96A8-B0A9-4B0F-8944-ED034E870E63}"/>
              </a:ext>
            </a:extLst>
          </p:cNvPr>
          <p:cNvSpPr>
            <a:spLocks xmlns:a="http://schemas.openxmlformats.org/drawingml/2006/main" noGrp="1"/>
          </p:cNvSpPr>
          <p:nvPr/>
        </p:nvSpPr>
        <p:spPr>
          <a:xfrm xmlns:a="http://schemas.openxmlformats.org/drawingml/2006/main">
            <a:off x="685800" y="5143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4B"/>
                </a:solidFill>
                <a:latin typeface="Avenir Next"/>
                <a:ea typeface="Avenir Next"/>
                <a:cs typeface="Avenir Next"/>
              </a:defRPr>
            </a:defPPr>
          </a:lstStyle>
          <a:p xmlns:a="http://schemas.openxmlformats.org/drawingml/2006/main">
            <a:pPr algn="l">
              <a:lnSpc>
                <a:spcPct val="106000"/>
              </a:lnSpc>
              <a:buNone/>
              <a:defRPr sz="1125" b="1">
                <a:solidFill>
                  <a:srgbClr val="176B4B"/>
                </a:solidFill>
                <a:latin typeface="Avenir Next"/>
                <a:ea typeface="Avenir Next"/>
                <a:cs typeface="Avenir Next"/>
              </a:defRPr>
            </a:pPr>
            <a:r>
              <a:rPr sz="1125" b="1">
                <a:solidFill>
                  <a:srgbClr val="176B4B"/>
                </a:solidFill>
                <a:latin typeface="Avenir Next"/>
                <a:ea typeface="Avenir Next"/>
                <a:cs typeface="Avenir Next"/>
              </a:rPr>
              <a:t>SCAMSHIELD</a:t>
            </a:r>
          </a:p>
        </p:txBody>
      </p:sp>
      <p:sp>
        <p:nvSpPr>
          <p:cNvPr id="2" name="PAYMENT SAFETY  /  CONCEPT">
            <a:extLst xmlns:a="http://schemas.openxmlformats.org/drawingml/2006/main">
              <a:ext uri="{FF2B5EF4-FFF2-40B4-BE49-F238E27FC236}">
                <a16:creationId xmlns:a16="http://schemas.microsoft.com/office/drawing/2014/main" id="{708E1FE2-F21A-4E21-8334-559074ABF2F6}"/>
              </a:ext>
            </a:extLst>
          </p:cNvPr>
          <p:cNvSpPr>
            <a:spLocks xmlns:a="http://schemas.openxmlformats.org/drawingml/2006/main" noGrp="1"/>
          </p:cNvSpPr>
          <p:nvPr/>
        </p:nvSpPr>
        <p:spPr>
          <a:xfrm xmlns:a="http://schemas.openxmlformats.org/drawingml/2006/main">
            <a:off x="8401050" y="542925"/>
            <a:ext cx="3105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9675F"/>
                </a:solidFill>
                <a:latin typeface="Avenir Next"/>
                <a:ea typeface="Avenir Next"/>
                <a:cs typeface="Avenir Next"/>
              </a:defRPr>
            </a:defPPr>
          </a:lstStyle>
          <a:p xmlns:a="http://schemas.openxmlformats.org/drawingml/2006/main">
            <a:pPr algn="r">
              <a:lnSpc>
                <a:spcPct val="106000"/>
              </a:lnSpc>
              <a:buNone/>
              <a:defRPr sz="900" b="0">
                <a:solidFill>
                  <a:srgbClr val="59675F"/>
                </a:solidFill>
                <a:latin typeface="Avenir Next"/>
                <a:ea typeface="Avenir Next"/>
                <a:cs typeface="Avenir Next"/>
              </a:defRPr>
            </a:pPr>
            <a:r>
              <a:rPr sz="900" b="0">
                <a:solidFill>
                  <a:srgbClr val="59675F"/>
                </a:solidFill>
                <a:latin typeface="Avenir Next"/>
                <a:ea typeface="Avenir Next"/>
                <a:cs typeface="Avenir Next"/>
              </a:rPr>
              <a:t>PAYMENT SAFETY  /  CONCEPT</a:t>
            </a:r>
          </a:p>
        </p:txBody>
      </p:sp>
      <p:sp>
        <p:nvSpPr>
          <p:cNvPr id="3" name="">
            <a:extLst xmlns:a="http://schemas.openxmlformats.org/drawingml/2006/main">
              <a:ext uri="{FF2B5EF4-FFF2-40B4-BE49-F238E27FC236}">
                <a16:creationId xmlns:a16="http://schemas.microsoft.com/office/drawing/2014/main" id="{45BD6BEB-4F45-402F-B898-A2005D6113E1}"/>
              </a:ext>
            </a:extLst>
          </p:cNvPr>
          <p:cNvSpPr>
            <a:spLocks xmlns:a="http://schemas.openxmlformats.org/drawingml/2006/main" noGrp="1"/>
          </p:cNvSpPr>
          <p:nvPr/>
        </p:nvSpPr>
        <p:spPr>
          <a:xfrm xmlns:a="http://schemas.openxmlformats.org/drawingml/2006/main">
            <a:off x="685800" y="90487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4" name="A pause at the&#10;right moment.">
            <a:extLst xmlns:a="http://schemas.openxmlformats.org/drawingml/2006/main">
              <a:ext uri="{FF2B5EF4-FFF2-40B4-BE49-F238E27FC236}">
                <a16:creationId xmlns:a16="http://schemas.microsoft.com/office/drawing/2014/main" id="{1AE1DD4B-F6C0-43B8-AC7A-E0AB4DBF6195}"/>
              </a:ext>
            </a:extLst>
          </p:cNvPr>
          <p:cNvSpPr>
            <a:spLocks xmlns:a="http://schemas.openxmlformats.org/drawingml/2006/main" noGrp="1"/>
          </p:cNvSpPr>
          <p:nvPr/>
        </p:nvSpPr>
        <p:spPr>
          <a:xfrm xmlns:a="http://schemas.openxmlformats.org/drawingml/2006/main">
            <a:off x="685800" y="1476375"/>
            <a:ext cx="65722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172821"/>
                </a:solidFill>
                <a:latin typeface="Avenir Next"/>
                <a:ea typeface="Avenir Next"/>
                <a:cs typeface="Avenir Next"/>
              </a:defRPr>
            </a:defPPr>
          </a:lstStyle>
          <a:p xmlns:a="http://schemas.openxmlformats.org/drawingml/2006/main">
            <a:pPr algn="l">
              <a:lnSpc>
                <a:spcPct val="91000"/>
              </a:lnSpc>
              <a:buNone/>
              <a:defRPr sz="4950" b="1">
                <a:solidFill>
                  <a:srgbClr val="172821"/>
                </a:solidFill>
                <a:latin typeface="Avenir Next"/>
                <a:ea typeface="Avenir Next"/>
                <a:cs typeface="Avenir Next"/>
              </a:defRPr>
            </a:pPr>
            <a:r>
              <a:rPr sz="4950" b="1">
                <a:solidFill>
                  <a:srgbClr val="172821"/>
                </a:solidFill>
                <a:latin typeface="Avenir Next"/>
                <a:ea typeface="Avenir Next"/>
                <a:cs typeface="Avenir Next"/>
              </a:rPr>
              <a:t>A pause at the</a:t>
            </a:r>
          </a:p>
          <a:p xmlns:a="http://schemas.openxmlformats.org/drawingml/2006/main">
            <a:pPr algn="l">
              <a:lnSpc>
                <a:spcPct val="91000"/>
              </a:lnSpc>
              <a:buNone/>
              <a:defRPr sz="4950" b="1">
                <a:solidFill>
                  <a:srgbClr val="172821"/>
                </a:solidFill>
                <a:latin typeface="Avenir Next"/>
                <a:ea typeface="Avenir Next"/>
                <a:cs typeface="Avenir Next"/>
              </a:defRPr>
            </a:pPr>
            <a:r>
              <a:rPr sz="4950" b="1">
                <a:solidFill>
                  <a:srgbClr val="172821"/>
                </a:solidFill>
                <a:latin typeface="Avenir Next"/>
                <a:ea typeface="Avenir Next"/>
                <a:cs typeface="Avenir Next"/>
              </a:rPr>
              <a:t>right moment.</a:t>
            </a:r>
          </a:p>
        </p:txBody>
      </p:sp>
      <p:sp>
        <p:nvSpPr>
          <p:cNvPr id="5" name="Payment risk review for the details that">
            <a:extLst xmlns:a="http://schemas.openxmlformats.org/drawingml/2006/main">
              <a:ext uri="{FF2B5EF4-FFF2-40B4-BE49-F238E27FC236}">
                <a16:creationId xmlns:a16="http://schemas.microsoft.com/office/drawing/2014/main" id="{7E8F26A7-3361-4352-8AD4-63CEEF5C8F94}"/>
              </a:ext>
            </a:extLst>
          </p:cNvPr>
          <p:cNvSpPr>
            <a:spLocks xmlns:a="http://schemas.openxmlformats.org/drawingml/2006/main" noGrp="1"/>
          </p:cNvSpPr>
          <p:nvPr/>
        </p:nvSpPr>
        <p:spPr>
          <a:xfrm xmlns:a="http://schemas.openxmlformats.org/drawingml/2006/main">
            <a:off x="733425" y="3562350"/>
            <a:ext cx="581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9675F"/>
                </a:solidFill>
                <a:latin typeface="Avenir Next"/>
                <a:ea typeface="Avenir Next"/>
                <a:cs typeface="Avenir Next"/>
              </a:defRPr>
            </a:defPPr>
          </a:lstStyle>
          <a:p xmlns:a="http://schemas.openxmlformats.org/drawingml/2006/main">
            <a:pPr algn="l">
              <a:lnSpc>
                <a:spcPct val="115000"/>
              </a:lnSpc>
              <a:buNone/>
              <a:defRPr sz="1800" b="0">
                <a:solidFill>
                  <a:srgbClr val="59675F"/>
                </a:solidFill>
                <a:latin typeface="Avenir Next"/>
                <a:ea typeface="Avenir Next"/>
                <a:cs typeface="Avenir Next"/>
              </a:defRPr>
            </a:pPr>
            <a:r>
              <a:rPr sz="1800" b="0">
                <a:solidFill>
                  <a:srgbClr val="59675F"/>
                </a:solidFill>
                <a:latin typeface="Avenir Next"/>
                <a:ea typeface="Avenir Next"/>
                <a:cs typeface="Avenir Next"/>
              </a:rPr>
              <a:t>Payment risk review for the details that travel</a:t>
            </a:r>
          </a:p>
          <a:p xmlns:a="http://schemas.openxmlformats.org/drawingml/2006/main">
            <a:pPr algn="l">
              <a:lnSpc>
                <a:spcPct val="115000"/>
              </a:lnSpc>
              <a:buNone/>
              <a:defRPr sz="1800" b="0">
                <a:solidFill>
                  <a:srgbClr val="59675F"/>
                </a:solidFill>
                <a:latin typeface="Avenir Next"/>
                <a:ea typeface="Avenir Next"/>
                <a:cs typeface="Avenir Next"/>
              </a:defRPr>
            </a:pPr>
            <a:r>
              <a:rPr sz="1800" b="0">
                <a:solidFill>
                  <a:srgbClr val="59675F"/>
                </a:solidFill>
                <a:latin typeface="Avenir Next"/>
                <a:ea typeface="Avenir Next"/>
                <a:cs typeface="Avenir Next"/>
              </a:rPr>
              <a:t>with a transfer: the message, the recipient, the account.</a:t>
            </a:r>
          </a:p>
        </p:txBody>
      </p:sp>
      <p:sp>
        <p:nvSpPr>
          <p:cNvPr id="6" name="">
            <a:extLst xmlns:a="http://schemas.openxmlformats.org/drawingml/2006/main">
              <a:ext uri="{FF2B5EF4-FFF2-40B4-BE49-F238E27FC236}">
                <a16:creationId xmlns:a16="http://schemas.microsoft.com/office/drawing/2014/main" id="{44C51CA1-29DA-4DA1-95FB-023D30D7FA5D}"/>
              </a:ext>
            </a:extLst>
          </p:cNvPr>
          <p:cNvSpPr>
            <a:spLocks xmlns:a="http://schemas.openxmlformats.org/drawingml/2006/main" noGrp="1"/>
          </p:cNvSpPr>
          <p:nvPr/>
        </p:nvSpPr>
        <p:spPr>
          <a:xfrm xmlns:a="http://schemas.openxmlformats.org/drawingml/2006/main">
            <a:off x="685800" y="4895850"/>
            <a:ext cx="10820400" cy="19050"/>
          </a:xfrm>
          <a:prstGeom xmlns:a="http://schemas.openxmlformats.org/drawingml/2006/main" prst="rect">
            <a:avLst/>
          </a:prstGeom>
          <a:solidFill xmlns:a="http://schemas.openxmlformats.org/drawingml/2006/main">
            <a:srgbClr val="176B4B"/>
          </a:solidFill>
          <a:ln xmlns:a="http://schemas.openxmlformats.org/drawingml/2006/main" w="0">
            <a:noFill/>
            <a:prstDash val="solid"/>
          </a:ln>
        </p:spPr>
      </p:sp>
      <p:sp>
        <p:nvSpPr>
          <p:cNvPr id="7" name="ONE ASSESSMENT ENGINE">
            <a:extLst xmlns:a="http://schemas.openxmlformats.org/drawingml/2006/main">
              <a:ext uri="{FF2B5EF4-FFF2-40B4-BE49-F238E27FC236}">
                <a16:creationId xmlns:a16="http://schemas.microsoft.com/office/drawing/2014/main" id="{8829E328-A6B1-4181-A5E7-DF1A4C32E2F5}"/>
              </a:ext>
            </a:extLst>
          </p:cNvPr>
          <p:cNvSpPr>
            <a:spLocks xmlns:a="http://schemas.openxmlformats.org/drawingml/2006/main" noGrp="1"/>
          </p:cNvSpPr>
          <p:nvPr/>
        </p:nvSpPr>
        <p:spPr>
          <a:xfrm xmlns:a="http://schemas.openxmlformats.org/drawingml/2006/main">
            <a:off x="685800" y="51244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6B4B"/>
                </a:solidFill>
                <a:latin typeface="Avenir Next"/>
                <a:ea typeface="Avenir Next"/>
                <a:cs typeface="Avenir Next"/>
              </a:defRPr>
            </a:defPPr>
          </a:lstStyle>
          <a:p xmlns:a="http://schemas.openxmlformats.org/drawingml/2006/main">
            <a:pPr algn="l">
              <a:lnSpc>
                <a:spcPct val="106000"/>
              </a:lnSpc>
              <a:buNone/>
              <a:defRPr sz="975" b="1">
                <a:solidFill>
                  <a:srgbClr val="176B4B"/>
                </a:solidFill>
                <a:latin typeface="Avenir Next"/>
                <a:ea typeface="Avenir Next"/>
                <a:cs typeface="Avenir Next"/>
              </a:defRPr>
            </a:pPr>
            <a:r>
              <a:rPr sz="975" b="1">
                <a:solidFill>
                  <a:srgbClr val="176B4B"/>
                </a:solidFill>
                <a:latin typeface="Avenir Next"/>
                <a:ea typeface="Avenir Next"/>
                <a:cs typeface="Avenir Next"/>
              </a:rPr>
              <a:t>ONE ASSESSMENT ENGINE</a:t>
            </a:r>
          </a:p>
        </p:txBody>
      </p:sp>
      <p:sp>
        <p:nvSpPr>
          <p:cNvPr id="8" name="Consumer transfer">
            <a:extLst xmlns:a="http://schemas.openxmlformats.org/drawingml/2006/main">
              <a:ext uri="{FF2B5EF4-FFF2-40B4-BE49-F238E27FC236}">
                <a16:creationId xmlns:a16="http://schemas.microsoft.com/office/drawing/2014/main" id="{644074A9-40C2-4728-AB10-2D1F66656B06}"/>
              </a:ext>
            </a:extLst>
          </p:cNvPr>
          <p:cNvSpPr>
            <a:spLocks xmlns:a="http://schemas.openxmlformats.org/drawingml/2006/main" noGrp="1"/>
          </p:cNvSpPr>
          <p:nvPr/>
        </p:nvSpPr>
        <p:spPr>
          <a:xfrm xmlns:a="http://schemas.openxmlformats.org/drawingml/2006/main">
            <a:off x="685800" y="54673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821"/>
                </a:solidFill>
                <a:latin typeface="Avenir Next"/>
                <a:ea typeface="Avenir Next"/>
                <a:cs typeface="Avenir Next"/>
              </a:defRPr>
            </a:defPPr>
          </a:lstStyle>
          <a:p xmlns:a="http://schemas.openxmlformats.org/drawingml/2006/main">
            <a:pPr algn="l">
              <a:lnSpc>
                <a:spcPct val="106000"/>
              </a:lnSpc>
              <a:buNone/>
              <a:defRPr sz="1800" b="1">
                <a:solidFill>
                  <a:srgbClr val="172821"/>
                </a:solidFill>
                <a:latin typeface="Avenir Next"/>
                <a:ea typeface="Avenir Next"/>
                <a:cs typeface="Avenir Next"/>
              </a:defRPr>
            </a:pPr>
            <a:r>
              <a:rPr sz="1800" b="1">
                <a:solidFill>
                  <a:srgbClr val="172821"/>
                </a:solidFill>
                <a:latin typeface="Avenir Next"/>
                <a:ea typeface="Avenir Next"/>
                <a:cs typeface="Avenir Next"/>
              </a:rPr>
              <a:t>Consumer transfer</a:t>
            </a:r>
          </a:p>
        </p:txBody>
      </p:sp>
      <p:sp>
        <p:nvSpPr>
          <p:cNvPr id="9" name="UPI payment with message context">
            <a:extLst xmlns:a="http://schemas.openxmlformats.org/drawingml/2006/main">
              <a:ext uri="{FF2B5EF4-FFF2-40B4-BE49-F238E27FC236}">
                <a16:creationId xmlns:a16="http://schemas.microsoft.com/office/drawing/2014/main" id="{1F5A2D2E-FBBD-4DD3-95BB-1E8353C4CD68}"/>
              </a:ext>
            </a:extLst>
          </p:cNvPr>
          <p:cNvSpPr>
            <a:spLocks xmlns:a="http://schemas.openxmlformats.org/drawingml/2006/main" noGrp="1"/>
          </p:cNvSpPr>
          <p:nvPr/>
        </p:nvSpPr>
        <p:spPr>
          <a:xfrm xmlns:a="http://schemas.openxmlformats.org/drawingml/2006/main">
            <a:off x="685800" y="5829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06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UPI payment with message context</a:t>
            </a:r>
          </a:p>
        </p:txBody>
      </p:sp>
      <p:sp>
        <p:nvSpPr>
          <p:cNvPr id="10" name="Business invoice">
            <a:extLst xmlns:a="http://schemas.openxmlformats.org/drawingml/2006/main">
              <a:ext uri="{FF2B5EF4-FFF2-40B4-BE49-F238E27FC236}">
                <a16:creationId xmlns:a16="http://schemas.microsoft.com/office/drawing/2014/main" id="{5632BA21-4326-485E-B9D6-B5F0B75536A7}"/>
              </a:ext>
            </a:extLst>
          </p:cNvPr>
          <p:cNvSpPr>
            <a:spLocks xmlns:a="http://schemas.openxmlformats.org/drawingml/2006/main" noGrp="1"/>
          </p:cNvSpPr>
          <p:nvPr/>
        </p:nvSpPr>
        <p:spPr>
          <a:xfrm xmlns:a="http://schemas.openxmlformats.org/drawingml/2006/main">
            <a:off x="6276975" y="54673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821"/>
                </a:solidFill>
                <a:latin typeface="Avenir Next"/>
                <a:ea typeface="Avenir Next"/>
                <a:cs typeface="Avenir Next"/>
              </a:defRPr>
            </a:defPPr>
          </a:lstStyle>
          <a:p xmlns:a="http://schemas.openxmlformats.org/drawingml/2006/main">
            <a:pPr algn="l">
              <a:lnSpc>
                <a:spcPct val="106000"/>
              </a:lnSpc>
              <a:buNone/>
              <a:defRPr sz="1800" b="1">
                <a:solidFill>
                  <a:srgbClr val="172821"/>
                </a:solidFill>
                <a:latin typeface="Avenir Next"/>
                <a:ea typeface="Avenir Next"/>
                <a:cs typeface="Avenir Next"/>
              </a:defRPr>
            </a:pPr>
            <a:r>
              <a:rPr sz="1800" b="1">
                <a:solidFill>
                  <a:srgbClr val="172821"/>
                </a:solidFill>
                <a:latin typeface="Avenir Next"/>
                <a:ea typeface="Avenir Next"/>
                <a:cs typeface="Avenir Next"/>
              </a:rPr>
              <a:t>Business invoice</a:t>
            </a:r>
          </a:p>
        </p:txBody>
      </p:sp>
      <p:sp>
        <p:nvSpPr>
          <p:cNvPr id="11" name="Vendor details checked against records">
            <a:extLst xmlns:a="http://schemas.openxmlformats.org/drawingml/2006/main">
              <a:ext uri="{FF2B5EF4-FFF2-40B4-BE49-F238E27FC236}">
                <a16:creationId xmlns:a16="http://schemas.microsoft.com/office/drawing/2014/main" id="{2090736E-C87C-4C1E-992A-B7BD569087A9}"/>
              </a:ext>
            </a:extLst>
          </p:cNvPr>
          <p:cNvSpPr>
            <a:spLocks xmlns:a="http://schemas.openxmlformats.org/drawingml/2006/main" noGrp="1"/>
          </p:cNvSpPr>
          <p:nvPr/>
        </p:nvSpPr>
        <p:spPr>
          <a:xfrm xmlns:a="http://schemas.openxmlformats.org/drawingml/2006/main">
            <a:off x="6276975" y="58293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06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Vendor details checked against records</a:t>
            </a:r>
          </a:p>
        </p:txBody>
      </p:sp>
      <p:sp>
        <p:nvSpPr>
          <p:cNvPr id="12" name="01">
            <a:extLst xmlns:a="http://schemas.openxmlformats.org/drawingml/2006/main">
              <a:ext uri="{FF2B5EF4-FFF2-40B4-BE49-F238E27FC236}">
                <a16:creationId xmlns:a16="http://schemas.microsoft.com/office/drawing/2014/main" id="{D2381C86-08A7-405E-A7DB-E92C1E14AEE9}"/>
              </a:ext>
            </a:extLst>
          </p:cNvPr>
          <p:cNvSpPr>
            <a:spLocks xmlns:a="http://schemas.openxmlformats.org/drawingml/2006/main" noGrp="1"/>
          </p:cNvSpPr>
          <p:nvPr/>
        </p:nvSpPr>
        <p:spPr>
          <a:xfrm xmlns:a="http://schemas.openxmlformats.org/drawingml/2006/main">
            <a:off x="10706100" y="5457825"/>
            <a:ext cx="781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3000" b="1">
                <a:solidFill>
                  <a:srgbClr val="176B4B"/>
                </a:solidFill>
                <a:latin typeface="Avenir Next"/>
                <a:ea typeface="Avenir Next"/>
                <a:cs typeface="Avenir Next"/>
              </a:defRPr>
            </a:defPPr>
          </a:lstStyle>
          <a:p xmlns:a="http://schemas.openxmlformats.org/drawingml/2006/main">
            <a:pPr algn="r">
              <a:lnSpc>
                <a:spcPct val="106000"/>
              </a:lnSpc>
              <a:buNone/>
              <a:defRPr sz="3000" b="1">
                <a:solidFill>
                  <a:srgbClr val="176B4B"/>
                </a:solidFill>
                <a:latin typeface="Avenir Next"/>
                <a:ea typeface="Avenir Next"/>
                <a:cs typeface="Avenir Next"/>
              </a:defRPr>
            </a:pPr>
            <a:r>
              <a:rPr sz="3000" b="1">
                <a:solidFill>
                  <a:srgbClr val="176B4B"/>
                </a:solidFill>
                <a:latin typeface="Avenir Next"/>
                <a:ea typeface="Avenir Next"/>
                <a:cs typeface="Avenir Next"/>
              </a:rPr>
              <a:t>01</a:t>
            </a:r>
          </a:p>
        </p:txBody>
      </p:sp>
    </p:spTree>
    <p:extLst>
      <p:ext uri="{BB962C8B-B14F-4D97-AF65-F5344CB8AC3E}">
        <p14:creationId xmlns:p14="http://schemas.microsoft.com/office/powerpoint/2010/main" val="1533867524"/>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0" name="SCAMSHIELD  /  CONCEPT PITCH">
            <a:extLst xmlns:a="http://schemas.openxmlformats.org/drawingml/2006/main">
              <a:ext uri="{FF2B5EF4-FFF2-40B4-BE49-F238E27FC236}">
                <a16:creationId xmlns:a16="http://schemas.microsoft.com/office/drawing/2014/main" id="{AF5C7156-AA45-43C6-B3B9-83F88EA8F81D}"/>
              </a:ext>
            </a:extLst>
          </p:cNvPr>
          <p:cNvSpPr>
            <a:spLocks xmlns:a="http://schemas.openxmlformats.org/drawingml/2006/main" noGrp="1"/>
          </p:cNvSpPr>
          <p:nvPr/>
        </p:nvSpPr>
        <p:spPr>
          <a:xfrm xmlns:a="http://schemas.openxmlformats.org/drawingml/2006/main">
            <a:off x="685800" y="4095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6B4B"/>
                </a:solidFill>
                <a:latin typeface="Avenir Next"/>
                <a:ea typeface="Avenir Next"/>
                <a:cs typeface="Avenir Next"/>
              </a:defRPr>
            </a:defPPr>
          </a:lstStyle>
          <a:p xmlns:a="http://schemas.openxmlformats.org/drawingml/2006/main">
            <a:pPr algn="l">
              <a:lnSpc>
                <a:spcPct val="106000"/>
              </a:lnSpc>
              <a:buNone/>
              <a:defRPr sz="975" b="1">
                <a:solidFill>
                  <a:srgbClr val="176B4B"/>
                </a:solidFill>
                <a:latin typeface="Avenir Next"/>
                <a:ea typeface="Avenir Next"/>
                <a:cs typeface="Avenir Next"/>
              </a:defRPr>
            </a:pPr>
            <a:r>
              <a:rPr sz="975" b="1">
                <a:solidFill>
                  <a:srgbClr val="176B4B"/>
                </a:solidFill>
                <a:latin typeface="Avenir Next"/>
                <a:ea typeface="Avenir Next"/>
                <a:cs typeface="Avenir Next"/>
              </a:rPr>
              <a:t>SCAMSHIELD  /  CONCEPT PITCH</a:t>
            </a:r>
          </a:p>
        </p:txBody>
      </p:sp>
      <p:sp>
        <p:nvSpPr>
          <p:cNvPr id="2" name="02  /  06">
            <a:extLst xmlns:a="http://schemas.openxmlformats.org/drawingml/2006/main">
              <a:ext uri="{FF2B5EF4-FFF2-40B4-BE49-F238E27FC236}">
                <a16:creationId xmlns:a16="http://schemas.microsoft.com/office/drawing/2014/main" id="{F6E9515B-17D1-4023-BACF-CB788B37629A}"/>
              </a:ext>
            </a:extLst>
          </p:cNvPr>
          <p:cNvSpPr>
            <a:spLocks xmlns:a="http://schemas.openxmlformats.org/drawingml/2006/main" noGrp="1"/>
          </p:cNvSpPr>
          <p:nvPr/>
        </p:nvSpPr>
        <p:spPr>
          <a:xfrm xmlns:a="http://schemas.openxmlformats.org/drawingml/2006/main">
            <a:off x="10572750" y="40957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9675F"/>
                </a:solidFill>
                <a:latin typeface="Avenir Next"/>
                <a:ea typeface="Avenir Next"/>
                <a:cs typeface="Avenir Next"/>
              </a:defRPr>
            </a:defPPr>
          </a:lstStyle>
          <a:p xmlns:a="http://schemas.openxmlformats.org/drawingml/2006/main">
            <a:pPr algn="r">
              <a:lnSpc>
                <a:spcPct val="106000"/>
              </a:lnSpc>
              <a:buNone/>
              <a:defRPr sz="900" b="0">
                <a:solidFill>
                  <a:srgbClr val="59675F"/>
                </a:solidFill>
                <a:latin typeface="Avenir Next"/>
                <a:ea typeface="Avenir Next"/>
                <a:cs typeface="Avenir Next"/>
              </a:defRPr>
            </a:pPr>
            <a:r>
              <a:rPr sz="900" b="0">
                <a:solidFill>
                  <a:srgbClr val="59675F"/>
                </a:solidFill>
                <a:latin typeface="Avenir Next"/>
                <a:ea typeface="Avenir Next"/>
                <a:cs typeface="Avenir Next"/>
              </a:rPr>
              <a:t>02  /  06</a:t>
            </a:r>
          </a:p>
        </p:txBody>
      </p:sp>
      <p:sp>
        <p:nvSpPr>
          <p:cNvPr id="3" name="">
            <a:extLst xmlns:a="http://schemas.openxmlformats.org/drawingml/2006/main">
              <a:ext uri="{FF2B5EF4-FFF2-40B4-BE49-F238E27FC236}">
                <a16:creationId xmlns:a16="http://schemas.microsoft.com/office/drawing/2014/main" id="{B02621B9-68DE-4133-BCFC-BAE828C47963}"/>
              </a:ext>
            </a:extLst>
          </p:cNvPr>
          <p:cNvSpPr>
            <a:spLocks xmlns:a="http://schemas.openxmlformats.org/drawingml/2006/main" noGrp="1"/>
          </p:cNvSpPr>
          <p:nvPr/>
        </p:nvSpPr>
        <p:spPr>
          <a:xfrm xmlns:a="http://schemas.openxmlformats.org/drawingml/2006/main">
            <a:off x="685800" y="71437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4" name="The risky detail often arrives beside th">
            <a:extLst xmlns:a="http://schemas.openxmlformats.org/drawingml/2006/main">
              <a:ext uri="{FF2B5EF4-FFF2-40B4-BE49-F238E27FC236}">
                <a16:creationId xmlns:a16="http://schemas.microsoft.com/office/drawing/2014/main" id="{2F0A054D-870F-4A1E-90FF-1DC2AB6AB686}"/>
              </a:ext>
            </a:extLst>
          </p:cNvPr>
          <p:cNvSpPr>
            <a:spLocks xmlns:a="http://schemas.openxmlformats.org/drawingml/2006/main" noGrp="1"/>
          </p:cNvSpPr>
          <p:nvPr/>
        </p:nvSpPr>
        <p:spPr>
          <a:xfrm xmlns:a="http://schemas.openxmlformats.org/drawingml/2006/main">
            <a:off x="685800" y="990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821"/>
                </a:solidFill>
                <a:latin typeface="Avenir Next"/>
                <a:ea typeface="Avenir Next"/>
                <a:cs typeface="Avenir Next"/>
              </a:defRPr>
            </a:defPPr>
          </a:lstStyle>
          <a:p xmlns:a="http://schemas.openxmlformats.org/drawingml/2006/main">
            <a:pPr algn="l">
              <a:lnSpc>
                <a:spcPct val="98000"/>
              </a:lnSpc>
              <a:buNone/>
              <a:defRPr sz="3000" b="1">
                <a:solidFill>
                  <a:srgbClr val="172821"/>
                </a:solidFill>
                <a:latin typeface="Avenir Next"/>
                <a:ea typeface="Avenir Next"/>
                <a:cs typeface="Avenir Next"/>
              </a:defRPr>
            </a:pPr>
            <a:r>
              <a:rPr sz="3000" b="1">
                <a:solidFill>
                  <a:srgbClr val="172821"/>
                </a:solidFill>
                <a:latin typeface="Avenir Next"/>
                <a:ea typeface="Avenir Next"/>
                <a:cs typeface="Avenir Next"/>
              </a:rPr>
              <a:t>The risky detail often arrives beside the payment</a:t>
            </a:r>
          </a:p>
        </p:txBody>
      </p:sp>
      <p:sp>
        <p:nvSpPr>
          <p:cNvPr id="5" name="Forms capture amount and destination. Co">
            <a:extLst xmlns:a="http://schemas.openxmlformats.org/drawingml/2006/main">
              <a:ext uri="{FF2B5EF4-FFF2-40B4-BE49-F238E27FC236}">
                <a16:creationId xmlns:a16="http://schemas.microsoft.com/office/drawing/2014/main" id="{3EA68F19-406A-4D3B-A1BA-050AEDD8FC50}"/>
              </a:ext>
            </a:extLst>
          </p:cNvPr>
          <p:cNvSpPr>
            <a:spLocks xmlns:a="http://schemas.openxmlformats.org/drawingml/2006/main" noGrp="1"/>
          </p:cNvSpPr>
          <p:nvPr/>
        </p:nvSpPr>
        <p:spPr>
          <a:xfrm xmlns:a="http://schemas.openxmlformats.org/drawingml/2006/main">
            <a:off x="685800" y="1628775"/>
            <a:ext cx="1047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9675F"/>
                </a:solidFill>
                <a:latin typeface="Avenir Next"/>
                <a:ea typeface="Avenir Next"/>
                <a:cs typeface="Avenir Next"/>
              </a:defRPr>
            </a:defPPr>
          </a:lstStyle>
          <a:p xmlns:a="http://schemas.openxmlformats.org/drawingml/2006/main">
            <a:pPr algn="l">
              <a:lnSpc>
                <a:spcPct val="106000"/>
              </a:lnSpc>
              <a:buNone/>
              <a:defRPr sz="1350" b="0">
                <a:solidFill>
                  <a:srgbClr val="59675F"/>
                </a:solidFill>
                <a:latin typeface="Avenir Next"/>
                <a:ea typeface="Avenir Next"/>
                <a:cs typeface="Avenir Next"/>
              </a:defRPr>
            </a:pPr>
            <a:r>
              <a:rPr sz="1350" b="0">
                <a:solidFill>
                  <a:srgbClr val="59675F"/>
                </a:solidFill>
                <a:latin typeface="Avenir Next"/>
                <a:ea typeface="Avenir Next"/>
                <a:cs typeface="Avenir Next"/>
              </a:rPr>
              <a:t>Forms capture amount and destination. Context can change what the same payment means.</a:t>
            </a:r>
          </a:p>
        </p:txBody>
      </p:sp>
      <p:sp>
        <p:nvSpPr>
          <p:cNvPr id="6" name="SYNTHETIC EXAMPLE  /  UPI TRANSFER">
            <a:extLst xmlns:a="http://schemas.openxmlformats.org/drawingml/2006/main">
              <a:ext uri="{FF2B5EF4-FFF2-40B4-BE49-F238E27FC236}">
                <a16:creationId xmlns:a16="http://schemas.microsoft.com/office/drawing/2014/main" id="{06837E78-5CC8-4766-B592-15DA03FA326A}"/>
              </a:ext>
            </a:extLst>
          </p:cNvPr>
          <p:cNvSpPr>
            <a:spLocks xmlns:a="http://schemas.openxmlformats.org/drawingml/2006/main" noGrp="1"/>
          </p:cNvSpPr>
          <p:nvPr/>
        </p:nvSpPr>
        <p:spPr>
          <a:xfrm xmlns:a="http://schemas.openxmlformats.org/drawingml/2006/main">
            <a:off x="685800" y="2324100"/>
            <a:ext cx="3714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E7839"/>
                </a:solidFill>
                <a:latin typeface="Avenir Next"/>
                <a:ea typeface="Avenir Next"/>
                <a:cs typeface="Avenir Next"/>
              </a:defRPr>
            </a:defPPr>
          </a:lstStyle>
          <a:p xmlns:a="http://schemas.openxmlformats.org/drawingml/2006/main">
            <a:pPr algn="l">
              <a:lnSpc>
                <a:spcPct val="106000"/>
              </a:lnSpc>
              <a:buNone/>
              <a:defRPr sz="900" b="1">
                <a:solidFill>
                  <a:srgbClr val="BE7839"/>
                </a:solidFill>
                <a:latin typeface="Avenir Next"/>
                <a:ea typeface="Avenir Next"/>
                <a:cs typeface="Avenir Next"/>
              </a:defRPr>
            </a:pPr>
            <a:r>
              <a:rPr sz="900" b="1">
                <a:solidFill>
                  <a:srgbClr val="BE7839"/>
                </a:solidFill>
                <a:latin typeface="Avenir Next"/>
                <a:ea typeface="Avenir Next"/>
                <a:cs typeface="Avenir Next"/>
              </a:rPr>
              <a:t>SYNTHETIC EXAMPLE  /  UPI TRANSFER</a:t>
            </a:r>
          </a:p>
        </p:txBody>
      </p:sp>
      <p:sp>
        <p:nvSpPr>
          <p:cNvPr id="7" name="₹25,000">
            <a:extLst xmlns:a="http://schemas.openxmlformats.org/drawingml/2006/main">
              <a:ext uri="{FF2B5EF4-FFF2-40B4-BE49-F238E27FC236}">
                <a16:creationId xmlns:a16="http://schemas.microsoft.com/office/drawing/2014/main" id="{03CF7101-0DCA-4F3C-A31B-0CD603F9608B}"/>
              </a:ext>
            </a:extLst>
          </p:cNvPr>
          <p:cNvSpPr>
            <a:spLocks xmlns:a="http://schemas.openxmlformats.org/drawingml/2006/main" noGrp="1"/>
          </p:cNvSpPr>
          <p:nvPr/>
        </p:nvSpPr>
        <p:spPr>
          <a:xfrm xmlns:a="http://schemas.openxmlformats.org/drawingml/2006/main">
            <a:off x="685800" y="2667000"/>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172821"/>
                </a:solidFill>
                <a:latin typeface="Avenir Next"/>
                <a:ea typeface="Avenir Next"/>
                <a:cs typeface="Avenir Next"/>
              </a:defRPr>
            </a:defPPr>
          </a:lstStyle>
          <a:p xmlns:a="http://schemas.openxmlformats.org/drawingml/2006/main">
            <a:pPr algn="l">
              <a:lnSpc>
                <a:spcPct val="106000"/>
              </a:lnSpc>
              <a:buNone/>
              <a:defRPr sz="4050" b="1">
                <a:solidFill>
                  <a:srgbClr val="172821"/>
                </a:solidFill>
                <a:latin typeface="Avenir Next"/>
                <a:ea typeface="Avenir Next"/>
                <a:cs typeface="Avenir Next"/>
              </a:defRPr>
            </a:pPr>
            <a:r>
              <a:rPr sz="4050" b="1">
                <a:solidFill>
                  <a:srgbClr val="172821"/>
                </a:solidFill>
                <a:latin typeface="Avenir Next"/>
                <a:ea typeface="Avenir Next"/>
                <a:cs typeface="Avenir Next"/>
              </a:rPr>
              <a:t>₹25,000</a:t>
            </a:r>
          </a:p>
        </p:txBody>
      </p:sp>
      <p:sp>
        <p:nvSpPr>
          <p:cNvPr id="8" name="New recipient  ·  reserve@upi">
            <a:extLst xmlns:a="http://schemas.openxmlformats.org/drawingml/2006/main">
              <a:ext uri="{FF2B5EF4-FFF2-40B4-BE49-F238E27FC236}">
                <a16:creationId xmlns:a16="http://schemas.microsoft.com/office/drawing/2014/main" id="{62B6C112-85D4-42A0-8213-B1BD166C935F}"/>
              </a:ext>
            </a:extLst>
          </p:cNvPr>
          <p:cNvSpPr>
            <a:spLocks xmlns:a="http://schemas.openxmlformats.org/drawingml/2006/main" noGrp="1"/>
          </p:cNvSpPr>
          <p:nvPr/>
        </p:nvSpPr>
        <p:spPr>
          <a:xfrm xmlns:a="http://schemas.openxmlformats.org/drawingml/2006/main">
            <a:off x="704850" y="3467100"/>
            <a:ext cx="434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9675F"/>
                </a:solidFill>
                <a:latin typeface="Avenir Next"/>
                <a:ea typeface="Avenir Next"/>
                <a:cs typeface="Avenir Next"/>
              </a:defRPr>
            </a:defPPr>
          </a:lstStyle>
          <a:p xmlns:a="http://schemas.openxmlformats.org/drawingml/2006/main">
            <a:pPr algn="l">
              <a:lnSpc>
                <a:spcPct val="106000"/>
              </a:lnSpc>
              <a:buNone/>
              <a:defRPr sz="1500" b="0">
                <a:solidFill>
                  <a:srgbClr val="59675F"/>
                </a:solidFill>
                <a:latin typeface="Avenir Next"/>
                <a:ea typeface="Avenir Next"/>
                <a:cs typeface="Avenir Next"/>
              </a:defRPr>
            </a:pPr>
            <a:r>
              <a:rPr sz="1500" b="0">
                <a:solidFill>
                  <a:srgbClr val="59675F"/>
                </a:solidFill>
                <a:latin typeface="Avenir Next"/>
                <a:ea typeface="Avenir Next"/>
                <a:cs typeface="Avenir Next"/>
              </a:rPr>
              <a:t>New recipient  ·  reserve@upi</a:t>
            </a:r>
          </a:p>
        </p:txBody>
      </p:sp>
      <p:sp>
        <p:nvSpPr>
          <p:cNvPr id="9" name="">
            <a:extLst xmlns:a="http://schemas.openxmlformats.org/drawingml/2006/main">
              <a:ext uri="{FF2B5EF4-FFF2-40B4-BE49-F238E27FC236}">
                <a16:creationId xmlns:a16="http://schemas.microsoft.com/office/drawing/2014/main" id="{FC29F43C-8A2D-49F4-9686-07655726DAF5}"/>
              </a:ext>
            </a:extLst>
          </p:cNvPr>
          <p:cNvSpPr>
            <a:spLocks xmlns:a="http://schemas.openxmlformats.org/drawingml/2006/main" noGrp="1"/>
          </p:cNvSpPr>
          <p:nvPr/>
        </p:nvSpPr>
        <p:spPr>
          <a:xfrm xmlns:a="http://schemas.openxmlformats.org/drawingml/2006/main">
            <a:off x="685800" y="4019550"/>
            <a:ext cx="4429125"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0" name="“Move your money to a safe account now.&#10;">
            <a:extLst xmlns:a="http://schemas.openxmlformats.org/drawingml/2006/main">
              <a:ext uri="{FF2B5EF4-FFF2-40B4-BE49-F238E27FC236}">
                <a16:creationId xmlns:a16="http://schemas.microsoft.com/office/drawing/2014/main" id="{19920273-9774-486D-9C14-5A637F5CDEDD}"/>
              </a:ext>
            </a:extLst>
          </p:cNvPr>
          <p:cNvSpPr>
            <a:spLocks xmlns:a="http://schemas.openxmlformats.org/drawingml/2006/main" noGrp="1"/>
          </p:cNvSpPr>
          <p:nvPr/>
        </p:nvSpPr>
        <p:spPr>
          <a:xfrm xmlns:a="http://schemas.openxmlformats.org/drawingml/2006/main">
            <a:off x="685800" y="4248150"/>
            <a:ext cx="4619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72821"/>
                </a:solidFill>
                <a:latin typeface="Avenir Next"/>
                <a:ea typeface="Avenir Next"/>
                <a:cs typeface="Avenir Next"/>
              </a:defRPr>
            </a:defPPr>
          </a:lstStyle>
          <a:p xmlns:a="http://schemas.openxmlformats.org/drawingml/2006/main">
            <a:pPr algn="l">
              <a:lnSpc>
                <a:spcPct val="113000"/>
              </a:lnSpc>
              <a:buNone/>
              <a:defRPr sz="1875" b="0">
                <a:solidFill>
                  <a:srgbClr val="172821"/>
                </a:solidFill>
                <a:latin typeface="Avenir Next"/>
                <a:ea typeface="Avenir Next"/>
                <a:cs typeface="Avenir Next"/>
              </a:defRPr>
            </a:pPr>
            <a:r>
              <a:rPr sz="1875" b="0">
                <a:solidFill>
                  <a:srgbClr val="172821"/>
                </a:solidFill>
                <a:latin typeface="Avenir Next"/>
                <a:ea typeface="Avenir Next"/>
                <a:cs typeface="Avenir Next"/>
              </a:rPr>
              <a:t>“Move your money to a safe account now.</a:t>
            </a:r>
          </a:p>
          <a:p xmlns:a="http://schemas.openxmlformats.org/drawingml/2006/main">
            <a:pPr algn="l">
              <a:lnSpc>
                <a:spcPct val="113000"/>
              </a:lnSpc>
              <a:buNone/>
              <a:defRPr sz="1875" b="0">
                <a:solidFill>
                  <a:srgbClr val="172821"/>
                </a:solidFill>
                <a:latin typeface="Avenir Next"/>
                <a:ea typeface="Avenir Next"/>
                <a:cs typeface="Avenir Next"/>
              </a:defRPr>
            </a:pPr>
            <a:r>
              <a:rPr sz="1875" b="0">
                <a:solidFill>
                  <a:srgbClr val="172821"/>
                </a:solidFill>
                <a:latin typeface="Avenir Next"/>
                <a:ea typeface="Avenir Next"/>
                <a:cs typeface="Avenir Next"/>
              </a:rPr>
              <a:t>Do not call the bank.”</a:t>
            </a:r>
          </a:p>
        </p:txBody>
      </p:sp>
      <p:sp>
        <p:nvSpPr>
          <p:cNvPr id="11" name="MESSAGE TEXT IS EVIDENCE, NOT AN INSTRUC">
            <a:extLst xmlns:a="http://schemas.openxmlformats.org/drawingml/2006/main">
              <a:ext uri="{FF2B5EF4-FFF2-40B4-BE49-F238E27FC236}">
                <a16:creationId xmlns:a16="http://schemas.microsoft.com/office/drawing/2014/main" id="{C28AC8E0-3E2D-4226-AC5E-F0C757D58600}"/>
              </a:ext>
            </a:extLst>
          </p:cNvPr>
          <p:cNvSpPr>
            <a:spLocks xmlns:a="http://schemas.openxmlformats.org/drawingml/2006/main" noGrp="1"/>
          </p:cNvSpPr>
          <p:nvPr/>
        </p:nvSpPr>
        <p:spPr>
          <a:xfrm xmlns:a="http://schemas.openxmlformats.org/drawingml/2006/main">
            <a:off x="685800" y="5524500"/>
            <a:ext cx="46196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9F4E3B"/>
                </a:solidFill>
                <a:latin typeface="Avenir Next"/>
                <a:ea typeface="Avenir Next"/>
                <a:cs typeface="Avenir Next"/>
              </a:defRPr>
            </a:defPPr>
          </a:lstStyle>
          <a:p xmlns:a="http://schemas.openxmlformats.org/drawingml/2006/main">
            <a:pPr algn="l">
              <a:lnSpc>
                <a:spcPct val="106000"/>
              </a:lnSpc>
              <a:buNone/>
              <a:defRPr sz="825" b="1">
                <a:solidFill>
                  <a:srgbClr val="9F4E3B"/>
                </a:solidFill>
                <a:latin typeface="Avenir Next"/>
                <a:ea typeface="Avenir Next"/>
                <a:cs typeface="Avenir Next"/>
              </a:defRPr>
            </a:pPr>
            <a:r>
              <a:rPr sz="825" b="1">
                <a:solidFill>
                  <a:srgbClr val="9F4E3B"/>
                </a:solidFill>
                <a:latin typeface="Avenir Next"/>
                <a:ea typeface="Avenir Next"/>
                <a:cs typeface="Avenir Next"/>
              </a:rPr>
              <a:t>MESSAGE TEXT IS EVIDENCE, NOT AN INSTRUCTION</a:t>
            </a:r>
          </a:p>
        </p:txBody>
      </p:sp>
      <p:sp>
        <p:nvSpPr>
          <p:cNvPr id="12" name="">
            <a:extLst xmlns:a="http://schemas.openxmlformats.org/drawingml/2006/main">
              <a:ext uri="{FF2B5EF4-FFF2-40B4-BE49-F238E27FC236}">
                <a16:creationId xmlns:a16="http://schemas.microsoft.com/office/drawing/2014/main" id="{B8B0321A-E541-4E74-89E0-3F80315743A1}"/>
              </a:ext>
            </a:extLst>
          </p:cNvPr>
          <p:cNvSpPr>
            <a:spLocks xmlns:a="http://schemas.openxmlformats.org/drawingml/2006/main" noGrp="1"/>
          </p:cNvSpPr>
          <p:nvPr/>
        </p:nvSpPr>
        <p:spPr>
          <a:xfrm xmlns:a="http://schemas.openxmlformats.org/drawingml/2006/main">
            <a:off x="5905500" y="2305050"/>
            <a:ext cx="9525" cy="0"/>
          </a:xfrm>
          <a:prstGeom xmlns:a="http://schemas.openxmlformats.org/drawingml/2006/main" prst="rect">
            <a:avLst/>
          </a:prstGeom>
          <a:ln xmlns:a="http://schemas.openxmlformats.org/drawingml/2006/main" w="0">
            <a:noFill/>
            <a:prstDash val="solid"/>
          </a:ln>
        </p:spPr>
      </p:sp>
      <p:sp>
        <p:nvSpPr>
          <p:cNvPr id="13" name="WHAT THE REVIEW CAN SAY">
            <a:extLst xmlns:a="http://schemas.openxmlformats.org/drawingml/2006/main">
              <a:ext uri="{FF2B5EF4-FFF2-40B4-BE49-F238E27FC236}">
                <a16:creationId xmlns:a16="http://schemas.microsoft.com/office/drawing/2014/main" id="{7F976109-A34D-4841-96BA-00824CC0F738}"/>
              </a:ext>
            </a:extLst>
          </p:cNvPr>
          <p:cNvSpPr>
            <a:spLocks xmlns:a="http://schemas.openxmlformats.org/drawingml/2006/main" noGrp="1"/>
          </p:cNvSpPr>
          <p:nvPr/>
        </p:nvSpPr>
        <p:spPr>
          <a:xfrm xmlns:a="http://schemas.openxmlformats.org/drawingml/2006/main">
            <a:off x="6486525" y="2381250"/>
            <a:ext cx="4191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6B4B"/>
                </a:solidFill>
                <a:latin typeface="Avenir Next"/>
                <a:ea typeface="Avenir Next"/>
                <a:cs typeface="Avenir Next"/>
              </a:defRPr>
            </a:defPPr>
          </a:lstStyle>
          <a:p xmlns:a="http://schemas.openxmlformats.org/drawingml/2006/main">
            <a:pPr algn="l">
              <a:lnSpc>
                <a:spcPct val="106000"/>
              </a:lnSpc>
              <a:buNone/>
              <a:defRPr sz="900" b="1">
                <a:solidFill>
                  <a:srgbClr val="176B4B"/>
                </a:solidFill>
                <a:latin typeface="Avenir Next"/>
                <a:ea typeface="Avenir Next"/>
                <a:cs typeface="Avenir Next"/>
              </a:defRPr>
            </a:pPr>
            <a:r>
              <a:rPr sz="900" b="1">
                <a:solidFill>
                  <a:srgbClr val="176B4B"/>
                </a:solidFill>
                <a:latin typeface="Avenir Next"/>
                <a:ea typeface="Avenir Next"/>
                <a:cs typeface="Avenir Next"/>
              </a:rPr>
              <a:t>WHAT THE REVIEW CAN SAY</a:t>
            </a:r>
          </a:p>
        </p:txBody>
      </p:sp>
      <p:sp>
        <p:nvSpPr>
          <p:cNvPr id="14" name="Review the request&#10;before proceeding.">
            <a:extLst xmlns:a="http://schemas.openxmlformats.org/drawingml/2006/main">
              <a:ext uri="{FF2B5EF4-FFF2-40B4-BE49-F238E27FC236}">
                <a16:creationId xmlns:a16="http://schemas.microsoft.com/office/drawing/2014/main" id="{734BDDB8-0769-43E7-AE9F-389F2522DDF9}"/>
              </a:ext>
            </a:extLst>
          </p:cNvPr>
          <p:cNvSpPr>
            <a:spLocks xmlns:a="http://schemas.openxmlformats.org/drawingml/2006/main" noGrp="1"/>
          </p:cNvSpPr>
          <p:nvPr/>
        </p:nvSpPr>
        <p:spPr>
          <a:xfrm xmlns:a="http://schemas.openxmlformats.org/drawingml/2006/main">
            <a:off x="6486525" y="2771775"/>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72821"/>
                </a:solidFill>
                <a:latin typeface="Avenir Next"/>
                <a:ea typeface="Avenir Next"/>
                <a:cs typeface="Avenir Next"/>
              </a:defRPr>
            </a:defPPr>
          </a:lstStyle>
          <a:p xmlns:a="http://schemas.openxmlformats.org/drawingml/2006/main">
            <a:pPr algn="l">
              <a:lnSpc>
                <a:spcPct val="102000"/>
              </a:lnSpc>
              <a:buNone/>
              <a:defRPr sz="2625" b="1">
                <a:solidFill>
                  <a:srgbClr val="172821"/>
                </a:solidFill>
                <a:latin typeface="Avenir Next"/>
                <a:ea typeface="Avenir Next"/>
                <a:cs typeface="Avenir Next"/>
              </a:defRPr>
            </a:pPr>
            <a:r>
              <a:rPr sz="2625" b="1">
                <a:solidFill>
                  <a:srgbClr val="172821"/>
                </a:solidFill>
                <a:latin typeface="Avenir Next"/>
                <a:ea typeface="Avenir Next"/>
                <a:cs typeface="Avenir Next"/>
              </a:rPr>
              <a:t>Review the request</a:t>
            </a:r>
          </a:p>
          <a:p xmlns:a="http://schemas.openxmlformats.org/drawingml/2006/main">
            <a:pPr algn="l">
              <a:lnSpc>
                <a:spcPct val="102000"/>
              </a:lnSpc>
              <a:buNone/>
              <a:defRPr sz="2625" b="1">
                <a:solidFill>
                  <a:srgbClr val="172821"/>
                </a:solidFill>
                <a:latin typeface="Avenir Next"/>
                <a:ea typeface="Avenir Next"/>
                <a:cs typeface="Avenir Next"/>
              </a:defRPr>
            </a:pPr>
            <a:r>
              <a:rPr sz="2625" b="1">
                <a:solidFill>
                  <a:srgbClr val="172821"/>
                </a:solidFill>
                <a:latin typeface="Avenir Next"/>
                <a:ea typeface="Avenir Next"/>
                <a:cs typeface="Avenir Next"/>
              </a:rPr>
              <a:t>before proceeding.</a:t>
            </a:r>
          </a:p>
        </p:txBody>
      </p:sp>
      <p:sp>
        <p:nvSpPr>
          <p:cNvPr id="15" name="Recorded signals">
            <a:extLst xmlns:a="http://schemas.openxmlformats.org/drawingml/2006/main">
              <a:ext uri="{FF2B5EF4-FFF2-40B4-BE49-F238E27FC236}">
                <a16:creationId xmlns:a16="http://schemas.microsoft.com/office/drawing/2014/main" id="{6EE2F340-4696-4EC7-8B6C-92F052D2F809}"/>
              </a:ext>
            </a:extLst>
          </p:cNvPr>
          <p:cNvSpPr>
            <a:spLocks xmlns:a="http://schemas.openxmlformats.org/drawingml/2006/main" noGrp="1"/>
          </p:cNvSpPr>
          <p:nvPr/>
        </p:nvSpPr>
        <p:spPr>
          <a:xfrm xmlns:a="http://schemas.openxmlformats.org/drawingml/2006/main">
            <a:off x="6486525" y="4038600"/>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76B4B"/>
                </a:solidFill>
                <a:latin typeface="Avenir Next"/>
                <a:ea typeface="Avenir Next"/>
                <a:cs typeface="Avenir Next"/>
              </a:defRPr>
            </a:defPPr>
          </a:lstStyle>
          <a:p xmlns:a="http://schemas.openxmlformats.org/drawingml/2006/main">
            <a:pPr algn="l">
              <a:lnSpc>
                <a:spcPct val="106000"/>
              </a:lnSpc>
              <a:buNone/>
              <a:defRPr sz="1200" b="1">
                <a:solidFill>
                  <a:srgbClr val="176B4B"/>
                </a:solidFill>
                <a:latin typeface="Avenir Next"/>
                <a:ea typeface="Avenir Next"/>
                <a:cs typeface="Avenir Next"/>
              </a:defRPr>
            </a:pPr>
            <a:r>
              <a:rPr sz="1200" b="1">
                <a:solidFill>
                  <a:srgbClr val="176B4B"/>
                </a:solidFill>
                <a:latin typeface="Avenir Next"/>
                <a:ea typeface="Avenir Next"/>
                <a:cs typeface="Avenir Next"/>
              </a:rPr>
              <a:t>Recorded signals</a:t>
            </a:r>
          </a:p>
        </p:txBody>
      </p:sp>
      <p:sp>
        <p:nvSpPr>
          <p:cNvPr id="16" name="New recipient&#10;Safe-account language&#10;Requ">
            <a:extLst xmlns:a="http://schemas.openxmlformats.org/drawingml/2006/main">
              <a:ext uri="{FF2B5EF4-FFF2-40B4-BE49-F238E27FC236}">
                <a16:creationId xmlns:a16="http://schemas.microsoft.com/office/drawing/2014/main" id="{03A46B3E-5C6F-4D8E-984B-C7CD5B69A49B}"/>
              </a:ext>
            </a:extLst>
          </p:cNvPr>
          <p:cNvSpPr>
            <a:spLocks xmlns:a="http://schemas.openxmlformats.org/drawingml/2006/main" noGrp="1"/>
          </p:cNvSpPr>
          <p:nvPr/>
        </p:nvSpPr>
        <p:spPr>
          <a:xfrm xmlns:a="http://schemas.openxmlformats.org/drawingml/2006/main">
            <a:off x="6486525" y="4371975"/>
            <a:ext cx="47148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72821"/>
                </a:solidFill>
                <a:latin typeface="Avenir Next"/>
                <a:ea typeface="Avenir Next"/>
                <a:cs typeface="Avenir Next"/>
              </a:defRPr>
            </a:defPPr>
          </a:lstStyle>
          <a:p xmlns:a="http://schemas.openxmlformats.org/drawingml/2006/main">
            <a:pPr algn="l">
              <a:lnSpc>
                <a:spcPct val="128000"/>
              </a:lnSpc>
              <a:buNone/>
              <a:defRPr sz="1500" b="0">
                <a:solidFill>
                  <a:srgbClr val="172821"/>
                </a:solidFill>
                <a:latin typeface="Avenir Next"/>
                <a:ea typeface="Avenir Next"/>
                <a:cs typeface="Avenir Next"/>
              </a:defRPr>
            </a:pPr>
            <a:r>
              <a:rPr sz="1500" b="0">
                <a:solidFill>
                  <a:srgbClr val="172821"/>
                </a:solidFill>
                <a:latin typeface="Avenir Next"/>
                <a:ea typeface="Avenir Next"/>
                <a:cs typeface="Avenir Next"/>
              </a:rPr>
              <a:t>New recipient</a:t>
            </a:r>
          </a:p>
          <a:p xmlns:a="http://schemas.openxmlformats.org/drawingml/2006/main">
            <a:pPr algn="l">
              <a:lnSpc>
                <a:spcPct val="128000"/>
              </a:lnSpc>
              <a:buNone/>
              <a:defRPr sz="1500" b="0">
                <a:solidFill>
                  <a:srgbClr val="172821"/>
                </a:solidFill>
                <a:latin typeface="Avenir Next"/>
                <a:ea typeface="Avenir Next"/>
                <a:cs typeface="Avenir Next"/>
              </a:defRPr>
            </a:pPr>
            <a:r>
              <a:rPr sz="1500" b="0">
                <a:solidFill>
                  <a:srgbClr val="172821"/>
                </a:solidFill>
                <a:latin typeface="Avenir Next"/>
                <a:ea typeface="Avenir Next"/>
                <a:cs typeface="Avenir Next"/>
              </a:rPr>
              <a:t>Safe-account language</a:t>
            </a:r>
          </a:p>
          <a:p xmlns:a="http://schemas.openxmlformats.org/drawingml/2006/main">
            <a:pPr algn="l">
              <a:lnSpc>
                <a:spcPct val="128000"/>
              </a:lnSpc>
              <a:buNone/>
              <a:defRPr sz="1500" b="0">
                <a:solidFill>
                  <a:srgbClr val="172821"/>
                </a:solidFill>
                <a:latin typeface="Avenir Next"/>
                <a:ea typeface="Avenir Next"/>
                <a:cs typeface="Avenir Next"/>
              </a:defRPr>
            </a:pPr>
            <a:r>
              <a:rPr sz="1500" b="0">
                <a:solidFill>
                  <a:srgbClr val="172821"/>
                </a:solidFill>
                <a:latin typeface="Avenir Next"/>
                <a:ea typeface="Avenir Next"/>
                <a:cs typeface="Avenir Next"/>
              </a:rPr>
              <a:t>Request to avoid verification</a:t>
            </a:r>
          </a:p>
        </p:txBody>
      </p:sp>
      <p:sp>
        <p:nvSpPr>
          <p:cNvPr id="17" name="A recommendation follows configured poli">
            <a:extLst xmlns:a="http://schemas.openxmlformats.org/drawingml/2006/main">
              <a:ext uri="{FF2B5EF4-FFF2-40B4-BE49-F238E27FC236}">
                <a16:creationId xmlns:a16="http://schemas.microsoft.com/office/drawing/2014/main" id="{D9730E84-B4F2-4C88-878B-022F84D5E4C9}"/>
              </a:ext>
            </a:extLst>
          </p:cNvPr>
          <p:cNvSpPr>
            <a:spLocks xmlns:a="http://schemas.openxmlformats.org/drawingml/2006/main" noGrp="1"/>
          </p:cNvSpPr>
          <p:nvPr/>
        </p:nvSpPr>
        <p:spPr>
          <a:xfrm xmlns:a="http://schemas.openxmlformats.org/drawingml/2006/main">
            <a:off x="6486525" y="55435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9675F"/>
                </a:solidFill>
                <a:latin typeface="Avenir Next"/>
                <a:ea typeface="Avenir Next"/>
                <a:cs typeface="Avenir Next"/>
              </a:defRPr>
            </a:defPPr>
          </a:lstStyle>
          <a:p xmlns:a="http://schemas.openxmlformats.org/drawingml/2006/main">
            <a:pPr algn="l">
              <a:lnSpc>
                <a:spcPct val="106000"/>
              </a:lnSpc>
              <a:buNone/>
              <a:defRPr sz="1050" b="0">
                <a:solidFill>
                  <a:srgbClr val="59675F"/>
                </a:solidFill>
                <a:latin typeface="Avenir Next"/>
                <a:ea typeface="Avenir Next"/>
                <a:cs typeface="Avenir Next"/>
              </a:defRPr>
            </a:pPr>
            <a:r>
              <a:rPr sz="1050" b="0">
                <a:solidFill>
                  <a:srgbClr val="59675F"/>
                </a:solidFill>
                <a:latin typeface="Avenir Next"/>
                <a:ea typeface="Avenir Next"/>
                <a:cs typeface="Avenir Next"/>
              </a:rPr>
              <a:t>A recommendation follows configured policy. It is not a fraud verdict.</a:t>
            </a:r>
          </a:p>
        </p:txBody>
      </p:sp>
      <p:sp>
        <p:nvSpPr>
          <p:cNvPr id="18" name="">
            <a:extLst xmlns:a="http://schemas.openxmlformats.org/drawingml/2006/main">
              <a:ext uri="{FF2B5EF4-FFF2-40B4-BE49-F238E27FC236}">
                <a16:creationId xmlns:a16="http://schemas.microsoft.com/office/drawing/2014/main" id="{AFA21D0C-E83F-4583-89C8-687D103B50BC}"/>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9" name="Synthetic demonstration concept  /  No p">
            <a:extLst xmlns:a="http://schemas.openxmlformats.org/drawingml/2006/main">
              <a:ext uri="{FF2B5EF4-FFF2-40B4-BE49-F238E27FC236}">
                <a16:creationId xmlns:a16="http://schemas.microsoft.com/office/drawing/2014/main" id="{30906352-388E-45A6-AC68-D86DF59333AB}"/>
              </a:ext>
            </a:extLst>
          </p:cNvPr>
          <p:cNvSpPr>
            <a:spLocks xmlns:a="http://schemas.openxmlformats.org/drawingml/2006/main" noGrp="1"/>
          </p:cNvSpPr>
          <p:nvPr/>
        </p:nvSpPr>
        <p:spPr>
          <a:xfrm xmlns:a="http://schemas.openxmlformats.org/drawingml/2006/main">
            <a:off x="685800" y="6467475"/>
            <a:ext cx="10820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9675F"/>
                </a:solidFill>
                <a:latin typeface="Avenir Next"/>
                <a:ea typeface="Avenir Next"/>
                <a:cs typeface="Avenir Next"/>
              </a:defRPr>
            </a:defPPr>
          </a:lstStyle>
          <a:p xmlns:a="http://schemas.openxmlformats.org/drawingml/2006/main">
            <a:pPr algn="l">
              <a:lnSpc>
                <a:spcPct val="106000"/>
              </a:lnSpc>
              <a:buNone/>
              <a:defRPr sz="825" b="0">
                <a:solidFill>
                  <a:srgbClr val="59675F"/>
                </a:solidFill>
                <a:latin typeface="Avenir Next"/>
                <a:ea typeface="Avenir Next"/>
                <a:cs typeface="Avenir Next"/>
              </a:defRPr>
            </a:pPr>
            <a:r>
              <a:rPr sz="825" b="0">
                <a:solidFill>
                  <a:srgbClr val="59675F"/>
                </a:solidFill>
                <a:latin typeface="Avenir Next"/>
                <a:ea typeface="Avenir Next"/>
                <a:cs typeface="Avenir Next"/>
              </a:rPr>
              <a:t>Synthetic demonstration concept  /  No payment execution</a:t>
            </a:r>
          </a:p>
        </p:txBody>
      </p:sp>
    </p:spTree>
    <p:extLst>
      <p:ext uri="{BB962C8B-B14F-4D97-AF65-F5344CB8AC3E}">
        <p14:creationId xmlns:p14="http://schemas.microsoft.com/office/powerpoint/2010/main" val="1714981512"/>
      </p:ext>
    </p:extLst>
  </p:cSld>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8" name="SCAMSHIELD  /  CONCEPT PITCH">
            <a:extLst xmlns:a="http://schemas.openxmlformats.org/drawingml/2006/main">
              <a:ext uri="{FF2B5EF4-FFF2-40B4-BE49-F238E27FC236}">
                <a16:creationId xmlns:a16="http://schemas.microsoft.com/office/drawing/2014/main" id="{8F661560-03A0-4DE9-97C1-CDA9159AB9AB}"/>
              </a:ext>
            </a:extLst>
          </p:cNvPr>
          <p:cNvSpPr>
            <a:spLocks xmlns:a="http://schemas.openxmlformats.org/drawingml/2006/main" noGrp="1"/>
          </p:cNvSpPr>
          <p:nvPr/>
        </p:nvSpPr>
        <p:spPr>
          <a:xfrm xmlns:a="http://schemas.openxmlformats.org/drawingml/2006/main">
            <a:off x="685800" y="4095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6B4B"/>
                </a:solidFill>
                <a:latin typeface="Avenir Next"/>
                <a:ea typeface="Avenir Next"/>
                <a:cs typeface="Avenir Next"/>
              </a:defRPr>
            </a:defPPr>
          </a:lstStyle>
          <a:p xmlns:a="http://schemas.openxmlformats.org/drawingml/2006/main">
            <a:pPr algn="l">
              <a:lnSpc>
                <a:spcPct val="106000"/>
              </a:lnSpc>
              <a:buNone/>
              <a:defRPr sz="975" b="1">
                <a:solidFill>
                  <a:srgbClr val="176B4B"/>
                </a:solidFill>
                <a:latin typeface="Avenir Next"/>
                <a:ea typeface="Avenir Next"/>
                <a:cs typeface="Avenir Next"/>
              </a:defRPr>
            </a:pPr>
            <a:r>
              <a:rPr sz="975" b="1">
                <a:solidFill>
                  <a:srgbClr val="176B4B"/>
                </a:solidFill>
                <a:latin typeface="Avenir Next"/>
                <a:ea typeface="Avenir Next"/>
                <a:cs typeface="Avenir Next"/>
              </a:rPr>
              <a:t>SCAMSHIELD  /  CONCEPT PITCH</a:t>
            </a:r>
          </a:p>
        </p:txBody>
      </p:sp>
      <p:sp>
        <p:nvSpPr>
          <p:cNvPr id="2" name="03  /  06">
            <a:extLst xmlns:a="http://schemas.openxmlformats.org/drawingml/2006/main">
              <a:ext uri="{FF2B5EF4-FFF2-40B4-BE49-F238E27FC236}">
                <a16:creationId xmlns:a16="http://schemas.microsoft.com/office/drawing/2014/main" id="{D664BD4D-2490-4B37-8276-1F7CC8E0ABAC}"/>
              </a:ext>
            </a:extLst>
          </p:cNvPr>
          <p:cNvSpPr>
            <a:spLocks xmlns:a="http://schemas.openxmlformats.org/drawingml/2006/main" noGrp="1"/>
          </p:cNvSpPr>
          <p:nvPr/>
        </p:nvSpPr>
        <p:spPr>
          <a:xfrm xmlns:a="http://schemas.openxmlformats.org/drawingml/2006/main">
            <a:off x="10572750" y="40957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9675F"/>
                </a:solidFill>
                <a:latin typeface="Avenir Next"/>
                <a:ea typeface="Avenir Next"/>
                <a:cs typeface="Avenir Next"/>
              </a:defRPr>
            </a:defPPr>
          </a:lstStyle>
          <a:p xmlns:a="http://schemas.openxmlformats.org/drawingml/2006/main">
            <a:pPr algn="r">
              <a:lnSpc>
                <a:spcPct val="106000"/>
              </a:lnSpc>
              <a:buNone/>
              <a:defRPr sz="900" b="0">
                <a:solidFill>
                  <a:srgbClr val="59675F"/>
                </a:solidFill>
                <a:latin typeface="Avenir Next"/>
                <a:ea typeface="Avenir Next"/>
                <a:cs typeface="Avenir Next"/>
              </a:defRPr>
            </a:pPr>
            <a:r>
              <a:rPr sz="900" b="0">
                <a:solidFill>
                  <a:srgbClr val="59675F"/>
                </a:solidFill>
                <a:latin typeface="Avenir Next"/>
                <a:ea typeface="Avenir Next"/>
                <a:cs typeface="Avenir Next"/>
              </a:rPr>
              <a:t>03  /  06</a:t>
            </a:r>
          </a:p>
        </p:txBody>
      </p:sp>
      <p:sp>
        <p:nvSpPr>
          <p:cNvPr id="3" name="">
            <a:extLst xmlns:a="http://schemas.openxmlformats.org/drawingml/2006/main">
              <a:ext uri="{FF2B5EF4-FFF2-40B4-BE49-F238E27FC236}">
                <a16:creationId xmlns:a16="http://schemas.microsoft.com/office/drawing/2014/main" id="{DABC25C2-EE5B-436B-86F1-A7687E972320}"/>
              </a:ext>
            </a:extLst>
          </p:cNvPr>
          <p:cNvSpPr>
            <a:spLocks xmlns:a="http://schemas.openxmlformats.org/drawingml/2006/main" noGrp="1"/>
          </p:cNvSpPr>
          <p:nvPr/>
        </p:nvSpPr>
        <p:spPr>
          <a:xfrm xmlns:a="http://schemas.openxmlformats.org/drawingml/2006/main">
            <a:off x="685800" y="71437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4" name="Two payment paths share one decision eng">
            <a:extLst xmlns:a="http://schemas.openxmlformats.org/drawingml/2006/main">
              <a:ext uri="{FF2B5EF4-FFF2-40B4-BE49-F238E27FC236}">
                <a16:creationId xmlns:a16="http://schemas.microsoft.com/office/drawing/2014/main" id="{AC3D9353-F263-4D2D-B807-8697E2B6B93D}"/>
              </a:ext>
            </a:extLst>
          </p:cNvPr>
          <p:cNvSpPr>
            <a:spLocks xmlns:a="http://schemas.openxmlformats.org/drawingml/2006/main" noGrp="1"/>
          </p:cNvSpPr>
          <p:nvPr/>
        </p:nvSpPr>
        <p:spPr>
          <a:xfrm xmlns:a="http://schemas.openxmlformats.org/drawingml/2006/main">
            <a:off x="685800" y="990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821"/>
                </a:solidFill>
                <a:latin typeface="Avenir Next"/>
                <a:ea typeface="Avenir Next"/>
                <a:cs typeface="Avenir Next"/>
              </a:defRPr>
            </a:defPPr>
          </a:lstStyle>
          <a:p xmlns:a="http://schemas.openxmlformats.org/drawingml/2006/main">
            <a:pPr algn="l">
              <a:lnSpc>
                <a:spcPct val="98000"/>
              </a:lnSpc>
              <a:buNone/>
              <a:defRPr sz="3000" b="1">
                <a:solidFill>
                  <a:srgbClr val="172821"/>
                </a:solidFill>
                <a:latin typeface="Avenir Next"/>
                <a:ea typeface="Avenir Next"/>
                <a:cs typeface="Avenir Next"/>
              </a:defRPr>
            </a:pPr>
            <a:r>
              <a:rPr sz="3000" b="1">
                <a:solidFill>
                  <a:srgbClr val="172821"/>
                </a:solidFill>
                <a:latin typeface="Avenir Next"/>
                <a:ea typeface="Avenir Next"/>
                <a:cs typeface="Avenir Next"/>
              </a:rPr>
              <a:t>Two payment paths share one decision engine</a:t>
            </a:r>
          </a:p>
        </p:txBody>
      </p:sp>
      <p:sp>
        <p:nvSpPr>
          <p:cNvPr id="5" name="Adapters retain the details each workflo">
            <a:extLst xmlns:a="http://schemas.openxmlformats.org/drawingml/2006/main">
              <a:ext uri="{FF2B5EF4-FFF2-40B4-BE49-F238E27FC236}">
                <a16:creationId xmlns:a16="http://schemas.microsoft.com/office/drawing/2014/main" id="{8AE0CFAD-6F4E-4B2D-8CA7-FD269740F53C}"/>
              </a:ext>
            </a:extLst>
          </p:cNvPr>
          <p:cNvSpPr>
            <a:spLocks xmlns:a="http://schemas.openxmlformats.org/drawingml/2006/main" noGrp="1"/>
          </p:cNvSpPr>
          <p:nvPr/>
        </p:nvSpPr>
        <p:spPr>
          <a:xfrm xmlns:a="http://schemas.openxmlformats.org/drawingml/2006/main">
            <a:off x="685800" y="1628775"/>
            <a:ext cx="1047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9675F"/>
                </a:solidFill>
                <a:latin typeface="Avenir Next"/>
                <a:ea typeface="Avenir Next"/>
                <a:cs typeface="Avenir Next"/>
              </a:defRPr>
            </a:defPPr>
          </a:lstStyle>
          <a:p xmlns:a="http://schemas.openxmlformats.org/drawingml/2006/main">
            <a:pPr algn="l">
              <a:lnSpc>
                <a:spcPct val="106000"/>
              </a:lnSpc>
              <a:buNone/>
              <a:defRPr sz="1350" b="0">
                <a:solidFill>
                  <a:srgbClr val="59675F"/>
                </a:solidFill>
                <a:latin typeface="Avenir Next"/>
                <a:ea typeface="Avenir Next"/>
                <a:cs typeface="Avenir Next"/>
              </a:defRPr>
            </a:pPr>
            <a:r>
              <a:rPr sz="1350" b="0">
                <a:solidFill>
                  <a:srgbClr val="59675F"/>
                </a:solidFill>
                <a:latin typeface="Avenir Next"/>
                <a:ea typeface="Avenir Next"/>
                <a:cs typeface="Avenir Next"/>
              </a:rPr>
              <a:t>Adapters retain the details each workflow needs, then normalize into a common assessment.</a:t>
            </a:r>
          </a:p>
        </p:txBody>
      </p:sp>
      <p:sp>
        <p:nvSpPr>
          <p:cNvPr id="6" name="01">
            <a:extLst xmlns:a="http://schemas.openxmlformats.org/drawingml/2006/main">
              <a:ext uri="{FF2B5EF4-FFF2-40B4-BE49-F238E27FC236}">
                <a16:creationId xmlns:a16="http://schemas.microsoft.com/office/drawing/2014/main" id="{DB4957EF-5ADA-4DD9-9777-2FC9506FB25B}"/>
              </a:ext>
            </a:extLst>
          </p:cNvPr>
          <p:cNvSpPr>
            <a:spLocks xmlns:a="http://schemas.openxmlformats.org/drawingml/2006/main" noGrp="1"/>
          </p:cNvSpPr>
          <p:nvPr/>
        </p:nvSpPr>
        <p:spPr>
          <a:xfrm xmlns:a="http://schemas.openxmlformats.org/drawingml/2006/main">
            <a:off x="685800" y="2333625"/>
            <a:ext cx="552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6B4B"/>
                </a:solidFill>
                <a:latin typeface="Avenir Next"/>
                <a:ea typeface="Avenir Next"/>
                <a:cs typeface="Avenir Next"/>
              </a:defRPr>
            </a:defPPr>
          </a:lstStyle>
          <a:p xmlns:a="http://schemas.openxmlformats.org/drawingml/2006/main">
            <a:pPr algn="l">
              <a:lnSpc>
                <a:spcPct val="106000"/>
              </a:lnSpc>
              <a:buNone/>
              <a:defRPr sz="2100" b="1">
                <a:solidFill>
                  <a:srgbClr val="176B4B"/>
                </a:solidFill>
                <a:latin typeface="Avenir Next"/>
                <a:ea typeface="Avenir Next"/>
                <a:cs typeface="Avenir Next"/>
              </a:defRPr>
            </a:pPr>
            <a:r>
              <a:rPr sz="2100" b="1">
                <a:solidFill>
                  <a:srgbClr val="176B4B"/>
                </a:solidFill>
                <a:latin typeface="Avenir Next"/>
                <a:ea typeface="Avenir Next"/>
                <a:cs typeface="Avenir Next"/>
              </a:rPr>
              <a:t>01</a:t>
            </a:r>
          </a:p>
        </p:txBody>
      </p:sp>
      <p:sp>
        <p:nvSpPr>
          <p:cNvPr id="7" name="Consumer transfer">
            <a:extLst xmlns:a="http://schemas.openxmlformats.org/drawingml/2006/main">
              <a:ext uri="{FF2B5EF4-FFF2-40B4-BE49-F238E27FC236}">
                <a16:creationId xmlns:a16="http://schemas.microsoft.com/office/drawing/2014/main" id="{DF41B7AF-20F9-4804-BED1-1DA3C468D5B2}"/>
              </a:ext>
            </a:extLst>
          </p:cNvPr>
          <p:cNvSpPr>
            <a:spLocks xmlns:a="http://schemas.openxmlformats.org/drawingml/2006/main" noGrp="1"/>
          </p:cNvSpPr>
          <p:nvPr/>
        </p:nvSpPr>
        <p:spPr>
          <a:xfrm xmlns:a="http://schemas.openxmlformats.org/drawingml/2006/main">
            <a:off x="1438275" y="2343150"/>
            <a:ext cx="3429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821"/>
                </a:solidFill>
                <a:latin typeface="Avenir Next"/>
                <a:ea typeface="Avenir Next"/>
                <a:cs typeface="Avenir Next"/>
              </a:defRPr>
            </a:defPPr>
          </a:lstStyle>
          <a:p xmlns:a="http://schemas.openxmlformats.org/drawingml/2006/main">
            <a:pPr algn="l">
              <a:lnSpc>
                <a:spcPct val="106000"/>
              </a:lnSpc>
              <a:buNone/>
              <a:defRPr sz="1800" b="1">
                <a:solidFill>
                  <a:srgbClr val="172821"/>
                </a:solidFill>
                <a:latin typeface="Avenir Next"/>
                <a:ea typeface="Avenir Next"/>
                <a:cs typeface="Avenir Next"/>
              </a:defRPr>
            </a:pPr>
            <a:r>
              <a:rPr sz="1800" b="1">
                <a:solidFill>
                  <a:srgbClr val="172821"/>
                </a:solidFill>
                <a:latin typeface="Avenir Next"/>
                <a:ea typeface="Avenir Next"/>
                <a:cs typeface="Avenir Next"/>
              </a:rPr>
              <a:t>Consumer transfer</a:t>
            </a:r>
          </a:p>
        </p:txBody>
      </p:sp>
      <p:sp>
        <p:nvSpPr>
          <p:cNvPr id="8" name="Capture amount, UPI recipient and option">
            <a:extLst xmlns:a="http://schemas.openxmlformats.org/drawingml/2006/main">
              <a:ext uri="{FF2B5EF4-FFF2-40B4-BE49-F238E27FC236}">
                <a16:creationId xmlns:a16="http://schemas.microsoft.com/office/drawing/2014/main" id="{0C21FBBD-0B40-4ECA-996B-DE8F4F51C0C6}"/>
              </a:ext>
            </a:extLst>
          </p:cNvPr>
          <p:cNvSpPr>
            <a:spLocks xmlns:a="http://schemas.openxmlformats.org/drawingml/2006/main" noGrp="1"/>
          </p:cNvSpPr>
          <p:nvPr/>
        </p:nvSpPr>
        <p:spPr>
          <a:xfrm xmlns:a="http://schemas.openxmlformats.org/drawingml/2006/main">
            <a:off x="1438275" y="2790825"/>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544"/>
          </a:bodyPr>
          <a:lstStyle xmlns:a="http://schemas.openxmlformats.org/drawingml/2006/main">
            <a:defPPr algn="l">
              <a:defRPr sz="1275" b="0">
                <a:solidFill>
                  <a:srgbClr val="59675F"/>
                </a:solidFill>
                <a:latin typeface="Avenir Next"/>
                <a:ea typeface="Avenir Next"/>
                <a:cs typeface="Avenir Next"/>
              </a:defRPr>
            </a:defPPr>
          </a:lstStyle>
          <a:p xmlns:a="http://schemas.openxmlformats.org/drawingml/2006/main">
            <a:pPr algn="l">
              <a:lnSpc>
                <a:spcPct val="120000"/>
              </a:lnSpc>
              <a:buNone/>
              <a:defRPr sz="1275" b="0">
                <a:solidFill>
                  <a:srgbClr val="59675F"/>
                </a:solidFill>
                <a:latin typeface="Avenir Next"/>
                <a:ea typeface="Avenir Next"/>
                <a:cs typeface="Avenir Next"/>
              </a:defRPr>
            </a:pPr>
            <a:r>
              <a:rPr sz="1275" b="0">
                <a:solidFill>
                  <a:srgbClr val="59675F"/>
                </a:solidFill>
                <a:latin typeface="Avenir Next"/>
                <a:ea typeface="Avenir Next"/>
                <a:cs typeface="Avenir Next"/>
              </a:rPr>
              <a:t>Capture amount, UPI recipient and optional request message.</a:t>
            </a:r>
          </a:p>
          <a:p xmlns:a="http://schemas.openxmlformats.org/drawingml/2006/main">
            <a:pPr algn="l">
              <a:lnSpc>
                <a:spcPct val="120000"/>
              </a:lnSpc>
              <a:buNone/>
              <a:defRPr sz="1275" b="0">
                <a:solidFill>
                  <a:srgbClr val="59675F"/>
                </a:solidFill>
                <a:latin typeface="Avenir Next"/>
                <a:ea typeface="Avenir Next"/>
                <a:cs typeface="Avenir Next"/>
              </a:defRPr>
            </a:pPr>
            <a:r>
              <a:rPr sz="1275" b="0">
                <a:solidFill>
                  <a:srgbClr val="59675F"/>
                </a:solidFill>
                <a:latin typeface="Avenir Next"/>
                <a:ea typeface="Avenir Next"/>
                <a:cs typeface="Avenir Next"/>
              </a:rPr>
              <a:t>Compare recipient and payment patterns with stored history.</a:t>
            </a:r>
          </a:p>
        </p:txBody>
      </p:sp>
      <p:sp>
        <p:nvSpPr>
          <p:cNvPr id="9" name="02">
            <a:extLst xmlns:a="http://schemas.openxmlformats.org/drawingml/2006/main">
              <a:ext uri="{FF2B5EF4-FFF2-40B4-BE49-F238E27FC236}">
                <a16:creationId xmlns:a16="http://schemas.microsoft.com/office/drawing/2014/main" id="{50FB535A-C5BB-4956-86FC-3ECFBB4619B8}"/>
              </a:ext>
            </a:extLst>
          </p:cNvPr>
          <p:cNvSpPr>
            <a:spLocks xmlns:a="http://schemas.openxmlformats.org/drawingml/2006/main" noGrp="1"/>
          </p:cNvSpPr>
          <p:nvPr/>
        </p:nvSpPr>
        <p:spPr>
          <a:xfrm xmlns:a="http://schemas.openxmlformats.org/drawingml/2006/main">
            <a:off x="6276975" y="2333625"/>
            <a:ext cx="552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6B4B"/>
                </a:solidFill>
                <a:latin typeface="Avenir Next"/>
                <a:ea typeface="Avenir Next"/>
                <a:cs typeface="Avenir Next"/>
              </a:defRPr>
            </a:defPPr>
          </a:lstStyle>
          <a:p xmlns:a="http://schemas.openxmlformats.org/drawingml/2006/main">
            <a:pPr algn="l">
              <a:lnSpc>
                <a:spcPct val="106000"/>
              </a:lnSpc>
              <a:buNone/>
              <a:defRPr sz="2100" b="1">
                <a:solidFill>
                  <a:srgbClr val="176B4B"/>
                </a:solidFill>
                <a:latin typeface="Avenir Next"/>
                <a:ea typeface="Avenir Next"/>
                <a:cs typeface="Avenir Next"/>
              </a:defRPr>
            </a:pPr>
            <a:r>
              <a:rPr sz="2100" b="1">
                <a:solidFill>
                  <a:srgbClr val="176B4B"/>
                </a:solidFill>
                <a:latin typeface="Avenir Next"/>
                <a:ea typeface="Avenir Next"/>
                <a:cs typeface="Avenir Next"/>
              </a:rPr>
              <a:t>02</a:t>
            </a:r>
          </a:p>
        </p:txBody>
      </p:sp>
      <p:sp>
        <p:nvSpPr>
          <p:cNvPr id="10" name="Invoice payment">
            <a:extLst xmlns:a="http://schemas.openxmlformats.org/drawingml/2006/main">
              <a:ext uri="{FF2B5EF4-FFF2-40B4-BE49-F238E27FC236}">
                <a16:creationId xmlns:a16="http://schemas.microsoft.com/office/drawing/2014/main" id="{00F3697E-B991-48D3-A1D2-B6FF355634B4}"/>
              </a:ext>
            </a:extLst>
          </p:cNvPr>
          <p:cNvSpPr>
            <a:spLocks xmlns:a="http://schemas.openxmlformats.org/drawingml/2006/main" noGrp="1"/>
          </p:cNvSpPr>
          <p:nvPr/>
        </p:nvSpPr>
        <p:spPr>
          <a:xfrm xmlns:a="http://schemas.openxmlformats.org/drawingml/2006/main">
            <a:off x="7029450" y="2343150"/>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821"/>
                </a:solidFill>
                <a:latin typeface="Avenir Next"/>
                <a:ea typeface="Avenir Next"/>
                <a:cs typeface="Avenir Next"/>
              </a:defRPr>
            </a:defPPr>
          </a:lstStyle>
          <a:p xmlns:a="http://schemas.openxmlformats.org/drawingml/2006/main">
            <a:pPr algn="l">
              <a:lnSpc>
                <a:spcPct val="106000"/>
              </a:lnSpc>
              <a:buNone/>
              <a:defRPr sz="1800" b="1">
                <a:solidFill>
                  <a:srgbClr val="172821"/>
                </a:solidFill>
                <a:latin typeface="Avenir Next"/>
                <a:ea typeface="Avenir Next"/>
                <a:cs typeface="Avenir Next"/>
              </a:defRPr>
            </a:pPr>
            <a:r>
              <a:rPr sz="1800" b="1">
                <a:solidFill>
                  <a:srgbClr val="172821"/>
                </a:solidFill>
                <a:latin typeface="Avenir Next"/>
                <a:ea typeface="Avenir Next"/>
                <a:cs typeface="Avenir Next"/>
              </a:rPr>
              <a:t>Invoice payment</a:t>
            </a:r>
          </a:p>
        </p:txBody>
      </p:sp>
      <p:sp>
        <p:nvSpPr>
          <p:cNvPr id="11" name="Capture invoice amount, vendor and reque">
            <a:extLst xmlns:a="http://schemas.openxmlformats.org/drawingml/2006/main">
              <a:ext uri="{FF2B5EF4-FFF2-40B4-BE49-F238E27FC236}">
                <a16:creationId xmlns:a16="http://schemas.microsoft.com/office/drawing/2014/main" id="{7E23E24B-EE74-4DB3-BB6B-2721A8F793D5}"/>
              </a:ext>
            </a:extLst>
          </p:cNvPr>
          <p:cNvSpPr>
            <a:spLocks xmlns:a="http://schemas.openxmlformats.org/drawingml/2006/main" noGrp="1"/>
          </p:cNvSpPr>
          <p:nvPr/>
        </p:nvSpPr>
        <p:spPr>
          <a:xfrm xmlns:a="http://schemas.openxmlformats.org/drawingml/2006/main">
            <a:off x="7029450" y="2790825"/>
            <a:ext cx="4048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9675F"/>
                </a:solidFill>
                <a:latin typeface="Avenir Next"/>
                <a:ea typeface="Avenir Next"/>
                <a:cs typeface="Avenir Next"/>
              </a:defRPr>
            </a:defPPr>
          </a:lstStyle>
          <a:p xmlns:a="http://schemas.openxmlformats.org/drawingml/2006/main">
            <a:pPr algn="l">
              <a:lnSpc>
                <a:spcPct val="120000"/>
              </a:lnSpc>
              <a:buNone/>
              <a:defRPr sz="1275" b="0">
                <a:solidFill>
                  <a:srgbClr val="59675F"/>
                </a:solidFill>
                <a:latin typeface="Avenir Next"/>
                <a:ea typeface="Avenir Next"/>
                <a:cs typeface="Avenir Next"/>
              </a:defRPr>
            </a:pPr>
            <a:r>
              <a:rPr sz="1275" b="0">
                <a:solidFill>
                  <a:srgbClr val="59675F"/>
                </a:solidFill>
                <a:latin typeface="Avenir Next"/>
                <a:ea typeface="Avenir Next"/>
                <a:cs typeface="Avenir Next"/>
              </a:rPr>
              <a:t>Capture invoice amount, vendor and requested bank account.</a:t>
            </a:r>
          </a:p>
          <a:p xmlns:a="http://schemas.openxmlformats.org/drawingml/2006/main">
            <a:pPr algn="l">
              <a:lnSpc>
                <a:spcPct val="120000"/>
              </a:lnSpc>
              <a:buNone/>
              <a:defRPr sz="1275" b="0">
                <a:solidFill>
                  <a:srgbClr val="59675F"/>
                </a:solidFill>
                <a:latin typeface="Avenir Next"/>
                <a:ea typeface="Avenir Next"/>
                <a:cs typeface="Avenir Next"/>
              </a:defRPr>
            </a:pPr>
            <a:r>
              <a:rPr sz="1275" b="0">
                <a:solidFill>
                  <a:srgbClr val="59675F"/>
                </a:solidFill>
                <a:latin typeface="Avenir Next"/>
                <a:ea typeface="Avenir Next"/>
                <a:cs typeface="Avenir Next"/>
              </a:rPr>
              <a:t>Compare the destination with the vendor record.</a:t>
            </a:r>
          </a:p>
        </p:txBody>
      </p:sp>
      <p:sp>
        <p:nvSpPr>
          <p:cNvPr id="12" name="">
            <a:extLst xmlns:a="http://schemas.openxmlformats.org/drawingml/2006/main">
              <a:ext uri="{FF2B5EF4-FFF2-40B4-BE49-F238E27FC236}">
                <a16:creationId xmlns:a16="http://schemas.microsoft.com/office/drawing/2014/main" id="{EC10197E-6C77-4C11-9969-9C7BA4F1580E}"/>
              </a:ext>
            </a:extLst>
          </p:cNvPr>
          <p:cNvSpPr>
            <a:spLocks xmlns:a="http://schemas.openxmlformats.org/drawingml/2006/main" noGrp="1"/>
          </p:cNvSpPr>
          <p:nvPr/>
        </p:nvSpPr>
        <p:spPr>
          <a:xfrm xmlns:a="http://schemas.openxmlformats.org/drawingml/2006/main">
            <a:off x="685800" y="3771900"/>
            <a:ext cx="10820400" cy="19050"/>
          </a:xfrm>
          <a:prstGeom xmlns:a="http://schemas.openxmlformats.org/drawingml/2006/main" prst="rect">
            <a:avLst/>
          </a:prstGeom>
          <a:solidFill xmlns:a="http://schemas.openxmlformats.org/drawingml/2006/main">
            <a:srgbClr val="176B4B"/>
          </a:solidFill>
          <a:ln xmlns:a="http://schemas.openxmlformats.org/drawingml/2006/main" w="0">
            <a:noFill/>
            <a:prstDash val="solid"/>
          </a:ln>
        </p:spPr>
      </p:sp>
      <p:sp>
        <p:nvSpPr>
          <p:cNvPr id="13" name="SHARED ENGINE">
            <a:extLst xmlns:a="http://schemas.openxmlformats.org/drawingml/2006/main">
              <a:ext uri="{FF2B5EF4-FFF2-40B4-BE49-F238E27FC236}">
                <a16:creationId xmlns:a16="http://schemas.microsoft.com/office/drawing/2014/main" id="{D6439A90-A119-4FA6-ABFE-3F91D9DA0C54}"/>
              </a:ext>
            </a:extLst>
          </p:cNvPr>
          <p:cNvSpPr>
            <a:spLocks xmlns:a="http://schemas.openxmlformats.org/drawingml/2006/main" noGrp="1"/>
          </p:cNvSpPr>
          <p:nvPr/>
        </p:nvSpPr>
        <p:spPr>
          <a:xfrm xmlns:a="http://schemas.openxmlformats.org/drawingml/2006/main">
            <a:off x="685800" y="3990975"/>
            <a:ext cx="2095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6B4B"/>
                </a:solidFill>
                <a:latin typeface="Avenir Next"/>
                <a:ea typeface="Avenir Next"/>
                <a:cs typeface="Avenir Next"/>
              </a:defRPr>
            </a:defPPr>
          </a:lstStyle>
          <a:p xmlns:a="http://schemas.openxmlformats.org/drawingml/2006/main">
            <a:pPr algn="l">
              <a:lnSpc>
                <a:spcPct val="106000"/>
              </a:lnSpc>
              <a:buNone/>
              <a:defRPr sz="900" b="1">
                <a:solidFill>
                  <a:srgbClr val="176B4B"/>
                </a:solidFill>
                <a:latin typeface="Avenir Next"/>
                <a:ea typeface="Avenir Next"/>
                <a:cs typeface="Avenir Next"/>
              </a:defRPr>
            </a:pPr>
            <a:r>
              <a:rPr sz="900" b="1">
                <a:solidFill>
                  <a:srgbClr val="176B4B"/>
                </a:solidFill>
                <a:latin typeface="Avenir Next"/>
                <a:ea typeface="Avenir Next"/>
                <a:cs typeface="Avenir Next"/>
              </a:rPr>
              <a:t>SHARED ENGINE</a:t>
            </a:r>
          </a:p>
        </p:txBody>
      </p:sp>
      <p:sp>
        <p:nvSpPr>
          <p:cNvPr id="14" name="01">
            <a:extLst xmlns:a="http://schemas.openxmlformats.org/drawingml/2006/main">
              <a:ext uri="{FF2B5EF4-FFF2-40B4-BE49-F238E27FC236}">
                <a16:creationId xmlns:a16="http://schemas.microsoft.com/office/drawing/2014/main" id="{C6473075-1399-46EA-8464-B6BE6F3490B8}"/>
              </a:ext>
            </a:extLst>
          </p:cNvPr>
          <p:cNvSpPr>
            <a:spLocks xmlns:a="http://schemas.openxmlformats.org/drawingml/2006/main" noGrp="1"/>
          </p:cNvSpPr>
          <p:nvPr/>
        </p:nvSpPr>
        <p:spPr>
          <a:xfrm xmlns:a="http://schemas.openxmlformats.org/drawingml/2006/main">
            <a:off x="685800" y="4457700"/>
            <a:ext cx="609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BE7839"/>
                </a:solidFill>
                <a:latin typeface="Avenir Next"/>
                <a:ea typeface="Avenir Next"/>
                <a:cs typeface="Avenir Next"/>
              </a:defRPr>
            </a:defPPr>
          </a:lstStyle>
          <a:p xmlns:a="http://schemas.openxmlformats.org/drawingml/2006/main">
            <a:pPr algn="l">
              <a:lnSpc>
                <a:spcPct val="106000"/>
              </a:lnSpc>
              <a:buNone/>
              <a:defRPr sz="1050" b="1">
                <a:solidFill>
                  <a:srgbClr val="BE7839"/>
                </a:solidFill>
                <a:latin typeface="Avenir Next"/>
                <a:ea typeface="Avenir Next"/>
                <a:cs typeface="Avenir Next"/>
              </a:defRPr>
            </a:pPr>
            <a:r>
              <a:rPr sz="1050" b="1">
                <a:solidFill>
                  <a:srgbClr val="BE7839"/>
                </a:solidFill>
                <a:latin typeface="Avenir Next"/>
                <a:ea typeface="Avenir Next"/>
                <a:cs typeface="Avenir Next"/>
              </a:rPr>
              <a:t>01</a:t>
            </a:r>
          </a:p>
        </p:txBody>
      </p:sp>
      <p:sp>
        <p:nvSpPr>
          <p:cNvPr id="15" name="Normalize">
            <a:extLst xmlns:a="http://schemas.openxmlformats.org/drawingml/2006/main">
              <a:ext uri="{FF2B5EF4-FFF2-40B4-BE49-F238E27FC236}">
                <a16:creationId xmlns:a16="http://schemas.microsoft.com/office/drawing/2014/main" id="{90294FF0-6BC0-49F4-BBDD-CC28F68D5F2F}"/>
              </a:ext>
            </a:extLst>
          </p:cNvPr>
          <p:cNvSpPr>
            <a:spLocks xmlns:a="http://schemas.openxmlformats.org/drawingml/2006/main" noGrp="1"/>
          </p:cNvSpPr>
          <p:nvPr/>
        </p:nvSpPr>
        <p:spPr>
          <a:xfrm xmlns:a="http://schemas.openxmlformats.org/drawingml/2006/main">
            <a:off x="685800" y="4772025"/>
            <a:ext cx="2333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Normalize</a:t>
            </a:r>
          </a:p>
        </p:txBody>
      </p:sp>
      <p:sp>
        <p:nvSpPr>
          <p:cNvPr id="16" name="One transaction contract">
            <a:extLst xmlns:a="http://schemas.openxmlformats.org/drawingml/2006/main">
              <a:ext uri="{FF2B5EF4-FFF2-40B4-BE49-F238E27FC236}">
                <a16:creationId xmlns:a16="http://schemas.microsoft.com/office/drawing/2014/main" id="{B55C2392-B186-4F98-893F-0F78F4E09E22}"/>
              </a:ext>
            </a:extLst>
          </p:cNvPr>
          <p:cNvSpPr>
            <a:spLocks xmlns:a="http://schemas.openxmlformats.org/drawingml/2006/main" noGrp="1"/>
          </p:cNvSpPr>
          <p:nvPr/>
        </p:nvSpPr>
        <p:spPr>
          <a:xfrm xmlns:a="http://schemas.openxmlformats.org/drawingml/2006/main">
            <a:off x="685800" y="5172075"/>
            <a:ext cx="2400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13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One transaction contract</a:t>
            </a:r>
          </a:p>
        </p:txBody>
      </p:sp>
      <p:sp>
        <p:nvSpPr>
          <p:cNvPr id="17" name="02">
            <a:extLst xmlns:a="http://schemas.openxmlformats.org/drawingml/2006/main">
              <a:ext uri="{FF2B5EF4-FFF2-40B4-BE49-F238E27FC236}">
                <a16:creationId xmlns:a16="http://schemas.microsoft.com/office/drawing/2014/main" id="{3F78A803-688C-4C79-9204-9FCD18B94497}"/>
              </a:ext>
            </a:extLst>
          </p:cNvPr>
          <p:cNvSpPr>
            <a:spLocks xmlns:a="http://schemas.openxmlformats.org/drawingml/2006/main" noGrp="1"/>
          </p:cNvSpPr>
          <p:nvPr/>
        </p:nvSpPr>
        <p:spPr>
          <a:xfrm xmlns:a="http://schemas.openxmlformats.org/drawingml/2006/main">
            <a:off x="3429000" y="4457700"/>
            <a:ext cx="609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BE7839"/>
                </a:solidFill>
                <a:latin typeface="Avenir Next"/>
                <a:ea typeface="Avenir Next"/>
                <a:cs typeface="Avenir Next"/>
              </a:defRPr>
            </a:defPPr>
          </a:lstStyle>
          <a:p xmlns:a="http://schemas.openxmlformats.org/drawingml/2006/main">
            <a:pPr algn="l">
              <a:lnSpc>
                <a:spcPct val="106000"/>
              </a:lnSpc>
              <a:buNone/>
              <a:defRPr sz="1050" b="1">
                <a:solidFill>
                  <a:srgbClr val="BE7839"/>
                </a:solidFill>
                <a:latin typeface="Avenir Next"/>
                <a:ea typeface="Avenir Next"/>
                <a:cs typeface="Avenir Next"/>
              </a:defRPr>
            </a:pPr>
            <a:r>
              <a:rPr sz="1050" b="1">
                <a:solidFill>
                  <a:srgbClr val="BE7839"/>
                </a:solidFill>
                <a:latin typeface="Avenir Next"/>
                <a:ea typeface="Avenir Next"/>
                <a:cs typeface="Avenir Next"/>
              </a:rPr>
              <a:t>02</a:t>
            </a:r>
          </a:p>
        </p:txBody>
      </p:sp>
      <p:sp>
        <p:nvSpPr>
          <p:cNvPr id="18" name="Find evidence">
            <a:extLst xmlns:a="http://schemas.openxmlformats.org/drawingml/2006/main">
              <a:ext uri="{FF2B5EF4-FFF2-40B4-BE49-F238E27FC236}">
                <a16:creationId xmlns:a16="http://schemas.microsoft.com/office/drawing/2014/main" id="{E9595376-A058-43ED-9E7A-5C4269D3F273}"/>
              </a:ext>
            </a:extLst>
          </p:cNvPr>
          <p:cNvSpPr>
            <a:spLocks xmlns:a="http://schemas.openxmlformats.org/drawingml/2006/main" noGrp="1"/>
          </p:cNvSpPr>
          <p:nvPr/>
        </p:nvSpPr>
        <p:spPr>
          <a:xfrm xmlns:a="http://schemas.openxmlformats.org/drawingml/2006/main">
            <a:off x="3429000" y="4772025"/>
            <a:ext cx="2333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Find evidence</a:t>
            </a:r>
          </a:p>
        </p:txBody>
      </p:sp>
      <p:sp>
        <p:nvSpPr>
          <p:cNvPr id="19" name="Rules plus optional context">
            <a:extLst xmlns:a="http://schemas.openxmlformats.org/drawingml/2006/main">
              <a:ext uri="{FF2B5EF4-FFF2-40B4-BE49-F238E27FC236}">
                <a16:creationId xmlns:a16="http://schemas.microsoft.com/office/drawing/2014/main" id="{EA2B8828-99F8-471D-99A0-C20595C65A91}"/>
              </a:ext>
            </a:extLst>
          </p:cNvPr>
          <p:cNvSpPr>
            <a:spLocks xmlns:a="http://schemas.openxmlformats.org/drawingml/2006/main" noGrp="1"/>
          </p:cNvSpPr>
          <p:nvPr/>
        </p:nvSpPr>
        <p:spPr>
          <a:xfrm xmlns:a="http://schemas.openxmlformats.org/drawingml/2006/main">
            <a:off x="3429000" y="5172075"/>
            <a:ext cx="2400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13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Rules plus optional context</a:t>
            </a:r>
          </a:p>
        </p:txBody>
      </p:sp>
      <p:sp>
        <p:nvSpPr>
          <p:cNvPr id="20" name="03">
            <a:extLst xmlns:a="http://schemas.openxmlformats.org/drawingml/2006/main">
              <a:ext uri="{FF2B5EF4-FFF2-40B4-BE49-F238E27FC236}">
                <a16:creationId xmlns:a16="http://schemas.microsoft.com/office/drawing/2014/main" id="{DCFB40A9-293C-43D5-B1EA-EBDEE34EC213}"/>
              </a:ext>
            </a:extLst>
          </p:cNvPr>
          <p:cNvSpPr>
            <a:spLocks xmlns:a="http://schemas.openxmlformats.org/drawingml/2006/main" noGrp="1"/>
          </p:cNvSpPr>
          <p:nvPr/>
        </p:nvSpPr>
        <p:spPr>
          <a:xfrm xmlns:a="http://schemas.openxmlformats.org/drawingml/2006/main">
            <a:off x="6172200" y="4457700"/>
            <a:ext cx="609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BE7839"/>
                </a:solidFill>
                <a:latin typeface="Avenir Next"/>
                <a:ea typeface="Avenir Next"/>
                <a:cs typeface="Avenir Next"/>
              </a:defRPr>
            </a:defPPr>
          </a:lstStyle>
          <a:p xmlns:a="http://schemas.openxmlformats.org/drawingml/2006/main">
            <a:pPr algn="l">
              <a:lnSpc>
                <a:spcPct val="106000"/>
              </a:lnSpc>
              <a:buNone/>
              <a:defRPr sz="1050" b="1">
                <a:solidFill>
                  <a:srgbClr val="BE7839"/>
                </a:solidFill>
                <a:latin typeface="Avenir Next"/>
                <a:ea typeface="Avenir Next"/>
                <a:cs typeface="Avenir Next"/>
              </a:defRPr>
            </a:pPr>
            <a:r>
              <a:rPr sz="1050" b="1">
                <a:solidFill>
                  <a:srgbClr val="BE7839"/>
                </a:solidFill>
                <a:latin typeface="Avenir Next"/>
                <a:ea typeface="Avenir Next"/>
                <a:cs typeface="Avenir Next"/>
              </a:rPr>
              <a:t>03</a:t>
            </a:r>
          </a:p>
        </p:txBody>
      </p:sp>
      <p:sp>
        <p:nvSpPr>
          <p:cNvPr id="21" name="Apply policy">
            <a:extLst xmlns:a="http://schemas.openxmlformats.org/drawingml/2006/main">
              <a:ext uri="{FF2B5EF4-FFF2-40B4-BE49-F238E27FC236}">
                <a16:creationId xmlns:a16="http://schemas.microsoft.com/office/drawing/2014/main" id="{C34D3E77-B4E8-4B0B-811D-4B585795163F}"/>
              </a:ext>
            </a:extLst>
          </p:cNvPr>
          <p:cNvSpPr>
            <a:spLocks xmlns:a="http://schemas.openxmlformats.org/drawingml/2006/main" noGrp="1"/>
          </p:cNvSpPr>
          <p:nvPr/>
        </p:nvSpPr>
        <p:spPr>
          <a:xfrm xmlns:a="http://schemas.openxmlformats.org/drawingml/2006/main">
            <a:off x="6172200" y="4772025"/>
            <a:ext cx="2333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Apply policy</a:t>
            </a:r>
          </a:p>
        </p:txBody>
      </p:sp>
      <p:sp>
        <p:nvSpPr>
          <p:cNvPr id="22" name="Continue · verify · review">
            <a:extLst xmlns:a="http://schemas.openxmlformats.org/drawingml/2006/main">
              <a:ext uri="{FF2B5EF4-FFF2-40B4-BE49-F238E27FC236}">
                <a16:creationId xmlns:a16="http://schemas.microsoft.com/office/drawing/2014/main" id="{DC169477-9E13-4938-8FFC-642BA18CEDCB}"/>
              </a:ext>
            </a:extLst>
          </p:cNvPr>
          <p:cNvSpPr>
            <a:spLocks xmlns:a="http://schemas.openxmlformats.org/drawingml/2006/main" noGrp="1"/>
          </p:cNvSpPr>
          <p:nvPr/>
        </p:nvSpPr>
        <p:spPr>
          <a:xfrm xmlns:a="http://schemas.openxmlformats.org/drawingml/2006/main">
            <a:off x="6172200" y="5172075"/>
            <a:ext cx="2400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13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Continue · verify · review</a:t>
            </a:r>
          </a:p>
        </p:txBody>
      </p:sp>
      <p:sp>
        <p:nvSpPr>
          <p:cNvPr id="23" name="04">
            <a:extLst xmlns:a="http://schemas.openxmlformats.org/drawingml/2006/main">
              <a:ext uri="{FF2B5EF4-FFF2-40B4-BE49-F238E27FC236}">
                <a16:creationId xmlns:a16="http://schemas.microsoft.com/office/drawing/2014/main" id="{2BF2A852-86B5-4617-B8ED-6EED8E7B37CD}"/>
              </a:ext>
            </a:extLst>
          </p:cNvPr>
          <p:cNvSpPr>
            <a:spLocks xmlns:a="http://schemas.openxmlformats.org/drawingml/2006/main" noGrp="1"/>
          </p:cNvSpPr>
          <p:nvPr/>
        </p:nvSpPr>
        <p:spPr>
          <a:xfrm xmlns:a="http://schemas.openxmlformats.org/drawingml/2006/main">
            <a:off x="8915400" y="4457700"/>
            <a:ext cx="609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BE7839"/>
                </a:solidFill>
                <a:latin typeface="Avenir Next"/>
                <a:ea typeface="Avenir Next"/>
                <a:cs typeface="Avenir Next"/>
              </a:defRPr>
            </a:defPPr>
          </a:lstStyle>
          <a:p xmlns:a="http://schemas.openxmlformats.org/drawingml/2006/main">
            <a:pPr algn="l">
              <a:lnSpc>
                <a:spcPct val="106000"/>
              </a:lnSpc>
              <a:buNone/>
              <a:defRPr sz="1050" b="1">
                <a:solidFill>
                  <a:srgbClr val="BE7839"/>
                </a:solidFill>
                <a:latin typeface="Avenir Next"/>
                <a:ea typeface="Avenir Next"/>
                <a:cs typeface="Avenir Next"/>
              </a:defRPr>
            </a:pPr>
            <a:r>
              <a:rPr sz="1050" b="1">
                <a:solidFill>
                  <a:srgbClr val="BE7839"/>
                </a:solidFill>
                <a:latin typeface="Avenir Next"/>
                <a:ea typeface="Avenir Next"/>
                <a:cs typeface="Avenir Next"/>
              </a:rPr>
              <a:t>04</a:t>
            </a:r>
          </a:p>
        </p:txBody>
      </p:sp>
      <p:sp>
        <p:nvSpPr>
          <p:cNvPr id="24" name="Explain">
            <a:extLst xmlns:a="http://schemas.openxmlformats.org/drawingml/2006/main">
              <a:ext uri="{FF2B5EF4-FFF2-40B4-BE49-F238E27FC236}">
                <a16:creationId xmlns:a16="http://schemas.microsoft.com/office/drawing/2014/main" id="{55764A27-993F-48C2-A638-D95D82039AB7}"/>
              </a:ext>
            </a:extLst>
          </p:cNvPr>
          <p:cNvSpPr>
            <a:spLocks xmlns:a="http://schemas.openxmlformats.org/drawingml/2006/main" noGrp="1"/>
          </p:cNvSpPr>
          <p:nvPr/>
        </p:nvSpPr>
        <p:spPr>
          <a:xfrm xmlns:a="http://schemas.openxmlformats.org/drawingml/2006/main">
            <a:off x="8915400" y="4772025"/>
            <a:ext cx="2333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Explain</a:t>
            </a:r>
          </a:p>
        </p:txBody>
      </p:sp>
      <p:sp>
        <p:nvSpPr>
          <p:cNvPr id="25" name="Evidence-grounded summary">
            <a:extLst xmlns:a="http://schemas.openxmlformats.org/drawingml/2006/main">
              <a:ext uri="{FF2B5EF4-FFF2-40B4-BE49-F238E27FC236}">
                <a16:creationId xmlns:a16="http://schemas.microsoft.com/office/drawing/2014/main" id="{A79561A7-6A30-413F-8A06-BA08F9271DDE}"/>
              </a:ext>
            </a:extLst>
          </p:cNvPr>
          <p:cNvSpPr>
            <a:spLocks xmlns:a="http://schemas.openxmlformats.org/drawingml/2006/main" noGrp="1"/>
          </p:cNvSpPr>
          <p:nvPr/>
        </p:nvSpPr>
        <p:spPr>
          <a:xfrm xmlns:a="http://schemas.openxmlformats.org/drawingml/2006/main">
            <a:off x="8915400" y="5172075"/>
            <a:ext cx="2400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13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Evidence-grounded summary</a:t>
            </a:r>
          </a:p>
        </p:txBody>
      </p:sp>
      <p:sp>
        <p:nvSpPr>
          <p:cNvPr id="26" name="">
            <a:extLst xmlns:a="http://schemas.openxmlformats.org/drawingml/2006/main">
              <a:ext uri="{FF2B5EF4-FFF2-40B4-BE49-F238E27FC236}">
                <a16:creationId xmlns:a16="http://schemas.microsoft.com/office/drawing/2014/main" id="{B1889CBC-75B5-4749-BD52-DAAAC98EF3A9}"/>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27" name="Synthetic demonstration concept  /  No p">
            <a:extLst xmlns:a="http://schemas.openxmlformats.org/drawingml/2006/main">
              <a:ext uri="{FF2B5EF4-FFF2-40B4-BE49-F238E27FC236}">
                <a16:creationId xmlns:a16="http://schemas.microsoft.com/office/drawing/2014/main" id="{4479E562-BA59-4CDD-9912-345400AE7CE5}"/>
              </a:ext>
            </a:extLst>
          </p:cNvPr>
          <p:cNvSpPr>
            <a:spLocks xmlns:a="http://schemas.openxmlformats.org/drawingml/2006/main" noGrp="1"/>
          </p:cNvSpPr>
          <p:nvPr/>
        </p:nvSpPr>
        <p:spPr>
          <a:xfrm xmlns:a="http://schemas.openxmlformats.org/drawingml/2006/main">
            <a:off x="685800" y="6467475"/>
            <a:ext cx="10820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9675F"/>
                </a:solidFill>
                <a:latin typeface="Avenir Next"/>
                <a:ea typeface="Avenir Next"/>
                <a:cs typeface="Avenir Next"/>
              </a:defRPr>
            </a:defPPr>
          </a:lstStyle>
          <a:p xmlns:a="http://schemas.openxmlformats.org/drawingml/2006/main">
            <a:pPr algn="l">
              <a:lnSpc>
                <a:spcPct val="106000"/>
              </a:lnSpc>
              <a:buNone/>
              <a:defRPr sz="825" b="0">
                <a:solidFill>
                  <a:srgbClr val="59675F"/>
                </a:solidFill>
                <a:latin typeface="Avenir Next"/>
                <a:ea typeface="Avenir Next"/>
                <a:cs typeface="Avenir Next"/>
              </a:defRPr>
            </a:pPr>
            <a:r>
              <a:rPr sz="825" b="0">
                <a:solidFill>
                  <a:srgbClr val="59675F"/>
                </a:solidFill>
                <a:latin typeface="Avenir Next"/>
                <a:ea typeface="Avenir Next"/>
                <a:cs typeface="Avenir Next"/>
              </a:rPr>
              <a:t>Synthetic demonstration concept  /  No payment execution</a:t>
            </a:r>
          </a:p>
        </p:txBody>
      </p:sp>
    </p:spTree>
    <p:extLst>
      <p:ext uri="{BB962C8B-B14F-4D97-AF65-F5344CB8AC3E}">
        <p14:creationId xmlns:p14="http://schemas.microsoft.com/office/powerpoint/2010/main" val="688859432"/>
      </p:ext>
    </p:extLst>
  </p:cSld>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30" name="SCAMSHIELD  /  CONCEPT PITCH">
            <a:extLst xmlns:a="http://schemas.openxmlformats.org/drawingml/2006/main">
              <a:ext uri="{FF2B5EF4-FFF2-40B4-BE49-F238E27FC236}">
                <a16:creationId xmlns:a16="http://schemas.microsoft.com/office/drawing/2014/main" id="{EDD87680-B44E-4206-B3FB-8935402553A2}"/>
              </a:ext>
            </a:extLst>
          </p:cNvPr>
          <p:cNvSpPr>
            <a:spLocks xmlns:a="http://schemas.openxmlformats.org/drawingml/2006/main" noGrp="1"/>
          </p:cNvSpPr>
          <p:nvPr/>
        </p:nvSpPr>
        <p:spPr>
          <a:xfrm xmlns:a="http://schemas.openxmlformats.org/drawingml/2006/main">
            <a:off x="685800" y="4095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6B4B"/>
                </a:solidFill>
                <a:latin typeface="Avenir Next"/>
                <a:ea typeface="Avenir Next"/>
                <a:cs typeface="Avenir Next"/>
              </a:defRPr>
            </a:defPPr>
          </a:lstStyle>
          <a:p xmlns:a="http://schemas.openxmlformats.org/drawingml/2006/main">
            <a:pPr algn="l">
              <a:lnSpc>
                <a:spcPct val="106000"/>
              </a:lnSpc>
              <a:buNone/>
              <a:defRPr sz="975" b="1">
                <a:solidFill>
                  <a:srgbClr val="176B4B"/>
                </a:solidFill>
                <a:latin typeface="Avenir Next"/>
                <a:ea typeface="Avenir Next"/>
                <a:cs typeface="Avenir Next"/>
              </a:defRPr>
            </a:pPr>
            <a:r>
              <a:rPr sz="975" b="1">
                <a:solidFill>
                  <a:srgbClr val="176B4B"/>
                </a:solidFill>
                <a:latin typeface="Avenir Next"/>
                <a:ea typeface="Avenir Next"/>
                <a:cs typeface="Avenir Next"/>
              </a:rPr>
              <a:t>SCAMSHIELD  /  CONCEPT PITCH</a:t>
            </a:r>
          </a:p>
        </p:txBody>
      </p:sp>
      <p:sp>
        <p:nvSpPr>
          <p:cNvPr id="2" name="04  /  06">
            <a:extLst xmlns:a="http://schemas.openxmlformats.org/drawingml/2006/main">
              <a:ext uri="{FF2B5EF4-FFF2-40B4-BE49-F238E27FC236}">
                <a16:creationId xmlns:a16="http://schemas.microsoft.com/office/drawing/2014/main" id="{A85518F3-95BC-484F-B4C6-E16C9EA75D4B}"/>
              </a:ext>
            </a:extLst>
          </p:cNvPr>
          <p:cNvSpPr>
            <a:spLocks xmlns:a="http://schemas.openxmlformats.org/drawingml/2006/main" noGrp="1"/>
          </p:cNvSpPr>
          <p:nvPr/>
        </p:nvSpPr>
        <p:spPr>
          <a:xfrm xmlns:a="http://schemas.openxmlformats.org/drawingml/2006/main">
            <a:off x="10572750" y="40957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9675F"/>
                </a:solidFill>
                <a:latin typeface="Avenir Next"/>
                <a:ea typeface="Avenir Next"/>
                <a:cs typeface="Avenir Next"/>
              </a:defRPr>
            </a:defPPr>
          </a:lstStyle>
          <a:p xmlns:a="http://schemas.openxmlformats.org/drawingml/2006/main">
            <a:pPr algn="r">
              <a:lnSpc>
                <a:spcPct val="106000"/>
              </a:lnSpc>
              <a:buNone/>
              <a:defRPr sz="900" b="0">
                <a:solidFill>
                  <a:srgbClr val="59675F"/>
                </a:solidFill>
                <a:latin typeface="Avenir Next"/>
                <a:ea typeface="Avenir Next"/>
                <a:cs typeface="Avenir Next"/>
              </a:defRPr>
            </a:pPr>
            <a:r>
              <a:rPr sz="900" b="0">
                <a:solidFill>
                  <a:srgbClr val="59675F"/>
                </a:solidFill>
                <a:latin typeface="Avenir Next"/>
                <a:ea typeface="Avenir Next"/>
                <a:cs typeface="Avenir Next"/>
              </a:rPr>
              <a:t>04  /  06</a:t>
            </a:r>
          </a:p>
        </p:txBody>
      </p:sp>
      <p:sp>
        <p:nvSpPr>
          <p:cNvPr id="3" name="">
            <a:extLst xmlns:a="http://schemas.openxmlformats.org/drawingml/2006/main">
              <a:ext uri="{FF2B5EF4-FFF2-40B4-BE49-F238E27FC236}">
                <a16:creationId xmlns:a16="http://schemas.microsoft.com/office/drawing/2014/main" id="{28045537-ED8A-4ACA-BDD8-D286BECAF386}"/>
              </a:ext>
            </a:extLst>
          </p:cNvPr>
          <p:cNvSpPr>
            <a:spLocks xmlns:a="http://schemas.openxmlformats.org/drawingml/2006/main" noGrp="1"/>
          </p:cNvSpPr>
          <p:nvPr/>
        </p:nvSpPr>
        <p:spPr>
          <a:xfrm xmlns:a="http://schemas.openxmlformats.org/drawingml/2006/main">
            <a:off x="685800" y="71437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4" name="Keep evidence, policy and explanation se">
            <a:extLst xmlns:a="http://schemas.openxmlformats.org/drawingml/2006/main">
              <a:ext uri="{FF2B5EF4-FFF2-40B4-BE49-F238E27FC236}">
                <a16:creationId xmlns:a16="http://schemas.microsoft.com/office/drawing/2014/main" id="{46466E08-6B7B-4329-94D9-A607AC81F5CA}"/>
              </a:ext>
            </a:extLst>
          </p:cNvPr>
          <p:cNvSpPr>
            <a:spLocks xmlns:a="http://schemas.openxmlformats.org/drawingml/2006/main" noGrp="1"/>
          </p:cNvSpPr>
          <p:nvPr/>
        </p:nvSpPr>
        <p:spPr>
          <a:xfrm xmlns:a="http://schemas.openxmlformats.org/drawingml/2006/main">
            <a:off x="685800" y="990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821"/>
                </a:solidFill>
                <a:latin typeface="Avenir Next"/>
                <a:ea typeface="Avenir Next"/>
                <a:cs typeface="Avenir Next"/>
              </a:defRPr>
            </a:defPPr>
          </a:lstStyle>
          <a:p xmlns:a="http://schemas.openxmlformats.org/drawingml/2006/main">
            <a:pPr algn="l">
              <a:lnSpc>
                <a:spcPct val="98000"/>
              </a:lnSpc>
              <a:buNone/>
              <a:defRPr sz="3000" b="1">
                <a:solidFill>
                  <a:srgbClr val="172821"/>
                </a:solidFill>
                <a:latin typeface="Avenir Next"/>
                <a:ea typeface="Avenir Next"/>
                <a:cs typeface="Avenir Next"/>
              </a:defRPr>
            </a:pPr>
            <a:r>
              <a:rPr sz="3000" b="1">
                <a:solidFill>
                  <a:srgbClr val="172821"/>
                </a:solidFill>
                <a:latin typeface="Avenir Next"/>
                <a:ea typeface="Avenir Next"/>
                <a:cs typeface="Avenir Next"/>
              </a:rPr>
              <a:t>Keep evidence, policy and explanation separate</a:t>
            </a:r>
          </a:p>
        </p:txBody>
      </p:sp>
      <p:sp>
        <p:nvSpPr>
          <p:cNvPr id="5" name="Each stage has a bounded job. Model outp">
            <a:extLst xmlns:a="http://schemas.openxmlformats.org/drawingml/2006/main">
              <a:ext uri="{FF2B5EF4-FFF2-40B4-BE49-F238E27FC236}">
                <a16:creationId xmlns:a16="http://schemas.microsoft.com/office/drawing/2014/main" id="{EE7CD2C4-E363-4C7B-B5D7-72BFF3099662}"/>
              </a:ext>
            </a:extLst>
          </p:cNvPr>
          <p:cNvSpPr>
            <a:spLocks xmlns:a="http://schemas.openxmlformats.org/drawingml/2006/main" noGrp="1"/>
          </p:cNvSpPr>
          <p:nvPr/>
        </p:nvSpPr>
        <p:spPr>
          <a:xfrm xmlns:a="http://schemas.openxmlformats.org/drawingml/2006/main">
            <a:off x="685800" y="1628775"/>
            <a:ext cx="1047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9675F"/>
                </a:solidFill>
                <a:latin typeface="Avenir Next"/>
                <a:ea typeface="Avenir Next"/>
                <a:cs typeface="Avenir Next"/>
              </a:defRPr>
            </a:defPPr>
          </a:lstStyle>
          <a:p xmlns:a="http://schemas.openxmlformats.org/drawingml/2006/main">
            <a:pPr algn="l">
              <a:lnSpc>
                <a:spcPct val="106000"/>
              </a:lnSpc>
              <a:buNone/>
              <a:defRPr sz="1350" b="0">
                <a:solidFill>
                  <a:srgbClr val="59675F"/>
                </a:solidFill>
                <a:latin typeface="Avenir Next"/>
                <a:ea typeface="Avenir Next"/>
                <a:cs typeface="Avenir Next"/>
              </a:defRPr>
            </a:pPr>
            <a:r>
              <a:rPr sz="1350" b="0">
                <a:solidFill>
                  <a:srgbClr val="59675F"/>
                </a:solidFill>
                <a:latin typeface="Avenir Next"/>
                <a:ea typeface="Avenir Next"/>
                <a:cs typeface="Avenir Next"/>
              </a:rPr>
              <a:t>Each stage has a bounded job. Model output cannot authorize or execute a payment.</a:t>
            </a:r>
          </a:p>
        </p:txBody>
      </p:sp>
      <p:sp>
        <p:nvSpPr>
          <p:cNvPr id="6" name="01">
            <a:extLst xmlns:a="http://schemas.openxmlformats.org/drawingml/2006/main">
              <a:ext uri="{FF2B5EF4-FFF2-40B4-BE49-F238E27FC236}">
                <a16:creationId xmlns:a16="http://schemas.microsoft.com/office/drawing/2014/main" id="{051A0078-D1E8-4723-A38C-BA7FF5FA5DAC}"/>
              </a:ext>
            </a:extLst>
          </p:cNvPr>
          <p:cNvSpPr>
            <a:spLocks xmlns:a="http://schemas.openxmlformats.org/drawingml/2006/main" noGrp="1"/>
          </p:cNvSpPr>
          <p:nvPr/>
        </p:nvSpPr>
        <p:spPr>
          <a:xfrm xmlns:a="http://schemas.openxmlformats.org/drawingml/2006/main">
            <a:off x="685800" y="23812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E7839"/>
                </a:solidFill>
                <a:latin typeface="Avenir Next"/>
                <a:ea typeface="Avenir Next"/>
                <a:cs typeface="Avenir Next"/>
              </a:defRPr>
            </a:defPPr>
          </a:lstStyle>
          <a:p xmlns:a="http://schemas.openxmlformats.org/drawingml/2006/main">
            <a:pPr algn="l">
              <a:lnSpc>
                <a:spcPct val="106000"/>
              </a:lnSpc>
              <a:buNone/>
              <a:defRPr sz="1500" b="1">
                <a:solidFill>
                  <a:srgbClr val="BE7839"/>
                </a:solidFill>
                <a:latin typeface="Avenir Next"/>
                <a:ea typeface="Avenir Next"/>
                <a:cs typeface="Avenir Next"/>
              </a:defRPr>
            </a:pPr>
            <a:r>
              <a:rPr sz="1500" b="1">
                <a:solidFill>
                  <a:srgbClr val="BE7839"/>
                </a:solidFill>
                <a:latin typeface="Avenir Next"/>
                <a:ea typeface="Avenir Next"/>
                <a:cs typeface="Avenir Next"/>
              </a:rPr>
              <a:t>01</a:t>
            </a:r>
          </a:p>
        </p:txBody>
      </p:sp>
      <p:sp>
        <p:nvSpPr>
          <p:cNvPr id="7" name="ADAPTERS">
            <a:extLst xmlns:a="http://schemas.openxmlformats.org/drawingml/2006/main">
              <a:ext uri="{FF2B5EF4-FFF2-40B4-BE49-F238E27FC236}">
                <a16:creationId xmlns:a16="http://schemas.microsoft.com/office/drawing/2014/main" id="{FC801B4E-72E5-4F9E-9844-6D7B5B5F7BF2}"/>
              </a:ext>
            </a:extLst>
          </p:cNvPr>
          <p:cNvSpPr>
            <a:spLocks xmlns:a="http://schemas.openxmlformats.org/drawingml/2006/main" noGrp="1"/>
          </p:cNvSpPr>
          <p:nvPr/>
        </p:nvSpPr>
        <p:spPr>
          <a:xfrm xmlns:a="http://schemas.openxmlformats.org/drawingml/2006/main">
            <a:off x="1371600" y="2400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2821"/>
                </a:solidFill>
                <a:latin typeface="Avenir Next"/>
                <a:ea typeface="Avenir Next"/>
                <a:cs typeface="Avenir Next"/>
              </a:defRPr>
            </a:defPPr>
          </a:lstStyle>
          <a:p xmlns:a="http://schemas.openxmlformats.org/drawingml/2006/main">
            <a:pPr algn="l">
              <a:lnSpc>
                <a:spcPct val="106000"/>
              </a:lnSpc>
              <a:buNone/>
              <a:defRPr sz="900" b="1">
                <a:solidFill>
                  <a:srgbClr val="172821"/>
                </a:solidFill>
                <a:latin typeface="Avenir Next"/>
                <a:ea typeface="Avenir Next"/>
                <a:cs typeface="Avenir Next"/>
              </a:defRPr>
            </a:pPr>
            <a:r>
              <a:rPr sz="900" b="1">
                <a:solidFill>
                  <a:srgbClr val="172821"/>
                </a:solidFill>
                <a:latin typeface="Avenir Next"/>
                <a:ea typeface="Avenir Next"/>
                <a:cs typeface="Avenir Next"/>
              </a:rPr>
              <a:t>ADAPTERS</a:t>
            </a:r>
          </a:p>
        </p:txBody>
      </p:sp>
      <p:sp>
        <p:nvSpPr>
          <p:cNvPr id="8" name="UPI transfer  /  Vendor invoice">
            <a:extLst xmlns:a="http://schemas.openxmlformats.org/drawingml/2006/main">
              <a:ext uri="{FF2B5EF4-FFF2-40B4-BE49-F238E27FC236}">
                <a16:creationId xmlns:a16="http://schemas.microsoft.com/office/drawing/2014/main" id="{604CD637-56E9-4F96-A813-DA7141A677E1}"/>
              </a:ext>
            </a:extLst>
          </p:cNvPr>
          <p:cNvSpPr>
            <a:spLocks xmlns:a="http://schemas.openxmlformats.org/drawingml/2006/main" noGrp="1"/>
          </p:cNvSpPr>
          <p:nvPr/>
        </p:nvSpPr>
        <p:spPr>
          <a:xfrm xmlns:a="http://schemas.openxmlformats.org/drawingml/2006/main">
            <a:off x="3333750" y="231457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72821"/>
                </a:solidFill>
                <a:latin typeface="Avenir Next"/>
                <a:ea typeface="Avenir Next"/>
                <a:cs typeface="Avenir Next"/>
              </a:defRPr>
            </a:defPPr>
          </a:lstStyle>
          <a:p xmlns:a="http://schemas.openxmlformats.org/drawingml/2006/main">
            <a:pPr algn="l">
              <a:lnSpc>
                <a:spcPct val="106000"/>
              </a:lnSpc>
              <a:buNone/>
              <a:defRPr sz="1725" b="1">
                <a:solidFill>
                  <a:srgbClr val="172821"/>
                </a:solidFill>
                <a:latin typeface="Avenir Next"/>
                <a:ea typeface="Avenir Next"/>
                <a:cs typeface="Avenir Next"/>
              </a:defRPr>
            </a:pPr>
            <a:r>
              <a:rPr sz="1725" b="1">
                <a:solidFill>
                  <a:srgbClr val="172821"/>
                </a:solidFill>
                <a:latin typeface="Avenir Next"/>
                <a:ea typeface="Avenir Next"/>
                <a:cs typeface="Avenir Next"/>
              </a:rPr>
              <a:t>UPI transfer  /  Vendor invoice</a:t>
            </a:r>
          </a:p>
        </p:txBody>
      </p:sp>
      <p:sp>
        <p:nvSpPr>
          <p:cNvPr id="9" name="Validate fields and normalize the reques">
            <a:extLst xmlns:a="http://schemas.openxmlformats.org/drawingml/2006/main">
              <a:ext uri="{FF2B5EF4-FFF2-40B4-BE49-F238E27FC236}">
                <a16:creationId xmlns:a16="http://schemas.microsoft.com/office/drawing/2014/main" id="{24025A2C-A608-4BE3-B029-A069B99772C5}"/>
              </a:ext>
            </a:extLst>
          </p:cNvPr>
          <p:cNvSpPr>
            <a:spLocks xmlns:a="http://schemas.openxmlformats.org/drawingml/2006/main" noGrp="1"/>
          </p:cNvSpPr>
          <p:nvPr/>
        </p:nvSpPr>
        <p:spPr>
          <a:xfrm xmlns:a="http://schemas.openxmlformats.org/drawingml/2006/main">
            <a:off x="3333750" y="26860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06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Validate fields and normalize the request</a:t>
            </a:r>
          </a:p>
        </p:txBody>
      </p:sp>
      <p:sp>
        <p:nvSpPr>
          <p:cNvPr id="10" name="">
            <a:extLst xmlns:a="http://schemas.openxmlformats.org/drawingml/2006/main">
              <a:ext uri="{FF2B5EF4-FFF2-40B4-BE49-F238E27FC236}">
                <a16:creationId xmlns:a16="http://schemas.microsoft.com/office/drawing/2014/main" id="{EFF38E6F-5354-4174-957B-AB2749149DBA}"/>
              </a:ext>
            </a:extLst>
          </p:cNvPr>
          <p:cNvSpPr>
            <a:spLocks xmlns:a="http://schemas.openxmlformats.org/drawingml/2006/main" noGrp="1"/>
          </p:cNvSpPr>
          <p:nvPr/>
        </p:nvSpPr>
        <p:spPr>
          <a:xfrm xmlns:a="http://schemas.openxmlformats.org/drawingml/2006/main">
            <a:off x="1371600" y="3057525"/>
            <a:ext cx="946785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1" name="02">
            <a:extLst xmlns:a="http://schemas.openxmlformats.org/drawingml/2006/main">
              <a:ext uri="{FF2B5EF4-FFF2-40B4-BE49-F238E27FC236}">
                <a16:creationId xmlns:a16="http://schemas.microsoft.com/office/drawing/2014/main" id="{5226E719-351B-4C18-8590-3612303CEDF1}"/>
              </a:ext>
            </a:extLst>
          </p:cNvPr>
          <p:cNvSpPr>
            <a:spLocks xmlns:a="http://schemas.openxmlformats.org/drawingml/2006/main" noGrp="1"/>
          </p:cNvSpPr>
          <p:nvPr/>
        </p:nvSpPr>
        <p:spPr>
          <a:xfrm xmlns:a="http://schemas.openxmlformats.org/drawingml/2006/main">
            <a:off x="685800" y="32956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E7839"/>
                </a:solidFill>
                <a:latin typeface="Avenir Next"/>
                <a:ea typeface="Avenir Next"/>
                <a:cs typeface="Avenir Next"/>
              </a:defRPr>
            </a:defPPr>
          </a:lstStyle>
          <a:p xmlns:a="http://schemas.openxmlformats.org/drawingml/2006/main">
            <a:pPr algn="l">
              <a:lnSpc>
                <a:spcPct val="106000"/>
              </a:lnSpc>
              <a:buNone/>
              <a:defRPr sz="1500" b="1">
                <a:solidFill>
                  <a:srgbClr val="BE7839"/>
                </a:solidFill>
                <a:latin typeface="Avenir Next"/>
                <a:ea typeface="Avenir Next"/>
                <a:cs typeface="Avenir Next"/>
              </a:defRPr>
            </a:pPr>
            <a:r>
              <a:rPr sz="1500" b="1">
                <a:solidFill>
                  <a:srgbClr val="BE7839"/>
                </a:solidFill>
                <a:latin typeface="Avenir Next"/>
                <a:ea typeface="Avenir Next"/>
                <a:cs typeface="Avenir Next"/>
              </a:rPr>
              <a:t>02</a:t>
            </a:r>
          </a:p>
        </p:txBody>
      </p:sp>
      <p:sp>
        <p:nvSpPr>
          <p:cNvPr id="12" name="EVIDENCE">
            <a:extLst xmlns:a="http://schemas.openxmlformats.org/drawingml/2006/main">
              <a:ext uri="{FF2B5EF4-FFF2-40B4-BE49-F238E27FC236}">
                <a16:creationId xmlns:a16="http://schemas.microsoft.com/office/drawing/2014/main" id="{4F0B71DF-7AA9-4856-B443-503B3FA1F3B1}"/>
              </a:ext>
            </a:extLst>
          </p:cNvPr>
          <p:cNvSpPr>
            <a:spLocks xmlns:a="http://schemas.openxmlformats.org/drawingml/2006/main" noGrp="1"/>
          </p:cNvSpPr>
          <p:nvPr/>
        </p:nvSpPr>
        <p:spPr>
          <a:xfrm xmlns:a="http://schemas.openxmlformats.org/drawingml/2006/main">
            <a:off x="1371600" y="33147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6B4B"/>
                </a:solidFill>
                <a:latin typeface="Avenir Next"/>
                <a:ea typeface="Avenir Next"/>
                <a:cs typeface="Avenir Next"/>
              </a:defRPr>
            </a:defPPr>
          </a:lstStyle>
          <a:p xmlns:a="http://schemas.openxmlformats.org/drawingml/2006/main">
            <a:pPr algn="l">
              <a:lnSpc>
                <a:spcPct val="106000"/>
              </a:lnSpc>
              <a:buNone/>
              <a:defRPr sz="900" b="1">
                <a:solidFill>
                  <a:srgbClr val="176B4B"/>
                </a:solidFill>
                <a:latin typeface="Avenir Next"/>
                <a:ea typeface="Avenir Next"/>
                <a:cs typeface="Avenir Next"/>
              </a:defRPr>
            </a:pPr>
            <a:r>
              <a:rPr sz="900" b="1">
                <a:solidFill>
                  <a:srgbClr val="176B4B"/>
                </a:solidFill>
                <a:latin typeface="Avenir Next"/>
                <a:ea typeface="Avenir Next"/>
                <a:cs typeface="Avenir Next"/>
              </a:rPr>
              <a:t>EVIDENCE</a:t>
            </a:r>
          </a:p>
        </p:txBody>
      </p:sp>
      <p:sp>
        <p:nvSpPr>
          <p:cNvPr id="13" name="Rules  +  optional context classificatio">
            <a:extLst xmlns:a="http://schemas.openxmlformats.org/drawingml/2006/main">
              <a:ext uri="{FF2B5EF4-FFF2-40B4-BE49-F238E27FC236}">
                <a16:creationId xmlns:a16="http://schemas.microsoft.com/office/drawing/2014/main" id="{E1C8915B-AECA-4C3B-B491-7D76B4E38F6E}"/>
              </a:ext>
            </a:extLst>
          </p:cNvPr>
          <p:cNvSpPr>
            <a:spLocks xmlns:a="http://schemas.openxmlformats.org/drawingml/2006/main" noGrp="1"/>
          </p:cNvSpPr>
          <p:nvPr/>
        </p:nvSpPr>
        <p:spPr>
          <a:xfrm xmlns:a="http://schemas.openxmlformats.org/drawingml/2006/main">
            <a:off x="3333750" y="322897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72821"/>
                </a:solidFill>
                <a:latin typeface="Avenir Next"/>
                <a:ea typeface="Avenir Next"/>
                <a:cs typeface="Avenir Next"/>
              </a:defRPr>
            </a:defPPr>
          </a:lstStyle>
          <a:p xmlns:a="http://schemas.openxmlformats.org/drawingml/2006/main">
            <a:pPr algn="l">
              <a:lnSpc>
                <a:spcPct val="106000"/>
              </a:lnSpc>
              <a:buNone/>
              <a:defRPr sz="1725" b="1">
                <a:solidFill>
                  <a:srgbClr val="172821"/>
                </a:solidFill>
                <a:latin typeface="Avenir Next"/>
                <a:ea typeface="Avenir Next"/>
                <a:cs typeface="Avenir Next"/>
              </a:defRPr>
            </a:pPr>
            <a:r>
              <a:rPr sz="1725" b="1">
                <a:solidFill>
                  <a:srgbClr val="172821"/>
                </a:solidFill>
                <a:latin typeface="Avenir Next"/>
                <a:ea typeface="Avenir Next"/>
                <a:cs typeface="Avenir Next"/>
              </a:rPr>
              <a:t>Rules  +  optional context classification</a:t>
            </a:r>
          </a:p>
        </p:txBody>
      </p:sp>
      <p:sp>
        <p:nvSpPr>
          <p:cNvPr id="14" name="Gemini Developer API; Vertex AI remains ">
            <a:extLst xmlns:a="http://schemas.openxmlformats.org/drawingml/2006/main">
              <a:ext uri="{FF2B5EF4-FFF2-40B4-BE49-F238E27FC236}">
                <a16:creationId xmlns:a16="http://schemas.microsoft.com/office/drawing/2014/main" id="{C6B215A9-B8CC-4111-8252-25FDFD26DBFA}"/>
              </a:ext>
            </a:extLst>
          </p:cNvPr>
          <p:cNvSpPr>
            <a:spLocks xmlns:a="http://schemas.openxmlformats.org/drawingml/2006/main" noGrp="1"/>
          </p:cNvSpPr>
          <p:nvPr/>
        </p:nvSpPr>
        <p:spPr>
          <a:xfrm xmlns:a="http://schemas.openxmlformats.org/drawingml/2006/main">
            <a:off x="3333750" y="36004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06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Gemini Developer API; Vertex AI remains optional</a:t>
            </a:r>
          </a:p>
        </p:txBody>
      </p:sp>
      <p:sp>
        <p:nvSpPr>
          <p:cNvPr id="15" name="">
            <a:extLst xmlns:a="http://schemas.openxmlformats.org/drawingml/2006/main">
              <a:ext uri="{FF2B5EF4-FFF2-40B4-BE49-F238E27FC236}">
                <a16:creationId xmlns:a16="http://schemas.microsoft.com/office/drawing/2014/main" id="{A13C65E1-05DD-40E7-B2B5-8188F1B487C7}"/>
              </a:ext>
            </a:extLst>
          </p:cNvPr>
          <p:cNvSpPr>
            <a:spLocks xmlns:a="http://schemas.openxmlformats.org/drawingml/2006/main" noGrp="1"/>
          </p:cNvSpPr>
          <p:nvPr/>
        </p:nvSpPr>
        <p:spPr>
          <a:xfrm xmlns:a="http://schemas.openxmlformats.org/drawingml/2006/main">
            <a:off x="1371600" y="3971925"/>
            <a:ext cx="946785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6" name="03">
            <a:extLst xmlns:a="http://schemas.openxmlformats.org/drawingml/2006/main">
              <a:ext uri="{FF2B5EF4-FFF2-40B4-BE49-F238E27FC236}">
                <a16:creationId xmlns:a16="http://schemas.microsoft.com/office/drawing/2014/main" id="{96388721-EE3E-45BC-972A-A4413F525AAF}"/>
              </a:ext>
            </a:extLst>
          </p:cNvPr>
          <p:cNvSpPr>
            <a:spLocks xmlns:a="http://schemas.openxmlformats.org/drawingml/2006/main" noGrp="1"/>
          </p:cNvSpPr>
          <p:nvPr/>
        </p:nvSpPr>
        <p:spPr>
          <a:xfrm xmlns:a="http://schemas.openxmlformats.org/drawingml/2006/main">
            <a:off x="685800" y="42100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E7839"/>
                </a:solidFill>
                <a:latin typeface="Avenir Next"/>
                <a:ea typeface="Avenir Next"/>
                <a:cs typeface="Avenir Next"/>
              </a:defRPr>
            </a:defPPr>
          </a:lstStyle>
          <a:p xmlns:a="http://schemas.openxmlformats.org/drawingml/2006/main">
            <a:pPr algn="l">
              <a:lnSpc>
                <a:spcPct val="106000"/>
              </a:lnSpc>
              <a:buNone/>
              <a:defRPr sz="1500" b="1">
                <a:solidFill>
                  <a:srgbClr val="BE7839"/>
                </a:solidFill>
                <a:latin typeface="Avenir Next"/>
                <a:ea typeface="Avenir Next"/>
                <a:cs typeface="Avenir Next"/>
              </a:defRPr>
            </a:pPr>
            <a:r>
              <a:rPr sz="1500" b="1">
                <a:solidFill>
                  <a:srgbClr val="BE7839"/>
                </a:solidFill>
                <a:latin typeface="Avenir Next"/>
                <a:ea typeface="Avenir Next"/>
                <a:cs typeface="Avenir Next"/>
              </a:rPr>
              <a:t>03</a:t>
            </a:r>
          </a:p>
        </p:txBody>
      </p:sp>
      <p:sp>
        <p:nvSpPr>
          <p:cNvPr id="17" name="POLICY">
            <a:extLst xmlns:a="http://schemas.openxmlformats.org/drawingml/2006/main">
              <a:ext uri="{FF2B5EF4-FFF2-40B4-BE49-F238E27FC236}">
                <a16:creationId xmlns:a16="http://schemas.microsoft.com/office/drawing/2014/main" id="{0FEE91BD-8684-4EA6-81F3-57A031F68487}"/>
              </a:ext>
            </a:extLst>
          </p:cNvPr>
          <p:cNvSpPr>
            <a:spLocks xmlns:a="http://schemas.openxmlformats.org/drawingml/2006/main" noGrp="1"/>
          </p:cNvSpPr>
          <p:nvPr/>
        </p:nvSpPr>
        <p:spPr>
          <a:xfrm xmlns:a="http://schemas.openxmlformats.org/drawingml/2006/main">
            <a:off x="1371600" y="42291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2821"/>
                </a:solidFill>
                <a:latin typeface="Avenir Next"/>
                <a:ea typeface="Avenir Next"/>
                <a:cs typeface="Avenir Next"/>
              </a:defRPr>
            </a:defPPr>
          </a:lstStyle>
          <a:p xmlns:a="http://schemas.openxmlformats.org/drawingml/2006/main">
            <a:pPr algn="l">
              <a:lnSpc>
                <a:spcPct val="106000"/>
              </a:lnSpc>
              <a:buNone/>
              <a:defRPr sz="900" b="1">
                <a:solidFill>
                  <a:srgbClr val="172821"/>
                </a:solidFill>
                <a:latin typeface="Avenir Next"/>
                <a:ea typeface="Avenir Next"/>
                <a:cs typeface="Avenir Next"/>
              </a:defRPr>
            </a:pPr>
            <a:r>
              <a:rPr sz="900" b="1">
                <a:solidFill>
                  <a:srgbClr val="172821"/>
                </a:solidFill>
                <a:latin typeface="Avenir Next"/>
                <a:ea typeface="Avenir Next"/>
                <a:cs typeface="Avenir Next"/>
              </a:rPr>
              <a:t>POLICY</a:t>
            </a:r>
          </a:p>
        </p:txBody>
      </p:sp>
      <p:sp>
        <p:nvSpPr>
          <p:cNvPr id="18" name="Continue  /  Verify  /  Review">
            <a:extLst xmlns:a="http://schemas.openxmlformats.org/drawingml/2006/main">
              <a:ext uri="{FF2B5EF4-FFF2-40B4-BE49-F238E27FC236}">
                <a16:creationId xmlns:a16="http://schemas.microsoft.com/office/drawing/2014/main" id="{21BA07C2-7A1E-44AD-BB30-7B6CA3290A3C}"/>
              </a:ext>
            </a:extLst>
          </p:cNvPr>
          <p:cNvSpPr>
            <a:spLocks xmlns:a="http://schemas.openxmlformats.org/drawingml/2006/main" noGrp="1"/>
          </p:cNvSpPr>
          <p:nvPr/>
        </p:nvSpPr>
        <p:spPr>
          <a:xfrm xmlns:a="http://schemas.openxmlformats.org/drawingml/2006/main">
            <a:off x="3333750" y="414337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72821"/>
                </a:solidFill>
                <a:latin typeface="Avenir Next"/>
                <a:ea typeface="Avenir Next"/>
                <a:cs typeface="Avenir Next"/>
              </a:defRPr>
            </a:defPPr>
          </a:lstStyle>
          <a:p xmlns:a="http://schemas.openxmlformats.org/drawingml/2006/main">
            <a:pPr algn="l">
              <a:lnSpc>
                <a:spcPct val="106000"/>
              </a:lnSpc>
              <a:buNone/>
              <a:defRPr sz="1725" b="1">
                <a:solidFill>
                  <a:srgbClr val="172821"/>
                </a:solidFill>
                <a:latin typeface="Avenir Next"/>
                <a:ea typeface="Avenir Next"/>
                <a:cs typeface="Avenir Next"/>
              </a:defRPr>
            </a:pPr>
            <a:r>
              <a:rPr sz="1725" b="1">
                <a:solidFill>
                  <a:srgbClr val="172821"/>
                </a:solidFill>
                <a:latin typeface="Avenir Next"/>
                <a:ea typeface="Avenir Next"/>
                <a:cs typeface="Avenir Next"/>
              </a:rPr>
              <a:t>Continue  /  Verify  /  Review</a:t>
            </a:r>
          </a:p>
        </p:txBody>
      </p:sp>
      <p:sp>
        <p:nvSpPr>
          <p:cNvPr id="19" name="Versioned thresholds map evidence to a r">
            <a:extLst xmlns:a="http://schemas.openxmlformats.org/drawingml/2006/main">
              <a:ext uri="{FF2B5EF4-FFF2-40B4-BE49-F238E27FC236}">
                <a16:creationId xmlns:a16="http://schemas.microsoft.com/office/drawing/2014/main" id="{1EC10051-4EF8-4078-8B9D-DA622EFECEB0}"/>
              </a:ext>
            </a:extLst>
          </p:cNvPr>
          <p:cNvSpPr>
            <a:spLocks xmlns:a="http://schemas.openxmlformats.org/drawingml/2006/main" noGrp="1"/>
          </p:cNvSpPr>
          <p:nvPr/>
        </p:nvSpPr>
        <p:spPr>
          <a:xfrm xmlns:a="http://schemas.openxmlformats.org/drawingml/2006/main">
            <a:off x="3333750" y="45148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06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Versioned thresholds map evidence to a recommendation</a:t>
            </a:r>
          </a:p>
        </p:txBody>
      </p:sp>
      <p:sp>
        <p:nvSpPr>
          <p:cNvPr id="20" name="">
            <a:extLst xmlns:a="http://schemas.openxmlformats.org/drawingml/2006/main">
              <a:ext uri="{FF2B5EF4-FFF2-40B4-BE49-F238E27FC236}">
                <a16:creationId xmlns:a16="http://schemas.microsoft.com/office/drawing/2014/main" id="{895E482E-CC85-4712-99FA-1DE84FFB234F}"/>
              </a:ext>
            </a:extLst>
          </p:cNvPr>
          <p:cNvSpPr>
            <a:spLocks xmlns:a="http://schemas.openxmlformats.org/drawingml/2006/main" noGrp="1"/>
          </p:cNvSpPr>
          <p:nvPr/>
        </p:nvSpPr>
        <p:spPr>
          <a:xfrm xmlns:a="http://schemas.openxmlformats.org/drawingml/2006/main">
            <a:off x="1371600" y="4886325"/>
            <a:ext cx="946785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21" name="04">
            <a:extLst xmlns:a="http://schemas.openxmlformats.org/drawingml/2006/main">
              <a:ext uri="{FF2B5EF4-FFF2-40B4-BE49-F238E27FC236}">
                <a16:creationId xmlns:a16="http://schemas.microsoft.com/office/drawing/2014/main" id="{72C06049-1B41-4142-AF0B-A8E50D9B6BC7}"/>
              </a:ext>
            </a:extLst>
          </p:cNvPr>
          <p:cNvSpPr>
            <a:spLocks xmlns:a="http://schemas.openxmlformats.org/drawingml/2006/main" noGrp="1"/>
          </p:cNvSpPr>
          <p:nvPr/>
        </p:nvSpPr>
        <p:spPr>
          <a:xfrm xmlns:a="http://schemas.openxmlformats.org/drawingml/2006/main">
            <a:off x="685800" y="51244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E7839"/>
                </a:solidFill>
                <a:latin typeface="Avenir Next"/>
                <a:ea typeface="Avenir Next"/>
                <a:cs typeface="Avenir Next"/>
              </a:defRPr>
            </a:defPPr>
          </a:lstStyle>
          <a:p xmlns:a="http://schemas.openxmlformats.org/drawingml/2006/main">
            <a:pPr algn="l">
              <a:lnSpc>
                <a:spcPct val="106000"/>
              </a:lnSpc>
              <a:buNone/>
              <a:defRPr sz="1500" b="1">
                <a:solidFill>
                  <a:srgbClr val="BE7839"/>
                </a:solidFill>
                <a:latin typeface="Avenir Next"/>
                <a:ea typeface="Avenir Next"/>
                <a:cs typeface="Avenir Next"/>
              </a:defRPr>
            </a:pPr>
            <a:r>
              <a:rPr sz="1500" b="1">
                <a:solidFill>
                  <a:srgbClr val="BE7839"/>
                </a:solidFill>
                <a:latin typeface="Avenir Next"/>
                <a:ea typeface="Avenir Next"/>
                <a:cs typeface="Avenir Next"/>
              </a:rPr>
              <a:t>04</a:t>
            </a:r>
          </a:p>
        </p:txBody>
      </p:sp>
      <p:sp>
        <p:nvSpPr>
          <p:cNvPr id="22" name="EXPLANATION">
            <a:extLst xmlns:a="http://schemas.openxmlformats.org/drawingml/2006/main">
              <a:ext uri="{FF2B5EF4-FFF2-40B4-BE49-F238E27FC236}">
                <a16:creationId xmlns:a16="http://schemas.microsoft.com/office/drawing/2014/main" id="{868797F7-E0D9-42F7-AA42-21DAD6BB24D2}"/>
              </a:ext>
            </a:extLst>
          </p:cNvPr>
          <p:cNvSpPr>
            <a:spLocks xmlns:a="http://schemas.openxmlformats.org/drawingml/2006/main" noGrp="1"/>
          </p:cNvSpPr>
          <p:nvPr/>
        </p:nvSpPr>
        <p:spPr>
          <a:xfrm xmlns:a="http://schemas.openxmlformats.org/drawingml/2006/main">
            <a:off x="1371600" y="51435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6B4B"/>
                </a:solidFill>
                <a:latin typeface="Avenir Next"/>
                <a:ea typeface="Avenir Next"/>
                <a:cs typeface="Avenir Next"/>
              </a:defRPr>
            </a:defPPr>
          </a:lstStyle>
          <a:p xmlns:a="http://schemas.openxmlformats.org/drawingml/2006/main">
            <a:pPr algn="l">
              <a:lnSpc>
                <a:spcPct val="106000"/>
              </a:lnSpc>
              <a:buNone/>
              <a:defRPr sz="900" b="1">
                <a:solidFill>
                  <a:srgbClr val="176B4B"/>
                </a:solidFill>
                <a:latin typeface="Avenir Next"/>
                <a:ea typeface="Avenir Next"/>
                <a:cs typeface="Avenir Next"/>
              </a:defRPr>
            </a:pPr>
            <a:r>
              <a:rPr sz="900" b="1">
                <a:solidFill>
                  <a:srgbClr val="176B4B"/>
                </a:solidFill>
                <a:latin typeface="Avenir Next"/>
                <a:ea typeface="Avenir Next"/>
                <a:cs typeface="Avenir Next"/>
              </a:rPr>
              <a:t>EXPLANATION</a:t>
            </a:r>
          </a:p>
        </p:txBody>
      </p:sp>
      <p:sp>
        <p:nvSpPr>
          <p:cNvPr id="23" name="Gemini explanation">
            <a:extLst xmlns:a="http://schemas.openxmlformats.org/drawingml/2006/main">
              <a:ext uri="{FF2B5EF4-FFF2-40B4-BE49-F238E27FC236}">
                <a16:creationId xmlns:a16="http://schemas.microsoft.com/office/drawing/2014/main" id="{47B83D12-E25C-4E5F-8C34-6C31BC6D5770}"/>
              </a:ext>
            </a:extLst>
          </p:cNvPr>
          <p:cNvSpPr>
            <a:spLocks xmlns:a="http://schemas.openxmlformats.org/drawingml/2006/main" noGrp="1"/>
          </p:cNvSpPr>
          <p:nvPr/>
        </p:nvSpPr>
        <p:spPr>
          <a:xfrm xmlns:a="http://schemas.openxmlformats.org/drawingml/2006/main">
            <a:off x="3333750" y="505777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72821"/>
                </a:solidFill>
                <a:latin typeface="Avenir Next"/>
                <a:ea typeface="Avenir Next"/>
                <a:cs typeface="Avenir Next"/>
              </a:defRPr>
            </a:defPPr>
          </a:lstStyle>
          <a:p xmlns:a="http://schemas.openxmlformats.org/drawingml/2006/main">
            <a:pPr algn="l">
              <a:lnSpc>
                <a:spcPct val="106000"/>
              </a:lnSpc>
              <a:buNone/>
              <a:defRPr sz="1725" b="1">
                <a:solidFill>
                  <a:srgbClr val="172821"/>
                </a:solidFill>
                <a:latin typeface="Avenir Next"/>
                <a:ea typeface="Avenir Next"/>
                <a:cs typeface="Avenir Next"/>
              </a:defRPr>
            </a:pPr>
            <a:r>
              <a:rPr sz="1725" b="1">
                <a:solidFill>
                  <a:srgbClr val="172821"/>
                </a:solidFill>
                <a:latin typeface="Avenir Next"/>
                <a:ea typeface="Avenir Next"/>
                <a:cs typeface="Avenir Next"/>
              </a:rPr>
              <a:t>Gemini explanation</a:t>
            </a:r>
          </a:p>
        </p:txBody>
      </p:sp>
      <p:sp>
        <p:nvSpPr>
          <p:cNvPr id="24" name="Separate optional call; deterministic fa">
            <a:extLst xmlns:a="http://schemas.openxmlformats.org/drawingml/2006/main">
              <a:ext uri="{FF2B5EF4-FFF2-40B4-BE49-F238E27FC236}">
                <a16:creationId xmlns:a16="http://schemas.microsoft.com/office/drawing/2014/main" id="{2011D8D1-5772-41A3-80ED-ABE71584F070}"/>
              </a:ext>
            </a:extLst>
          </p:cNvPr>
          <p:cNvSpPr>
            <a:spLocks xmlns:a="http://schemas.openxmlformats.org/drawingml/2006/main" noGrp="1"/>
          </p:cNvSpPr>
          <p:nvPr/>
        </p:nvSpPr>
        <p:spPr>
          <a:xfrm xmlns:a="http://schemas.openxmlformats.org/drawingml/2006/main">
            <a:off x="3333750" y="5429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06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Separate optional call; deterministic fallback on failure</a:t>
            </a:r>
          </a:p>
        </p:txBody>
      </p:sp>
      <p:sp>
        <p:nvSpPr>
          <p:cNvPr id="25" name="">
            <a:extLst xmlns:a="http://schemas.openxmlformats.org/drawingml/2006/main">
              <a:ext uri="{FF2B5EF4-FFF2-40B4-BE49-F238E27FC236}">
                <a16:creationId xmlns:a16="http://schemas.microsoft.com/office/drawing/2014/main" id="{792EECA1-88B8-43CC-8F88-9458A9EF184B}"/>
              </a:ext>
            </a:extLst>
          </p:cNvPr>
          <p:cNvSpPr>
            <a:spLocks xmlns:a="http://schemas.openxmlformats.org/drawingml/2006/main" noGrp="1"/>
          </p:cNvSpPr>
          <p:nvPr/>
        </p:nvSpPr>
        <p:spPr>
          <a:xfrm xmlns:a="http://schemas.openxmlformats.org/drawingml/2006/main">
            <a:off x="1371600" y="5800725"/>
            <a:ext cx="946785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26" name="HACKATHON PATH">
            <a:extLst xmlns:a="http://schemas.openxmlformats.org/drawingml/2006/main">
              <a:ext uri="{FF2B5EF4-FFF2-40B4-BE49-F238E27FC236}">
                <a16:creationId xmlns:a16="http://schemas.microsoft.com/office/drawing/2014/main" id="{DBF96C88-5263-4F1F-8EDA-214609DEAFD4}"/>
              </a:ext>
            </a:extLst>
          </p:cNvPr>
          <p:cNvSpPr>
            <a:spLocks xmlns:a="http://schemas.openxmlformats.org/drawingml/2006/main" noGrp="1"/>
          </p:cNvSpPr>
          <p:nvPr/>
        </p:nvSpPr>
        <p:spPr>
          <a:xfrm xmlns:a="http://schemas.openxmlformats.org/drawingml/2006/main">
            <a:off x="685800" y="60483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14"/>
          </a:bodyPr>
          <a:lstStyle xmlns:a="http://schemas.openxmlformats.org/drawingml/2006/main">
            <a:defPPr algn="l">
              <a:defRPr sz="825" b="1">
                <a:solidFill>
                  <a:srgbClr val="176B4B"/>
                </a:solidFill>
                <a:latin typeface="Avenir Next"/>
                <a:ea typeface="Avenir Next"/>
                <a:cs typeface="Avenir Next"/>
              </a:defRPr>
            </a:defPPr>
          </a:lstStyle>
          <a:p xmlns:a="http://schemas.openxmlformats.org/drawingml/2006/main">
            <a:pPr algn="l">
              <a:lnSpc>
                <a:spcPct val="106000"/>
              </a:lnSpc>
              <a:buNone/>
              <a:defRPr sz="825" b="1">
                <a:solidFill>
                  <a:srgbClr val="176B4B"/>
                </a:solidFill>
                <a:latin typeface="Avenir Next"/>
                <a:ea typeface="Avenir Next"/>
                <a:cs typeface="Avenir Next"/>
              </a:defRPr>
            </a:pPr>
            <a:r>
              <a:rPr sz="825" b="1">
                <a:solidFill>
                  <a:srgbClr val="176B4B"/>
                </a:solidFill>
                <a:latin typeface="Avenir Next"/>
                <a:ea typeface="Avenir Next"/>
                <a:cs typeface="Avenir Next"/>
              </a:rPr>
              <a:t>HACKATHON PATH</a:t>
            </a:r>
          </a:p>
        </p:txBody>
      </p:sp>
      <p:sp>
        <p:nvSpPr>
          <p:cNvPr id="27" name="Local app + SQLite + Gemini Developer AP">
            <a:extLst xmlns:a="http://schemas.openxmlformats.org/drawingml/2006/main">
              <a:ext uri="{FF2B5EF4-FFF2-40B4-BE49-F238E27FC236}">
                <a16:creationId xmlns:a16="http://schemas.microsoft.com/office/drawing/2014/main" id="{3EF07466-1349-4126-96E1-2E521442183C}"/>
              </a:ext>
            </a:extLst>
          </p:cNvPr>
          <p:cNvSpPr>
            <a:spLocks xmlns:a="http://schemas.openxmlformats.org/drawingml/2006/main" noGrp="1"/>
          </p:cNvSpPr>
          <p:nvPr/>
        </p:nvSpPr>
        <p:spPr>
          <a:xfrm xmlns:a="http://schemas.openxmlformats.org/drawingml/2006/main">
            <a:off x="1809750" y="6010275"/>
            <a:ext cx="904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9675F"/>
                </a:solidFill>
                <a:latin typeface="Avenir Next"/>
                <a:ea typeface="Avenir Next"/>
                <a:cs typeface="Avenir Next"/>
              </a:defRPr>
            </a:defPPr>
          </a:lstStyle>
          <a:p xmlns:a="http://schemas.openxmlformats.org/drawingml/2006/main">
            <a:pPr algn="l">
              <a:lnSpc>
                <a:spcPct val="106000"/>
              </a:lnSpc>
              <a:buNone/>
              <a:defRPr sz="1050" b="0">
                <a:solidFill>
                  <a:srgbClr val="59675F"/>
                </a:solidFill>
                <a:latin typeface="Avenir Next"/>
                <a:ea typeface="Avenir Next"/>
                <a:cs typeface="Avenir Next"/>
              </a:defRPr>
            </a:pPr>
            <a:r>
              <a:rPr sz="1050" b="0">
                <a:solidFill>
                  <a:srgbClr val="59675F"/>
                </a:solidFill>
                <a:latin typeface="Avenir Next"/>
                <a:ea typeface="Avenir Next"/>
                <a:cs typeface="Avenir Next"/>
              </a:rPr>
              <a:t>Local app + SQLite + Gemini Developer API free tier. Vertex AI and Cloud Run stay optional.</a:t>
            </a:r>
          </a:p>
        </p:txBody>
      </p:sp>
      <p:sp>
        <p:nvSpPr>
          <p:cNvPr id="28" name="">
            <a:extLst xmlns:a="http://schemas.openxmlformats.org/drawingml/2006/main">
              <a:ext uri="{FF2B5EF4-FFF2-40B4-BE49-F238E27FC236}">
                <a16:creationId xmlns:a16="http://schemas.microsoft.com/office/drawing/2014/main" id="{776F75D5-1756-422F-B6F1-F925E8A62696}"/>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29" name="Fixture default  /  Gemini live calls un">
            <a:extLst xmlns:a="http://schemas.openxmlformats.org/drawingml/2006/main">
              <a:ext uri="{FF2B5EF4-FFF2-40B4-BE49-F238E27FC236}">
                <a16:creationId xmlns:a16="http://schemas.microsoft.com/office/drawing/2014/main" id="{E62D0B21-534F-4C94-A543-14304443491D}"/>
              </a:ext>
            </a:extLst>
          </p:cNvPr>
          <p:cNvSpPr>
            <a:spLocks xmlns:a="http://schemas.openxmlformats.org/drawingml/2006/main" noGrp="1"/>
          </p:cNvSpPr>
          <p:nvPr/>
        </p:nvSpPr>
        <p:spPr>
          <a:xfrm xmlns:a="http://schemas.openxmlformats.org/drawingml/2006/main">
            <a:off x="685800" y="6467475"/>
            <a:ext cx="10820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9675F"/>
                </a:solidFill>
                <a:latin typeface="Avenir Next"/>
                <a:ea typeface="Avenir Next"/>
                <a:cs typeface="Avenir Next"/>
              </a:defRPr>
            </a:defPPr>
          </a:lstStyle>
          <a:p xmlns:a="http://schemas.openxmlformats.org/drawingml/2006/main">
            <a:pPr algn="l">
              <a:lnSpc>
                <a:spcPct val="106000"/>
              </a:lnSpc>
              <a:buNone/>
              <a:defRPr sz="825" b="0">
                <a:solidFill>
                  <a:srgbClr val="59675F"/>
                </a:solidFill>
                <a:latin typeface="Avenir Next"/>
                <a:ea typeface="Avenir Next"/>
                <a:cs typeface="Avenir Next"/>
              </a:defRPr>
            </a:pPr>
            <a:r>
              <a:rPr sz="825" b="0">
                <a:solidFill>
                  <a:srgbClr val="59675F"/>
                </a:solidFill>
                <a:latin typeface="Avenir Next"/>
                <a:ea typeface="Avenir Next"/>
                <a:cs typeface="Avenir Next"/>
              </a:rPr>
              <a:t>Fixture default  /  Gemini live calls unverified  /  Provider calls stay on backend</a:t>
            </a:r>
          </a:p>
        </p:txBody>
      </p:sp>
    </p:spTree>
    <p:extLst>
      <p:ext uri="{BB962C8B-B14F-4D97-AF65-F5344CB8AC3E}">
        <p14:creationId xmlns:p14="http://schemas.microsoft.com/office/powerpoint/2010/main" val="1228506379"/>
      </p:ext>
    </p:extLst>
  </p:cSld>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41" name="SCAMSHIELD  /  CONCEPT PITCH">
            <a:extLst xmlns:a="http://schemas.openxmlformats.org/drawingml/2006/main">
              <a:ext uri="{FF2B5EF4-FFF2-40B4-BE49-F238E27FC236}">
                <a16:creationId xmlns:a16="http://schemas.microsoft.com/office/drawing/2014/main" id="{B0D3F791-858C-454C-8AAC-8DAC42657F6B}"/>
              </a:ext>
            </a:extLst>
          </p:cNvPr>
          <p:cNvSpPr>
            <a:spLocks xmlns:a="http://schemas.openxmlformats.org/drawingml/2006/main" noGrp="1"/>
          </p:cNvSpPr>
          <p:nvPr/>
        </p:nvSpPr>
        <p:spPr>
          <a:xfrm xmlns:a="http://schemas.openxmlformats.org/drawingml/2006/main">
            <a:off x="685800" y="4095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6B4B"/>
                </a:solidFill>
                <a:latin typeface="Avenir Next"/>
                <a:ea typeface="Avenir Next"/>
                <a:cs typeface="Avenir Next"/>
              </a:defRPr>
            </a:defPPr>
          </a:lstStyle>
          <a:p xmlns:a="http://schemas.openxmlformats.org/drawingml/2006/main">
            <a:pPr algn="l">
              <a:lnSpc>
                <a:spcPct val="106000"/>
              </a:lnSpc>
              <a:buNone/>
              <a:defRPr sz="975" b="1">
                <a:solidFill>
                  <a:srgbClr val="176B4B"/>
                </a:solidFill>
                <a:latin typeface="Avenir Next"/>
                <a:ea typeface="Avenir Next"/>
                <a:cs typeface="Avenir Next"/>
              </a:defRPr>
            </a:pPr>
            <a:r>
              <a:rPr sz="975" b="1">
                <a:solidFill>
                  <a:srgbClr val="176B4B"/>
                </a:solidFill>
                <a:latin typeface="Avenir Next"/>
                <a:ea typeface="Avenir Next"/>
                <a:cs typeface="Avenir Next"/>
              </a:rPr>
              <a:t>SCAMSHIELD  /  CONCEPT PITCH</a:t>
            </a:r>
          </a:p>
        </p:txBody>
      </p:sp>
      <p:sp>
        <p:nvSpPr>
          <p:cNvPr id="2" name="05  /  06">
            <a:extLst xmlns:a="http://schemas.openxmlformats.org/drawingml/2006/main">
              <a:ext uri="{FF2B5EF4-FFF2-40B4-BE49-F238E27FC236}">
                <a16:creationId xmlns:a16="http://schemas.microsoft.com/office/drawing/2014/main" id="{39F5D7DA-AC1F-4280-A60A-4261782B8FD8}"/>
              </a:ext>
            </a:extLst>
          </p:cNvPr>
          <p:cNvSpPr>
            <a:spLocks xmlns:a="http://schemas.openxmlformats.org/drawingml/2006/main" noGrp="1"/>
          </p:cNvSpPr>
          <p:nvPr/>
        </p:nvSpPr>
        <p:spPr>
          <a:xfrm xmlns:a="http://schemas.openxmlformats.org/drawingml/2006/main">
            <a:off x="10572750" y="40957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9675F"/>
                </a:solidFill>
                <a:latin typeface="Avenir Next"/>
                <a:ea typeface="Avenir Next"/>
                <a:cs typeface="Avenir Next"/>
              </a:defRPr>
            </a:defPPr>
          </a:lstStyle>
          <a:p xmlns:a="http://schemas.openxmlformats.org/drawingml/2006/main">
            <a:pPr algn="r">
              <a:lnSpc>
                <a:spcPct val="106000"/>
              </a:lnSpc>
              <a:buNone/>
              <a:defRPr sz="900" b="0">
                <a:solidFill>
                  <a:srgbClr val="59675F"/>
                </a:solidFill>
                <a:latin typeface="Avenir Next"/>
                <a:ea typeface="Avenir Next"/>
                <a:cs typeface="Avenir Next"/>
              </a:defRPr>
            </a:pPr>
            <a:r>
              <a:rPr sz="900" b="0">
                <a:solidFill>
                  <a:srgbClr val="59675F"/>
                </a:solidFill>
                <a:latin typeface="Avenir Next"/>
                <a:ea typeface="Avenir Next"/>
                <a:cs typeface="Avenir Next"/>
              </a:rPr>
              <a:t>05  /  06</a:t>
            </a:r>
          </a:p>
        </p:txBody>
      </p:sp>
      <p:sp>
        <p:nvSpPr>
          <p:cNvPr id="3" name="">
            <a:extLst xmlns:a="http://schemas.openxmlformats.org/drawingml/2006/main">
              <a:ext uri="{FF2B5EF4-FFF2-40B4-BE49-F238E27FC236}">
                <a16:creationId xmlns:a16="http://schemas.microsoft.com/office/drawing/2014/main" id="{8EA42780-460C-4A6E-BEC9-0AE068FA3BEA}"/>
              </a:ext>
            </a:extLst>
          </p:cNvPr>
          <p:cNvSpPr>
            <a:spLocks xmlns:a="http://schemas.openxmlformats.org/drawingml/2006/main" noGrp="1"/>
          </p:cNvSpPr>
          <p:nvPr/>
        </p:nvSpPr>
        <p:spPr>
          <a:xfrm xmlns:a="http://schemas.openxmlformats.org/drawingml/2006/main">
            <a:off x="685800" y="71437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4" name="Show the evidence, then measure the beha">
            <a:extLst xmlns:a="http://schemas.openxmlformats.org/drawingml/2006/main">
              <a:ext uri="{FF2B5EF4-FFF2-40B4-BE49-F238E27FC236}">
                <a16:creationId xmlns:a16="http://schemas.microsoft.com/office/drawing/2014/main" id="{552E31F4-A79C-4A13-B93C-D501F741236F}"/>
              </a:ext>
            </a:extLst>
          </p:cNvPr>
          <p:cNvSpPr>
            <a:spLocks xmlns:a="http://schemas.openxmlformats.org/drawingml/2006/main" noGrp="1"/>
          </p:cNvSpPr>
          <p:nvPr/>
        </p:nvSpPr>
        <p:spPr>
          <a:xfrm xmlns:a="http://schemas.openxmlformats.org/drawingml/2006/main">
            <a:off x="685800" y="990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821"/>
                </a:solidFill>
                <a:latin typeface="Avenir Next"/>
                <a:ea typeface="Avenir Next"/>
                <a:cs typeface="Avenir Next"/>
              </a:defRPr>
            </a:defPPr>
          </a:lstStyle>
          <a:p xmlns:a="http://schemas.openxmlformats.org/drawingml/2006/main">
            <a:pPr algn="l">
              <a:lnSpc>
                <a:spcPct val="98000"/>
              </a:lnSpc>
              <a:buNone/>
              <a:defRPr sz="3000" b="1">
                <a:solidFill>
                  <a:srgbClr val="172821"/>
                </a:solidFill>
                <a:latin typeface="Avenir Next"/>
                <a:ea typeface="Avenir Next"/>
                <a:cs typeface="Avenir Next"/>
              </a:defRPr>
            </a:pPr>
            <a:r>
              <a:rPr sz="3000" b="1">
                <a:solidFill>
                  <a:srgbClr val="172821"/>
                </a:solidFill>
                <a:latin typeface="Avenir Next"/>
                <a:ea typeface="Avenir Next"/>
                <a:cs typeface="Avenir Next"/>
              </a:rPr>
              <a:t>Show the evidence, then measure the behavior</a:t>
            </a:r>
          </a:p>
        </p:txBody>
      </p:sp>
      <p:sp>
        <p:nvSpPr>
          <p:cNvPr id="5" name="A short demo moves across both workflows">
            <a:extLst xmlns:a="http://schemas.openxmlformats.org/drawingml/2006/main">
              <a:ext uri="{FF2B5EF4-FFF2-40B4-BE49-F238E27FC236}">
                <a16:creationId xmlns:a16="http://schemas.microsoft.com/office/drawing/2014/main" id="{63B30839-E31B-4B78-9E0E-688485E22842}"/>
              </a:ext>
            </a:extLst>
          </p:cNvPr>
          <p:cNvSpPr>
            <a:spLocks xmlns:a="http://schemas.openxmlformats.org/drawingml/2006/main" noGrp="1"/>
          </p:cNvSpPr>
          <p:nvPr/>
        </p:nvSpPr>
        <p:spPr>
          <a:xfrm xmlns:a="http://schemas.openxmlformats.org/drawingml/2006/main">
            <a:off x="685800" y="1628775"/>
            <a:ext cx="1047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9675F"/>
                </a:solidFill>
                <a:latin typeface="Avenir Next"/>
                <a:ea typeface="Avenir Next"/>
                <a:cs typeface="Avenir Next"/>
              </a:defRPr>
            </a:defPPr>
          </a:lstStyle>
          <a:p xmlns:a="http://schemas.openxmlformats.org/drawingml/2006/main">
            <a:pPr algn="l">
              <a:lnSpc>
                <a:spcPct val="106000"/>
              </a:lnSpc>
              <a:buNone/>
              <a:defRPr sz="1350" b="0">
                <a:solidFill>
                  <a:srgbClr val="59675F"/>
                </a:solidFill>
                <a:latin typeface="Avenir Next"/>
                <a:ea typeface="Avenir Next"/>
                <a:cs typeface="Avenir Next"/>
              </a:defRPr>
            </a:pPr>
            <a:r>
              <a:rPr sz="1350" b="0">
                <a:solidFill>
                  <a:srgbClr val="59675F"/>
                </a:solidFill>
                <a:latin typeface="Avenir Next"/>
                <a:ea typeface="Avenir Next"/>
                <a:cs typeface="Avenir Next"/>
              </a:rPr>
              <a:t>A short demo moves across both workflows and includes a normal repeat payment.</a:t>
            </a:r>
          </a:p>
        </p:txBody>
      </p:sp>
      <p:sp>
        <p:nvSpPr>
          <p:cNvPr id="6" name="DEMO CASES">
            <a:extLst xmlns:a="http://schemas.openxmlformats.org/drawingml/2006/main">
              <a:ext uri="{FF2B5EF4-FFF2-40B4-BE49-F238E27FC236}">
                <a16:creationId xmlns:a16="http://schemas.microsoft.com/office/drawing/2014/main" id="{F9D680E4-B3BC-42AA-B244-A669CC4C41E6}"/>
              </a:ext>
            </a:extLst>
          </p:cNvPr>
          <p:cNvSpPr>
            <a:spLocks xmlns:a="http://schemas.openxmlformats.org/drawingml/2006/main" noGrp="1"/>
          </p:cNvSpPr>
          <p:nvPr/>
        </p:nvSpPr>
        <p:spPr>
          <a:xfrm xmlns:a="http://schemas.openxmlformats.org/drawingml/2006/main">
            <a:off x="685800" y="23145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6B4B"/>
                </a:solidFill>
                <a:latin typeface="Avenir Next"/>
                <a:ea typeface="Avenir Next"/>
                <a:cs typeface="Avenir Next"/>
              </a:defRPr>
            </a:defPPr>
          </a:lstStyle>
          <a:p xmlns:a="http://schemas.openxmlformats.org/drawingml/2006/main">
            <a:pPr algn="l">
              <a:lnSpc>
                <a:spcPct val="106000"/>
              </a:lnSpc>
              <a:buNone/>
              <a:defRPr sz="900" b="1">
                <a:solidFill>
                  <a:srgbClr val="176B4B"/>
                </a:solidFill>
                <a:latin typeface="Avenir Next"/>
                <a:ea typeface="Avenir Next"/>
                <a:cs typeface="Avenir Next"/>
              </a:defRPr>
            </a:pPr>
            <a:r>
              <a:rPr sz="900" b="1">
                <a:solidFill>
                  <a:srgbClr val="176B4B"/>
                </a:solidFill>
                <a:latin typeface="Avenir Next"/>
                <a:ea typeface="Avenir Next"/>
                <a:cs typeface="Avenir Next"/>
              </a:rPr>
              <a:t>DEMO CASES</a:t>
            </a:r>
          </a:p>
        </p:txBody>
      </p:sp>
      <p:sp>
        <p:nvSpPr>
          <p:cNvPr id="7" name="01">
            <a:extLst xmlns:a="http://schemas.openxmlformats.org/drawingml/2006/main">
              <a:ext uri="{FF2B5EF4-FFF2-40B4-BE49-F238E27FC236}">
                <a16:creationId xmlns:a16="http://schemas.microsoft.com/office/drawing/2014/main" id="{C2097F6D-9E7E-44FD-B6BF-A2BB29220CA2}"/>
              </a:ext>
            </a:extLst>
          </p:cNvPr>
          <p:cNvSpPr>
            <a:spLocks xmlns:a="http://schemas.openxmlformats.org/drawingml/2006/main" noGrp="1"/>
          </p:cNvSpPr>
          <p:nvPr/>
        </p:nvSpPr>
        <p:spPr>
          <a:xfrm xmlns:a="http://schemas.openxmlformats.org/drawingml/2006/main">
            <a:off x="685800" y="26479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BE7839"/>
                </a:solidFill>
                <a:latin typeface="Avenir Next"/>
                <a:ea typeface="Avenir Next"/>
                <a:cs typeface="Avenir Next"/>
              </a:defRPr>
            </a:defPPr>
          </a:lstStyle>
          <a:p xmlns:a="http://schemas.openxmlformats.org/drawingml/2006/main">
            <a:pPr algn="l">
              <a:lnSpc>
                <a:spcPct val="106000"/>
              </a:lnSpc>
              <a:buNone/>
              <a:defRPr sz="975" b="1">
                <a:solidFill>
                  <a:srgbClr val="BE7839"/>
                </a:solidFill>
                <a:latin typeface="Avenir Next"/>
                <a:ea typeface="Avenir Next"/>
                <a:cs typeface="Avenir Next"/>
              </a:defRPr>
            </a:pPr>
            <a:r>
              <a:rPr sz="975" b="1">
                <a:solidFill>
                  <a:srgbClr val="BE7839"/>
                </a:solidFill>
                <a:latin typeface="Avenir Next"/>
                <a:ea typeface="Avenir Next"/>
                <a:cs typeface="Avenir Next"/>
              </a:rPr>
              <a:t>01</a:t>
            </a:r>
          </a:p>
        </p:txBody>
      </p:sp>
      <p:sp>
        <p:nvSpPr>
          <p:cNvPr id="8" name="Safe-account message, new UPI recipient">
            <a:extLst xmlns:a="http://schemas.openxmlformats.org/drawingml/2006/main">
              <a:ext uri="{FF2B5EF4-FFF2-40B4-BE49-F238E27FC236}">
                <a16:creationId xmlns:a16="http://schemas.microsoft.com/office/drawing/2014/main" id="{93EE12FD-5FDF-42F7-A673-F584040B2946}"/>
              </a:ext>
            </a:extLst>
          </p:cNvPr>
          <p:cNvSpPr>
            <a:spLocks xmlns:a="http://schemas.openxmlformats.org/drawingml/2006/main" noGrp="1"/>
          </p:cNvSpPr>
          <p:nvPr/>
        </p:nvSpPr>
        <p:spPr>
          <a:xfrm xmlns:a="http://schemas.openxmlformats.org/drawingml/2006/main">
            <a:off x="1219200" y="26479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72821"/>
                </a:solidFill>
                <a:latin typeface="Avenir Next"/>
                <a:ea typeface="Avenir Next"/>
                <a:cs typeface="Avenir Next"/>
              </a:defRPr>
            </a:defPPr>
          </a:lstStyle>
          <a:p xmlns:a="http://schemas.openxmlformats.org/drawingml/2006/main">
            <a:pPr algn="l">
              <a:lnSpc>
                <a:spcPct val="106000"/>
              </a:lnSpc>
              <a:buNone/>
              <a:defRPr sz="1125" b="0">
                <a:solidFill>
                  <a:srgbClr val="172821"/>
                </a:solidFill>
                <a:latin typeface="Avenir Next"/>
                <a:ea typeface="Avenir Next"/>
                <a:cs typeface="Avenir Next"/>
              </a:defRPr>
            </a:pPr>
            <a:r>
              <a:rPr sz="1125" b="0">
                <a:solidFill>
                  <a:srgbClr val="172821"/>
                </a:solidFill>
                <a:latin typeface="Avenir Next"/>
                <a:ea typeface="Avenir Next"/>
                <a:cs typeface="Avenir Next"/>
              </a:rPr>
              <a:t>Safe-account message, new UPI recipient</a:t>
            </a:r>
          </a:p>
        </p:txBody>
      </p:sp>
      <p:sp>
        <p:nvSpPr>
          <p:cNvPr id="9" name="REVIEW">
            <a:extLst xmlns:a="http://schemas.openxmlformats.org/drawingml/2006/main">
              <a:ext uri="{FF2B5EF4-FFF2-40B4-BE49-F238E27FC236}">
                <a16:creationId xmlns:a16="http://schemas.microsoft.com/office/drawing/2014/main" id="{2929DB3A-EB26-4CFF-B196-ED3A6C80FACD}"/>
              </a:ext>
            </a:extLst>
          </p:cNvPr>
          <p:cNvSpPr>
            <a:spLocks xmlns:a="http://schemas.openxmlformats.org/drawingml/2006/main" noGrp="1"/>
          </p:cNvSpPr>
          <p:nvPr/>
        </p:nvSpPr>
        <p:spPr>
          <a:xfrm xmlns:a="http://schemas.openxmlformats.org/drawingml/2006/main">
            <a:off x="4905375" y="26479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1">
                <a:solidFill>
                  <a:srgbClr val="9F4E3B"/>
                </a:solidFill>
                <a:latin typeface="Avenir Next"/>
                <a:ea typeface="Avenir Next"/>
                <a:cs typeface="Avenir Next"/>
              </a:defRPr>
            </a:defPPr>
          </a:lstStyle>
          <a:p xmlns:a="http://schemas.openxmlformats.org/drawingml/2006/main">
            <a:pPr algn="r">
              <a:lnSpc>
                <a:spcPct val="106000"/>
              </a:lnSpc>
              <a:buNone/>
              <a:defRPr sz="750" b="1">
                <a:solidFill>
                  <a:srgbClr val="9F4E3B"/>
                </a:solidFill>
                <a:latin typeface="Avenir Next"/>
                <a:ea typeface="Avenir Next"/>
                <a:cs typeface="Avenir Next"/>
              </a:defRPr>
            </a:pPr>
            <a:r>
              <a:rPr sz="750" b="1">
                <a:solidFill>
                  <a:srgbClr val="9F4E3B"/>
                </a:solidFill>
                <a:latin typeface="Avenir Next"/>
                <a:ea typeface="Avenir Next"/>
                <a:cs typeface="Avenir Next"/>
              </a:rPr>
              <a:t>REVIEW</a:t>
            </a:r>
          </a:p>
        </p:txBody>
      </p:sp>
      <p:sp>
        <p:nvSpPr>
          <p:cNvPr id="10" name="">
            <a:extLst xmlns:a="http://schemas.openxmlformats.org/drawingml/2006/main">
              <a:ext uri="{FF2B5EF4-FFF2-40B4-BE49-F238E27FC236}">
                <a16:creationId xmlns:a16="http://schemas.microsoft.com/office/drawing/2014/main" id="{B107E460-DF76-403D-8404-9CDD890561C6}"/>
              </a:ext>
            </a:extLst>
          </p:cNvPr>
          <p:cNvSpPr>
            <a:spLocks xmlns:a="http://schemas.openxmlformats.org/drawingml/2006/main" noGrp="1"/>
          </p:cNvSpPr>
          <p:nvPr/>
        </p:nvSpPr>
        <p:spPr>
          <a:xfrm xmlns:a="http://schemas.openxmlformats.org/drawingml/2006/main">
            <a:off x="685800" y="2952750"/>
            <a:ext cx="5229225"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1" name="02">
            <a:extLst xmlns:a="http://schemas.openxmlformats.org/drawingml/2006/main">
              <a:ext uri="{FF2B5EF4-FFF2-40B4-BE49-F238E27FC236}">
                <a16:creationId xmlns:a16="http://schemas.microsoft.com/office/drawing/2014/main" id="{A09BF9A6-C3D3-4E28-BA4A-10207312A040}"/>
              </a:ext>
            </a:extLst>
          </p:cNvPr>
          <p:cNvSpPr>
            <a:spLocks xmlns:a="http://schemas.openxmlformats.org/drawingml/2006/main" noGrp="1"/>
          </p:cNvSpPr>
          <p:nvPr/>
        </p:nvSpPr>
        <p:spPr>
          <a:xfrm xmlns:a="http://schemas.openxmlformats.org/drawingml/2006/main">
            <a:off x="685800" y="30480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BE7839"/>
                </a:solidFill>
                <a:latin typeface="Avenir Next"/>
                <a:ea typeface="Avenir Next"/>
                <a:cs typeface="Avenir Next"/>
              </a:defRPr>
            </a:defPPr>
          </a:lstStyle>
          <a:p xmlns:a="http://schemas.openxmlformats.org/drawingml/2006/main">
            <a:pPr algn="l">
              <a:lnSpc>
                <a:spcPct val="106000"/>
              </a:lnSpc>
              <a:buNone/>
              <a:defRPr sz="975" b="1">
                <a:solidFill>
                  <a:srgbClr val="BE7839"/>
                </a:solidFill>
                <a:latin typeface="Avenir Next"/>
                <a:ea typeface="Avenir Next"/>
                <a:cs typeface="Avenir Next"/>
              </a:defRPr>
            </a:pPr>
            <a:r>
              <a:rPr sz="975" b="1">
                <a:solidFill>
                  <a:srgbClr val="BE7839"/>
                </a:solidFill>
                <a:latin typeface="Avenir Next"/>
                <a:ea typeface="Avenir Next"/>
                <a:cs typeface="Avenir Next"/>
              </a:rPr>
              <a:t>02</a:t>
            </a:r>
          </a:p>
        </p:txBody>
      </p:sp>
      <p:sp>
        <p:nvSpPr>
          <p:cNvPr id="12" name="Legitimate large consumer payment">
            <a:extLst xmlns:a="http://schemas.openxmlformats.org/drawingml/2006/main">
              <a:ext uri="{FF2B5EF4-FFF2-40B4-BE49-F238E27FC236}">
                <a16:creationId xmlns:a16="http://schemas.microsoft.com/office/drawing/2014/main" id="{77B29F8F-1678-4DAB-B742-F3DFA9421923}"/>
              </a:ext>
            </a:extLst>
          </p:cNvPr>
          <p:cNvSpPr>
            <a:spLocks xmlns:a="http://schemas.openxmlformats.org/drawingml/2006/main" noGrp="1"/>
          </p:cNvSpPr>
          <p:nvPr/>
        </p:nvSpPr>
        <p:spPr>
          <a:xfrm xmlns:a="http://schemas.openxmlformats.org/drawingml/2006/main">
            <a:off x="1219200" y="3048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72821"/>
                </a:solidFill>
                <a:latin typeface="Avenir Next"/>
                <a:ea typeface="Avenir Next"/>
                <a:cs typeface="Avenir Next"/>
              </a:defRPr>
            </a:defPPr>
          </a:lstStyle>
          <a:p xmlns:a="http://schemas.openxmlformats.org/drawingml/2006/main">
            <a:pPr algn="l">
              <a:lnSpc>
                <a:spcPct val="106000"/>
              </a:lnSpc>
              <a:buNone/>
              <a:defRPr sz="1125" b="0">
                <a:solidFill>
                  <a:srgbClr val="172821"/>
                </a:solidFill>
                <a:latin typeface="Avenir Next"/>
                <a:ea typeface="Avenir Next"/>
                <a:cs typeface="Avenir Next"/>
              </a:defRPr>
            </a:pPr>
            <a:r>
              <a:rPr sz="1125" b="0">
                <a:solidFill>
                  <a:srgbClr val="172821"/>
                </a:solidFill>
                <a:latin typeface="Avenir Next"/>
                <a:ea typeface="Avenir Next"/>
                <a:cs typeface="Avenir Next"/>
              </a:rPr>
              <a:t>Legitimate large consumer payment</a:t>
            </a:r>
          </a:p>
        </p:txBody>
      </p:sp>
      <p:sp>
        <p:nvSpPr>
          <p:cNvPr id="13" name="VERIFY">
            <a:extLst xmlns:a="http://schemas.openxmlformats.org/drawingml/2006/main">
              <a:ext uri="{FF2B5EF4-FFF2-40B4-BE49-F238E27FC236}">
                <a16:creationId xmlns:a16="http://schemas.microsoft.com/office/drawing/2014/main" id="{10D5DDE5-C2CB-4C27-8C12-40EB63FB8124}"/>
              </a:ext>
            </a:extLst>
          </p:cNvPr>
          <p:cNvSpPr>
            <a:spLocks xmlns:a="http://schemas.openxmlformats.org/drawingml/2006/main" noGrp="1"/>
          </p:cNvSpPr>
          <p:nvPr/>
        </p:nvSpPr>
        <p:spPr>
          <a:xfrm xmlns:a="http://schemas.openxmlformats.org/drawingml/2006/main">
            <a:off x="4905375" y="30480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1">
                <a:solidFill>
                  <a:srgbClr val="176B4B"/>
                </a:solidFill>
                <a:latin typeface="Avenir Next"/>
                <a:ea typeface="Avenir Next"/>
                <a:cs typeface="Avenir Next"/>
              </a:defRPr>
            </a:defPPr>
          </a:lstStyle>
          <a:p xmlns:a="http://schemas.openxmlformats.org/drawingml/2006/main">
            <a:pPr algn="r">
              <a:lnSpc>
                <a:spcPct val="106000"/>
              </a:lnSpc>
              <a:buNone/>
              <a:defRPr sz="750" b="1">
                <a:solidFill>
                  <a:srgbClr val="176B4B"/>
                </a:solidFill>
                <a:latin typeface="Avenir Next"/>
                <a:ea typeface="Avenir Next"/>
                <a:cs typeface="Avenir Next"/>
              </a:defRPr>
            </a:pPr>
            <a:r>
              <a:rPr sz="750" b="1">
                <a:solidFill>
                  <a:srgbClr val="176B4B"/>
                </a:solidFill>
                <a:latin typeface="Avenir Next"/>
                <a:ea typeface="Avenir Next"/>
                <a:cs typeface="Avenir Next"/>
              </a:rPr>
              <a:t>VERIFY</a:t>
            </a:r>
          </a:p>
        </p:txBody>
      </p:sp>
      <p:sp>
        <p:nvSpPr>
          <p:cNvPr id="14" name="">
            <a:extLst xmlns:a="http://schemas.openxmlformats.org/drawingml/2006/main">
              <a:ext uri="{FF2B5EF4-FFF2-40B4-BE49-F238E27FC236}">
                <a16:creationId xmlns:a16="http://schemas.microsoft.com/office/drawing/2014/main" id="{5AAEAB77-DC02-4F42-B1EB-D3C93347EBF0}"/>
              </a:ext>
            </a:extLst>
          </p:cNvPr>
          <p:cNvSpPr>
            <a:spLocks xmlns:a="http://schemas.openxmlformats.org/drawingml/2006/main" noGrp="1"/>
          </p:cNvSpPr>
          <p:nvPr/>
        </p:nvSpPr>
        <p:spPr>
          <a:xfrm xmlns:a="http://schemas.openxmlformats.org/drawingml/2006/main">
            <a:off x="685800" y="3352800"/>
            <a:ext cx="5229225"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5" name="03">
            <a:extLst xmlns:a="http://schemas.openxmlformats.org/drawingml/2006/main">
              <a:ext uri="{FF2B5EF4-FFF2-40B4-BE49-F238E27FC236}">
                <a16:creationId xmlns:a16="http://schemas.microsoft.com/office/drawing/2014/main" id="{ADEE0CC2-F9BD-4BD5-B2A9-04FF0C523D97}"/>
              </a:ext>
            </a:extLst>
          </p:cNvPr>
          <p:cNvSpPr>
            <a:spLocks xmlns:a="http://schemas.openxmlformats.org/drawingml/2006/main" noGrp="1"/>
          </p:cNvSpPr>
          <p:nvPr/>
        </p:nvSpPr>
        <p:spPr>
          <a:xfrm xmlns:a="http://schemas.openxmlformats.org/drawingml/2006/main">
            <a:off x="685800" y="34480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BE7839"/>
                </a:solidFill>
                <a:latin typeface="Avenir Next"/>
                <a:ea typeface="Avenir Next"/>
                <a:cs typeface="Avenir Next"/>
              </a:defRPr>
            </a:defPPr>
          </a:lstStyle>
          <a:p xmlns:a="http://schemas.openxmlformats.org/drawingml/2006/main">
            <a:pPr algn="l">
              <a:lnSpc>
                <a:spcPct val="106000"/>
              </a:lnSpc>
              <a:buNone/>
              <a:defRPr sz="975" b="1">
                <a:solidFill>
                  <a:srgbClr val="BE7839"/>
                </a:solidFill>
                <a:latin typeface="Avenir Next"/>
                <a:ea typeface="Avenir Next"/>
                <a:cs typeface="Avenir Next"/>
              </a:defRPr>
            </a:pPr>
            <a:r>
              <a:rPr sz="975" b="1">
                <a:solidFill>
                  <a:srgbClr val="BE7839"/>
                </a:solidFill>
                <a:latin typeface="Avenir Next"/>
                <a:ea typeface="Avenir Next"/>
                <a:cs typeface="Avenir Next"/>
              </a:rPr>
              <a:t>03</a:t>
            </a:r>
          </a:p>
        </p:txBody>
      </p:sp>
      <p:sp>
        <p:nvSpPr>
          <p:cNvPr id="16" name="Urgent, ambiguous family request">
            <a:extLst xmlns:a="http://schemas.openxmlformats.org/drawingml/2006/main">
              <a:ext uri="{FF2B5EF4-FFF2-40B4-BE49-F238E27FC236}">
                <a16:creationId xmlns:a16="http://schemas.microsoft.com/office/drawing/2014/main" id="{32183C97-6AA0-4DD5-A2E6-80CAFFA04E4A}"/>
              </a:ext>
            </a:extLst>
          </p:cNvPr>
          <p:cNvSpPr>
            <a:spLocks xmlns:a="http://schemas.openxmlformats.org/drawingml/2006/main" noGrp="1"/>
          </p:cNvSpPr>
          <p:nvPr/>
        </p:nvSpPr>
        <p:spPr>
          <a:xfrm xmlns:a="http://schemas.openxmlformats.org/drawingml/2006/main">
            <a:off x="1219200" y="34480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72821"/>
                </a:solidFill>
                <a:latin typeface="Avenir Next"/>
                <a:ea typeface="Avenir Next"/>
                <a:cs typeface="Avenir Next"/>
              </a:defRPr>
            </a:defPPr>
          </a:lstStyle>
          <a:p xmlns:a="http://schemas.openxmlformats.org/drawingml/2006/main">
            <a:pPr algn="l">
              <a:lnSpc>
                <a:spcPct val="106000"/>
              </a:lnSpc>
              <a:buNone/>
              <a:defRPr sz="1125" b="0">
                <a:solidFill>
                  <a:srgbClr val="172821"/>
                </a:solidFill>
                <a:latin typeface="Avenir Next"/>
                <a:ea typeface="Avenir Next"/>
                <a:cs typeface="Avenir Next"/>
              </a:defRPr>
            </a:pPr>
            <a:r>
              <a:rPr sz="1125" b="0">
                <a:solidFill>
                  <a:srgbClr val="172821"/>
                </a:solidFill>
                <a:latin typeface="Avenir Next"/>
                <a:ea typeface="Avenir Next"/>
                <a:cs typeface="Avenir Next"/>
              </a:rPr>
              <a:t>Urgent, ambiguous family request</a:t>
            </a:r>
          </a:p>
        </p:txBody>
      </p:sp>
      <p:sp>
        <p:nvSpPr>
          <p:cNvPr id="17" name="VERIFY">
            <a:extLst xmlns:a="http://schemas.openxmlformats.org/drawingml/2006/main">
              <a:ext uri="{FF2B5EF4-FFF2-40B4-BE49-F238E27FC236}">
                <a16:creationId xmlns:a16="http://schemas.microsoft.com/office/drawing/2014/main" id="{EBA60CDE-0539-4D12-8CEA-71EDD76B4BAE}"/>
              </a:ext>
            </a:extLst>
          </p:cNvPr>
          <p:cNvSpPr>
            <a:spLocks xmlns:a="http://schemas.openxmlformats.org/drawingml/2006/main" noGrp="1"/>
          </p:cNvSpPr>
          <p:nvPr/>
        </p:nvSpPr>
        <p:spPr>
          <a:xfrm xmlns:a="http://schemas.openxmlformats.org/drawingml/2006/main">
            <a:off x="4905375" y="34480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1">
                <a:solidFill>
                  <a:srgbClr val="176B4B"/>
                </a:solidFill>
                <a:latin typeface="Avenir Next"/>
                <a:ea typeface="Avenir Next"/>
                <a:cs typeface="Avenir Next"/>
              </a:defRPr>
            </a:defPPr>
          </a:lstStyle>
          <a:p xmlns:a="http://schemas.openxmlformats.org/drawingml/2006/main">
            <a:pPr algn="r">
              <a:lnSpc>
                <a:spcPct val="106000"/>
              </a:lnSpc>
              <a:buNone/>
              <a:defRPr sz="750" b="1">
                <a:solidFill>
                  <a:srgbClr val="176B4B"/>
                </a:solidFill>
                <a:latin typeface="Avenir Next"/>
                <a:ea typeface="Avenir Next"/>
                <a:cs typeface="Avenir Next"/>
              </a:defRPr>
            </a:pPr>
            <a:r>
              <a:rPr sz="750" b="1">
                <a:solidFill>
                  <a:srgbClr val="176B4B"/>
                </a:solidFill>
                <a:latin typeface="Avenir Next"/>
                <a:ea typeface="Avenir Next"/>
                <a:cs typeface="Avenir Next"/>
              </a:rPr>
              <a:t>VERIFY</a:t>
            </a:r>
          </a:p>
        </p:txBody>
      </p:sp>
      <p:sp>
        <p:nvSpPr>
          <p:cNvPr id="18" name="">
            <a:extLst xmlns:a="http://schemas.openxmlformats.org/drawingml/2006/main">
              <a:ext uri="{FF2B5EF4-FFF2-40B4-BE49-F238E27FC236}">
                <a16:creationId xmlns:a16="http://schemas.microsoft.com/office/drawing/2014/main" id="{DF22DED8-BB4B-4636-88A9-2D45BD5C0FCB}"/>
              </a:ext>
            </a:extLst>
          </p:cNvPr>
          <p:cNvSpPr>
            <a:spLocks xmlns:a="http://schemas.openxmlformats.org/drawingml/2006/main" noGrp="1"/>
          </p:cNvSpPr>
          <p:nvPr/>
        </p:nvSpPr>
        <p:spPr>
          <a:xfrm xmlns:a="http://schemas.openxmlformats.org/drawingml/2006/main">
            <a:off x="685800" y="3752850"/>
            <a:ext cx="5229225"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9" name="04">
            <a:extLst xmlns:a="http://schemas.openxmlformats.org/drawingml/2006/main">
              <a:ext uri="{FF2B5EF4-FFF2-40B4-BE49-F238E27FC236}">
                <a16:creationId xmlns:a16="http://schemas.microsoft.com/office/drawing/2014/main" id="{1C4F0C48-32E9-46B2-A161-C9967264FE5F}"/>
              </a:ext>
            </a:extLst>
          </p:cNvPr>
          <p:cNvSpPr>
            <a:spLocks xmlns:a="http://schemas.openxmlformats.org/drawingml/2006/main" noGrp="1"/>
          </p:cNvSpPr>
          <p:nvPr/>
        </p:nvSpPr>
        <p:spPr>
          <a:xfrm xmlns:a="http://schemas.openxmlformats.org/drawingml/2006/main">
            <a:off x="685800" y="3848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BE7839"/>
                </a:solidFill>
                <a:latin typeface="Avenir Next"/>
                <a:ea typeface="Avenir Next"/>
                <a:cs typeface="Avenir Next"/>
              </a:defRPr>
            </a:defPPr>
          </a:lstStyle>
          <a:p xmlns:a="http://schemas.openxmlformats.org/drawingml/2006/main">
            <a:pPr algn="l">
              <a:lnSpc>
                <a:spcPct val="106000"/>
              </a:lnSpc>
              <a:buNone/>
              <a:defRPr sz="975" b="1">
                <a:solidFill>
                  <a:srgbClr val="BE7839"/>
                </a:solidFill>
                <a:latin typeface="Avenir Next"/>
                <a:ea typeface="Avenir Next"/>
                <a:cs typeface="Avenir Next"/>
              </a:defRPr>
            </a:pPr>
            <a:r>
              <a:rPr sz="975" b="1">
                <a:solidFill>
                  <a:srgbClr val="BE7839"/>
                </a:solidFill>
                <a:latin typeface="Avenir Next"/>
                <a:ea typeface="Avenir Next"/>
                <a:cs typeface="Avenir Next"/>
              </a:rPr>
              <a:t>04</a:t>
            </a:r>
          </a:p>
        </p:txBody>
      </p:sp>
      <p:sp>
        <p:nvSpPr>
          <p:cNvPr id="20" name="Invoice with changed vendor account">
            <a:extLst xmlns:a="http://schemas.openxmlformats.org/drawingml/2006/main">
              <a:ext uri="{FF2B5EF4-FFF2-40B4-BE49-F238E27FC236}">
                <a16:creationId xmlns:a16="http://schemas.microsoft.com/office/drawing/2014/main" id="{8E5860E5-4BF8-4428-A2AB-F5F5CAEDA6D3}"/>
              </a:ext>
            </a:extLst>
          </p:cNvPr>
          <p:cNvSpPr>
            <a:spLocks xmlns:a="http://schemas.openxmlformats.org/drawingml/2006/main" noGrp="1"/>
          </p:cNvSpPr>
          <p:nvPr/>
        </p:nvSpPr>
        <p:spPr>
          <a:xfrm xmlns:a="http://schemas.openxmlformats.org/drawingml/2006/main">
            <a:off x="1219200" y="38481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72821"/>
                </a:solidFill>
                <a:latin typeface="Avenir Next"/>
                <a:ea typeface="Avenir Next"/>
                <a:cs typeface="Avenir Next"/>
              </a:defRPr>
            </a:defPPr>
          </a:lstStyle>
          <a:p xmlns:a="http://schemas.openxmlformats.org/drawingml/2006/main">
            <a:pPr algn="l">
              <a:lnSpc>
                <a:spcPct val="106000"/>
              </a:lnSpc>
              <a:buNone/>
              <a:defRPr sz="1125" b="0">
                <a:solidFill>
                  <a:srgbClr val="172821"/>
                </a:solidFill>
                <a:latin typeface="Avenir Next"/>
                <a:ea typeface="Avenir Next"/>
                <a:cs typeface="Avenir Next"/>
              </a:defRPr>
            </a:pPr>
            <a:r>
              <a:rPr sz="1125" b="0">
                <a:solidFill>
                  <a:srgbClr val="172821"/>
                </a:solidFill>
                <a:latin typeface="Avenir Next"/>
                <a:ea typeface="Avenir Next"/>
                <a:cs typeface="Avenir Next"/>
              </a:rPr>
              <a:t>Invoice with changed vendor account</a:t>
            </a:r>
          </a:p>
        </p:txBody>
      </p:sp>
      <p:sp>
        <p:nvSpPr>
          <p:cNvPr id="21" name="REVIEW">
            <a:extLst xmlns:a="http://schemas.openxmlformats.org/drawingml/2006/main">
              <a:ext uri="{FF2B5EF4-FFF2-40B4-BE49-F238E27FC236}">
                <a16:creationId xmlns:a16="http://schemas.microsoft.com/office/drawing/2014/main" id="{5CBA0D0D-8AF6-4799-AB80-3FCC2063924A}"/>
              </a:ext>
            </a:extLst>
          </p:cNvPr>
          <p:cNvSpPr>
            <a:spLocks xmlns:a="http://schemas.openxmlformats.org/drawingml/2006/main" noGrp="1"/>
          </p:cNvSpPr>
          <p:nvPr/>
        </p:nvSpPr>
        <p:spPr>
          <a:xfrm xmlns:a="http://schemas.openxmlformats.org/drawingml/2006/main">
            <a:off x="4905375" y="3848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1">
                <a:solidFill>
                  <a:srgbClr val="9F4E3B"/>
                </a:solidFill>
                <a:latin typeface="Avenir Next"/>
                <a:ea typeface="Avenir Next"/>
                <a:cs typeface="Avenir Next"/>
              </a:defRPr>
            </a:defPPr>
          </a:lstStyle>
          <a:p xmlns:a="http://schemas.openxmlformats.org/drawingml/2006/main">
            <a:pPr algn="r">
              <a:lnSpc>
                <a:spcPct val="106000"/>
              </a:lnSpc>
              <a:buNone/>
              <a:defRPr sz="750" b="1">
                <a:solidFill>
                  <a:srgbClr val="9F4E3B"/>
                </a:solidFill>
                <a:latin typeface="Avenir Next"/>
                <a:ea typeface="Avenir Next"/>
                <a:cs typeface="Avenir Next"/>
              </a:defRPr>
            </a:pPr>
            <a:r>
              <a:rPr sz="750" b="1">
                <a:solidFill>
                  <a:srgbClr val="9F4E3B"/>
                </a:solidFill>
                <a:latin typeface="Avenir Next"/>
                <a:ea typeface="Avenir Next"/>
                <a:cs typeface="Avenir Next"/>
              </a:rPr>
              <a:t>REVIEW</a:t>
            </a:r>
          </a:p>
        </p:txBody>
      </p:sp>
      <p:sp>
        <p:nvSpPr>
          <p:cNvPr id="22" name="">
            <a:extLst xmlns:a="http://schemas.openxmlformats.org/drawingml/2006/main">
              <a:ext uri="{FF2B5EF4-FFF2-40B4-BE49-F238E27FC236}">
                <a16:creationId xmlns:a16="http://schemas.microsoft.com/office/drawing/2014/main" id="{4EA61372-2627-4B3A-8785-28BF27DC86EF}"/>
              </a:ext>
            </a:extLst>
          </p:cNvPr>
          <p:cNvSpPr>
            <a:spLocks xmlns:a="http://schemas.openxmlformats.org/drawingml/2006/main" noGrp="1"/>
          </p:cNvSpPr>
          <p:nvPr/>
        </p:nvSpPr>
        <p:spPr>
          <a:xfrm xmlns:a="http://schemas.openxmlformats.org/drawingml/2006/main">
            <a:off x="685800" y="4152900"/>
            <a:ext cx="5229225"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23" name="05">
            <a:extLst xmlns:a="http://schemas.openxmlformats.org/drawingml/2006/main">
              <a:ext uri="{FF2B5EF4-FFF2-40B4-BE49-F238E27FC236}">
                <a16:creationId xmlns:a16="http://schemas.microsoft.com/office/drawing/2014/main" id="{629870B3-D405-43C9-BB15-7F5A346800CB}"/>
              </a:ext>
            </a:extLst>
          </p:cNvPr>
          <p:cNvSpPr>
            <a:spLocks xmlns:a="http://schemas.openxmlformats.org/drawingml/2006/main" noGrp="1"/>
          </p:cNvSpPr>
          <p:nvPr/>
        </p:nvSpPr>
        <p:spPr>
          <a:xfrm xmlns:a="http://schemas.openxmlformats.org/drawingml/2006/main">
            <a:off x="685800" y="42481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BE7839"/>
                </a:solidFill>
                <a:latin typeface="Avenir Next"/>
                <a:ea typeface="Avenir Next"/>
                <a:cs typeface="Avenir Next"/>
              </a:defRPr>
            </a:defPPr>
          </a:lstStyle>
          <a:p xmlns:a="http://schemas.openxmlformats.org/drawingml/2006/main">
            <a:pPr algn="l">
              <a:lnSpc>
                <a:spcPct val="106000"/>
              </a:lnSpc>
              <a:buNone/>
              <a:defRPr sz="975" b="1">
                <a:solidFill>
                  <a:srgbClr val="BE7839"/>
                </a:solidFill>
                <a:latin typeface="Avenir Next"/>
                <a:ea typeface="Avenir Next"/>
                <a:cs typeface="Avenir Next"/>
              </a:defRPr>
            </a:pPr>
            <a:r>
              <a:rPr sz="975" b="1">
                <a:solidFill>
                  <a:srgbClr val="BE7839"/>
                </a:solidFill>
                <a:latin typeface="Avenir Next"/>
                <a:ea typeface="Avenir Next"/>
                <a:cs typeface="Avenir Next"/>
              </a:rPr>
              <a:t>05</a:t>
            </a:r>
          </a:p>
        </p:txBody>
      </p:sp>
      <p:sp>
        <p:nvSpPr>
          <p:cNvPr id="24" name="Repeat invoice, matching account">
            <a:extLst xmlns:a="http://schemas.openxmlformats.org/drawingml/2006/main">
              <a:ext uri="{FF2B5EF4-FFF2-40B4-BE49-F238E27FC236}">
                <a16:creationId xmlns:a16="http://schemas.microsoft.com/office/drawing/2014/main" id="{467BC5D9-6E51-4375-84A1-0BC6B6D7388E}"/>
              </a:ext>
            </a:extLst>
          </p:cNvPr>
          <p:cNvSpPr>
            <a:spLocks xmlns:a="http://schemas.openxmlformats.org/drawingml/2006/main" noGrp="1"/>
          </p:cNvSpPr>
          <p:nvPr/>
        </p:nvSpPr>
        <p:spPr>
          <a:xfrm xmlns:a="http://schemas.openxmlformats.org/drawingml/2006/main">
            <a:off x="1219200" y="42481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72821"/>
                </a:solidFill>
                <a:latin typeface="Avenir Next"/>
                <a:ea typeface="Avenir Next"/>
                <a:cs typeface="Avenir Next"/>
              </a:defRPr>
            </a:defPPr>
          </a:lstStyle>
          <a:p xmlns:a="http://schemas.openxmlformats.org/drawingml/2006/main">
            <a:pPr algn="l">
              <a:lnSpc>
                <a:spcPct val="106000"/>
              </a:lnSpc>
              <a:buNone/>
              <a:defRPr sz="1125" b="0">
                <a:solidFill>
                  <a:srgbClr val="172821"/>
                </a:solidFill>
                <a:latin typeface="Avenir Next"/>
                <a:ea typeface="Avenir Next"/>
                <a:cs typeface="Avenir Next"/>
              </a:defRPr>
            </a:pPr>
            <a:r>
              <a:rPr sz="1125" b="0">
                <a:solidFill>
                  <a:srgbClr val="172821"/>
                </a:solidFill>
                <a:latin typeface="Avenir Next"/>
                <a:ea typeface="Avenir Next"/>
                <a:cs typeface="Avenir Next"/>
              </a:rPr>
              <a:t>Repeat invoice, matching account</a:t>
            </a:r>
          </a:p>
        </p:txBody>
      </p:sp>
      <p:sp>
        <p:nvSpPr>
          <p:cNvPr id="25" name="CONTINUE">
            <a:extLst xmlns:a="http://schemas.openxmlformats.org/drawingml/2006/main">
              <a:ext uri="{FF2B5EF4-FFF2-40B4-BE49-F238E27FC236}">
                <a16:creationId xmlns:a16="http://schemas.microsoft.com/office/drawing/2014/main" id="{0F349258-DBEA-40C3-A799-9F8554D86440}"/>
              </a:ext>
            </a:extLst>
          </p:cNvPr>
          <p:cNvSpPr>
            <a:spLocks xmlns:a="http://schemas.openxmlformats.org/drawingml/2006/main" noGrp="1"/>
          </p:cNvSpPr>
          <p:nvPr/>
        </p:nvSpPr>
        <p:spPr>
          <a:xfrm xmlns:a="http://schemas.openxmlformats.org/drawingml/2006/main">
            <a:off x="4905375" y="42481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1">
                <a:solidFill>
                  <a:srgbClr val="176B4B"/>
                </a:solidFill>
                <a:latin typeface="Avenir Next"/>
                <a:ea typeface="Avenir Next"/>
                <a:cs typeface="Avenir Next"/>
              </a:defRPr>
            </a:defPPr>
          </a:lstStyle>
          <a:p xmlns:a="http://schemas.openxmlformats.org/drawingml/2006/main">
            <a:pPr algn="r">
              <a:lnSpc>
                <a:spcPct val="106000"/>
              </a:lnSpc>
              <a:buNone/>
              <a:defRPr sz="750" b="1">
                <a:solidFill>
                  <a:srgbClr val="176B4B"/>
                </a:solidFill>
                <a:latin typeface="Avenir Next"/>
                <a:ea typeface="Avenir Next"/>
                <a:cs typeface="Avenir Next"/>
              </a:defRPr>
            </a:pPr>
            <a:r>
              <a:rPr sz="750" b="1">
                <a:solidFill>
                  <a:srgbClr val="176B4B"/>
                </a:solidFill>
                <a:latin typeface="Avenir Next"/>
                <a:ea typeface="Avenir Next"/>
                <a:cs typeface="Avenir Next"/>
              </a:rPr>
              <a:t>CONTINUE</a:t>
            </a:r>
          </a:p>
        </p:txBody>
      </p:sp>
      <p:sp>
        <p:nvSpPr>
          <p:cNvPr id="26" name="">
            <a:extLst xmlns:a="http://schemas.openxmlformats.org/drawingml/2006/main">
              <a:ext uri="{FF2B5EF4-FFF2-40B4-BE49-F238E27FC236}">
                <a16:creationId xmlns:a16="http://schemas.microsoft.com/office/drawing/2014/main" id="{30FDA177-3A4E-4757-9FEF-AA7AD39D91D5}"/>
              </a:ext>
            </a:extLst>
          </p:cNvPr>
          <p:cNvSpPr>
            <a:spLocks xmlns:a="http://schemas.openxmlformats.org/drawingml/2006/main" noGrp="1"/>
          </p:cNvSpPr>
          <p:nvPr/>
        </p:nvSpPr>
        <p:spPr>
          <a:xfrm xmlns:a="http://schemas.openxmlformats.org/drawingml/2006/main">
            <a:off x="685800" y="4552950"/>
            <a:ext cx="5229225"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27" name="06">
            <a:extLst xmlns:a="http://schemas.openxmlformats.org/drawingml/2006/main">
              <a:ext uri="{FF2B5EF4-FFF2-40B4-BE49-F238E27FC236}">
                <a16:creationId xmlns:a16="http://schemas.microsoft.com/office/drawing/2014/main" id="{7A5C9A8C-0BE6-4264-9A57-1EA568196DD2}"/>
              </a:ext>
            </a:extLst>
          </p:cNvPr>
          <p:cNvSpPr>
            <a:spLocks xmlns:a="http://schemas.openxmlformats.org/drawingml/2006/main" noGrp="1"/>
          </p:cNvSpPr>
          <p:nvPr/>
        </p:nvSpPr>
        <p:spPr>
          <a:xfrm xmlns:a="http://schemas.openxmlformats.org/drawingml/2006/main">
            <a:off x="685800" y="4648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BE7839"/>
                </a:solidFill>
                <a:latin typeface="Avenir Next"/>
                <a:ea typeface="Avenir Next"/>
                <a:cs typeface="Avenir Next"/>
              </a:defRPr>
            </a:defPPr>
          </a:lstStyle>
          <a:p xmlns:a="http://schemas.openxmlformats.org/drawingml/2006/main">
            <a:pPr algn="l">
              <a:lnSpc>
                <a:spcPct val="106000"/>
              </a:lnSpc>
              <a:buNone/>
              <a:defRPr sz="975" b="1">
                <a:solidFill>
                  <a:srgbClr val="BE7839"/>
                </a:solidFill>
                <a:latin typeface="Avenir Next"/>
                <a:ea typeface="Avenir Next"/>
                <a:cs typeface="Avenir Next"/>
              </a:defRPr>
            </a:pPr>
            <a:r>
              <a:rPr sz="975" b="1">
                <a:solidFill>
                  <a:srgbClr val="BE7839"/>
                </a:solidFill>
                <a:latin typeface="Avenir Next"/>
                <a:ea typeface="Avenir Next"/>
                <a:cs typeface="Avenir Next"/>
              </a:rPr>
              <a:t>06</a:t>
            </a:r>
          </a:p>
        </p:txBody>
      </p:sp>
      <p:sp>
        <p:nvSpPr>
          <p:cNvPr id="28" name="Context provider timeout">
            <a:extLst xmlns:a="http://schemas.openxmlformats.org/drawingml/2006/main">
              <a:ext uri="{FF2B5EF4-FFF2-40B4-BE49-F238E27FC236}">
                <a16:creationId xmlns:a16="http://schemas.microsoft.com/office/drawing/2014/main" id="{29619B92-DB75-44F2-98E2-B4AB020E7A94}"/>
              </a:ext>
            </a:extLst>
          </p:cNvPr>
          <p:cNvSpPr>
            <a:spLocks xmlns:a="http://schemas.openxmlformats.org/drawingml/2006/main" noGrp="1"/>
          </p:cNvSpPr>
          <p:nvPr/>
        </p:nvSpPr>
        <p:spPr>
          <a:xfrm xmlns:a="http://schemas.openxmlformats.org/drawingml/2006/main">
            <a:off x="1219200" y="46482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72821"/>
                </a:solidFill>
                <a:latin typeface="Avenir Next"/>
                <a:ea typeface="Avenir Next"/>
                <a:cs typeface="Avenir Next"/>
              </a:defRPr>
            </a:defPPr>
          </a:lstStyle>
          <a:p xmlns:a="http://schemas.openxmlformats.org/drawingml/2006/main">
            <a:pPr algn="l">
              <a:lnSpc>
                <a:spcPct val="106000"/>
              </a:lnSpc>
              <a:buNone/>
              <a:defRPr sz="1125" b="0">
                <a:solidFill>
                  <a:srgbClr val="172821"/>
                </a:solidFill>
                <a:latin typeface="Avenir Next"/>
                <a:ea typeface="Avenir Next"/>
                <a:cs typeface="Avenir Next"/>
              </a:defRPr>
            </a:pPr>
            <a:r>
              <a:rPr sz="1125" b="0">
                <a:solidFill>
                  <a:srgbClr val="172821"/>
                </a:solidFill>
                <a:latin typeface="Avenir Next"/>
                <a:ea typeface="Avenir Next"/>
                <a:cs typeface="Avenir Next"/>
              </a:rPr>
              <a:t>Context provider timeout</a:t>
            </a:r>
          </a:p>
        </p:txBody>
      </p:sp>
      <p:sp>
        <p:nvSpPr>
          <p:cNvPr id="29" name="VERIFY">
            <a:extLst xmlns:a="http://schemas.openxmlformats.org/drawingml/2006/main">
              <a:ext uri="{FF2B5EF4-FFF2-40B4-BE49-F238E27FC236}">
                <a16:creationId xmlns:a16="http://schemas.microsoft.com/office/drawing/2014/main" id="{78279264-32EF-4630-B2EA-3AA52065CAEB}"/>
              </a:ext>
            </a:extLst>
          </p:cNvPr>
          <p:cNvSpPr>
            <a:spLocks xmlns:a="http://schemas.openxmlformats.org/drawingml/2006/main" noGrp="1"/>
          </p:cNvSpPr>
          <p:nvPr/>
        </p:nvSpPr>
        <p:spPr>
          <a:xfrm xmlns:a="http://schemas.openxmlformats.org/drawingml/2006/main">
            <a:off x="4905375" y="46482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1">
                <a:solidFill>
                  <a:srgbClr val="176B4B"/>
                </a:solidFill>
                <a:latin typeface="Avenir Next"/>
                <a:ea typeface="Avenir Next"/>
                <a:cs typeface="Avenir Next"/>
              </a:defRPr>
            </a:defPPr>
          </a:lstStyle>
          <a:p xmlns:a="http://schemas.openxmlformats.org/drawingml/2006/main">
            <a:pPr algn="r">
              <a:lnSpc>
                <a:spcPct val="106000"/>
              </a:lnSpc>
              <a:buNone/>
              <a:defRPr sz="750" b="1">
                <a:solidFill>
                  <a:srgbClr val="176B4B"/>
                </a:solidFill>
                <a:latin typeface="Avenir Next"/>
                <a:ea typeface="Avenir Next"/>
                <a:cs typeface="Avenir Next"/>
              </a:defRPr>
            </a:pPr>
            <a:r>
              <a:rPr sz="750" b="1">
                <a:solidFill>
                  <a:srgbClr val="176B4B"/>
                </a:solidFill>
                <a:latin typeface="Avenir Next"/>
                <a:ea typeface="Avenir Next"/>
                <a:cs typeface="Avenir Next"/>
              </a:rPr>
              <a:t>VERIFY</a:t>
            </a:r>
          </a:p>
        </p:txBody>
      </p:sp>
      <p:sp>
        <p:nvSpPr>
          <p:cNvPr id="30" name="">
            <a:extLst xmlns:a="http://schemas.openxmlformats.org/drawingml/2006/main">
              <a:ext uri="{FF2B5EF4-FFF2-40B4-BE49-F238E27FC236}">
                <a16:creationId xmlns:a16="http://schemas.microsoft.com/office/drawing/2014/main" id="{E1257FE1-F0A9-4FC6-817B-F73A2D4D61FB}"/>
              </a:ext>
            </a:extLst>
          </p:cNvPr>
          <p:cNvSpPr>
            <a:spLocks xmlns:a="http://schemas.openxmlformats.org/drawingml/2006/main" noGrp="1"/>
          </p:cNvSpPr>
          <p:nvPr/>
        </p:nvSpPr>
        <p:spPr>
          <a:xfrm xmlns:a="http://schemas.openxmlformats.org/drawingml/2006/main">
            <a:off x="685800" y="4953000"/>
            <a:ext cx="5229225"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D2A4D47-941A-4FD0-B405-10113160A40C}"/>
              </a:ext>
            </a:extLst>
          </p:cNvPr>
          <p:cNvSpPr>
            <a:spLocks xmlns:a="http://schemas.openxmlformats.org/drawingml/2006/main" noGrp="1"/>
          </p:cNvSpPr>
          <p:nvPr/>
        </p:nvSpPr>
        <p:spPr>
          <a:xfrm xmlns:a="http://schemas.openxmlformats.org/drawingml/2006/main">
            <a:off x="6315075" y="2314575"/>
            <a:ext cx="9525" cy="0"/>
          </a:xfrm>
          <a:prstGeom xmlns:a="http://schemas.openxmlformats.org/drawingml/2006/main" prst="rect">
            <a:avLst/>
          </a:prstGeom>
          <a:ln xmlns:a="http://schemas.openxmlformats.org/drawingml/2006/main" w="0">
            <a:noFill/>
            <a:prstDash val="solid"/>
          </a:ln>
        </p:spPr>
      </p:sp>
      <p:sp>
        <p:nvSpPr>
          <p:cNvPr id="32" name="EVALUATION PLAN">
            <a:extLst xmlns:a="http://schemas.openxmlformats.org/drawingml/2006/main">
              <a:ext uri="{FF2B5EF4-FFF2-40B4-BE49-F238E27FC236}">
                <a16:creationId xmlns:a16="http://schemas.microsoft.com/office/drawing/2014/main" id="{A9503C71-5A23-430B-96F7-F271011F9818}"/>
              </a:ext>
            </a:extLst>
          </p:cNvPr>
          <p:cNvSpPr>
            <a:spLocks xmlns:a="http://schemas.openxmlformats.org/drawingml/2006/main" noGrp="1"/>
          </p:cNvSpPr>
          <p:nvPr/>
        </p:nvSpPr>
        <p:spPr>
          <a:xfrm xmlns:a="http://schemas.openxmlformats.org/drawingml/2006/main">
            <a:off x="6772275" y="2314575"/>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6B4B"/>
                </a:solidFill>
                <a:latin typeface="Avenir Next"/>
                <a:ea typeface="Avenir Next"/>
                <a:cs typeface="Avenir Next"/>
              </a:defRPr>
            </a:defPPr>
          </a:lstStyle>
          <a:p xmlns:a="http://schemas.openxmlformats.org/drawingml/2006/main">
            <a:pPr algn="l">
              <a:lnSpc>
                <a:spcPct val="106000"/>
              </a:lnSpc>
              <a:buNone/>
              <a:defRPr sz="900" b="1">
                <a:solidFill>
                  <a:srgbClr val="176B4B"/>
                </a:solidFill>
                <a:latin typeface="Avenir Next"/>
                <a:ea typeface="Avenir Next"/>
                <a:cs typeface="Avenir Next"/>
              </a:defRPr>
            </a:pPr>
            <a:r>
              <a:rPr sz="900" b="1">
                <a:solidFill>
                  <a:srgbClr val="176B4B"/>
                </a:solidFill>
                <a:latin typeface="Avenir Next"/>
                <a:ea typeface="Avenir Next"/>
                <a:cs typeface="Avenir Next"/>
              </a:rPr>
              <a:t>EVALUATION PLAN</a:t>
            </a:r>
          </a:p>
        </p:txBody>
      </p:sp>
      <p:sp>
        <p:nvSpPr>
          <p:cNvPr id="33" name="40">
            <a:extLst xmlns:a="http://schemas.openxmlformats.org/drawingml/2006/main">
              <a:ext uri="{FF2B5EF4-FFF2-40B4-BE49-F238E27FC236}">
                <a16:creationId xmlns:a16="http://schemas.microsoft.com/office/drawing/2014/main" id="{09839B4B-71E1-42AE-AA82-D98D4CAD5610}"/>
              </a:ext>
            </a:extLst>
          </p:cNvPr>
          <p:cNvSpPr>
            <a:spLocks xmlns:a="http://schemas.openxmlformats.org/drawingml/2006/main" noGrp="1"/>
          </p:cNvSpPr>
          <p:nvPr/>
        </p:nvSpPr>
        <p:spPr>
          <a:xfrm xmlns:a="http://schemas.openxmlformats.org/drawingml/2006/main">
            <a:off x="6772275" y="2676525"/>
            <a:ext cx="90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172821"/>
                </a:solidFill>
                <a:latin typeface="Avenir Next"/>
                <a:ea typeface="Avenir Next"/>
                <a:cs typeface="Avenir Next"/>
              </a:defRPr>
            </a:defPPr>
          </a:lstStyle>
          <a:p xmlns:a="http://schemas.openxmlformats.org/drawingml/2006/main">
            <a:pPr algn="l">
              <a:lnSpc>
                <a:spcPct val="106000"/>
              </a:lnSpc>
              <a:buNone/>
              <a:defRPr sz="3600" b="1">
                <a:solidFill>
                  <a:srgbClr val="172821"/>
                </a:solidFill>
                <a:latin typeface="Avenir Next"/>
                <a:ea typeface="Avenir Next"/>
                <a:cs typeface="Avenir Next"/>
              </a:defRPr>
            </a:pPr>
            <a:r>
              <a:rPr sz="3600" b="1">
                <a:solidFill>
                  <a:srgbClr val="172821"/>
                </a:solidFill>
                <a:latin typeface="Avenir Next"/>
                <a:ea typeface="Avenir Next"/>
                <a:cs typeface="Avenir Next"/>
              </a:rPr>
              <a:t>40</a:t>
            </a:r>
          </a:p>
        </p:txBody>
      </p:sp>
      <p:sp>
        <p:nvSpPr>
          <p:cNvPr id="34" name="synthetic examples">
            <a:extLst xmlns:a="http://schemas.openxmlformats.org/drawingml/2006/main">
              <a:ext uri="{FF2B5EF4-FFF2-40B4-BE49-F238E27FC236}">
                <a16:creationId xmlns:a16="http://schemas.microsoft.com/office/drawing/2014/main" id="{A7F0E76E-00CB-400E-A67D-E8AF91752D90}"/>
              </a:ext>
            </a:extLst>
          </p:cNvPr>
          <p:cNvSpPr>
            <a:spLocks xmlns:a="http://schemas.openxmlformats.org/drawingml/2006/main" noGrp="1"/>
          </p:cNvSpPr>
          <p:nvPr/>
        </p:nvSpPr>
        <p:spPr>
          <a:xfrm xmlns:a="http://schemas.openxmlformats.org/drawingml/2006/main">
            <a:off x="7715250" y="28479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9675F"/>
                </a:solidFill>
                <a:latin typeface="Avenir Next"/>
                <a:ea typeface="Avenir Next"/>
                <a:cs typeface="Avenir Next"/>
              </a:defRPr>
            </a:defPPr>
          </a:lstStyle>
          <a:p xmlns:a="http://schemas.openxmlformats.org/drawingml/2006/main">
            <a:pPr algn="l">
              <a:lnSpc>
                <a:spcPct val="106000"/>
              </a:lnSpc>
              <a:buNone/>
              <a:defRPr sz="1350" b="0">
                <a:solidFill>
                  <a:srgbClr val="59675F"/>
                </a:solidFill>
                <a:latin typeface="Avenir Next"/>
                <a:ea typeface="Avenir Next"/>
                <a:cs typeface="Avenir Next"/>
              </a:defRPr>
            </a:pPr>
            <a:r>
              <a:rPr sz="1350" b="0">
                <a:solidFill>
                  <a:srgbClr val="59675F"/>
                </a:solidFill>
                <a:latin typeface="Avenir Next"/>
                <a:ea typeface="Avenir Next"/>
                <a:cs typeface="Avenir Next"/>
              </a:rPr>
              <a:t>synthetic examples</a:t>
            </a:r>
          </a:p>
        </p:txBody>
      </p:sp>
      <p:sp>
        <p:nvSpPr>
          <p:cNvPr id="35" name="20 development  /  20 held out">
            <a:extLst xmlns:a="http://schemas.openxmlformats.org/drawingml/2006/main">
              <a:ext uri="{FF2B5EF4-FFF2-40B4-BE49-F238E27FC236}">
                <a16:creationId xmlns:a16="http://schemas.microsoft.com/office/drawing/2014/main" id="{F897A4C2-761D-49E1-B18A-4F8053C56A54}"/>
              </a:ext>
            </a:extLst>
          </p:cNvPr>
          <p:cNvSpPr>
            <a:spLocks xmlns:a="http://schemas.openxmlformats.org/drawingml/2006/main" noGrp="1"/>
          </p:cNvSpPr>
          <p:nvPr/>
        </p:nvSpPr>
        <p:spPr>
          <a:xfrm xmlns:a="http://schemas.openxmlformats.org/drawingml/2006/main">
            <a:off x="6772275" y="3409950"/>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72821"/>
                </a:solidFill>
                <a:latin typeface="Avenir Next"/>
                <a:ea typeface="Avenir Next"/>
                <a:cs typeface="Avenir Next"/>
              </a:defRPr>
            </a:defPPr>
          </a:lstStyle>
          <a:p xmlns:a="http://schemas.openxmlformats.org/drawingml/2006/main">
            <a:pPr algn="l">
              <a:lnSpc>
                <a:spcPct val="106000"/>
              </a:lnSpc>
              <a:buNone/>
              <a:defRPr sz="1125" b="0">
                <a:solidFill>
                  <a:srgbClr val="172821"/>
                </a:solidFill>
                <a:latin typeface="Avenir Next"/>
                <a:ea typeface="Avenir Next"/>
                <a:cs typeface="Avenir Next"/>
              </a:defRPr>
            </a:pPr>
            <a:r>
              <a:rPr sz="1125" b="0">
                <a:solidFill>
                  <a:srgbClr val="172821"/>
                </a:solidFill>
                <a:latin typeface="Avenir Next"/>
                <a:ea typeface="Avenir Next"/>
                <a:cs typeface="Avenir Next"/>
              </a:rPr>
              <a:t>20 development  /  20 held out</a:t>
            </a:r>
          </a:p>
        </p:txBody>
      </p:sp>
      <p:sp>
        <p:nvSpPr>
          <p:cNvPr id="36" name="">
            <a:extLst xmlns:a="http://schemas.openxmlformats.org/drawingml/2006/main">
              <a:ext uri="{FF2B5EF4-FFF2-40B4-BE49-F238E27FC236}">
                <a16:creationId xmlns:a16="http://schemas.microsoft.com/office/drawing/2014/main" id="{64C58B33-D272-4CBB-A356-0BE29C7D5379}"/>
              </a:ext>
            </a:extLst>
          </p:cNvPr>
          <p:cNvSpPr>
            <a:spLocks xmlns:a="http://schemas.openxmlformats.org/drawingml/2006/main" noGrp="1"/>
          </p:cNvSpPr>
          <p:nvPr/>
        </p:nvSpPr>
        <p:spPr>
          <a:xfrm xmlns:a="http://schemas.openxmlformats.org/drawingml/2006/main">
            <a:off x="6772275" y="3800475"/>
            <a:ext cx="4048125" cy="19050"/>
          </a:xfrm>
          <a:prstGeom xmlns:a="http://schemas.openxmlformats.org/drawingml/2006/main" prst="rect">
            <a:avLst/>
          </a:prstGeom>
          <a:solidFill xmlns:a="http://schemas.openxmlformats.org/drawingml/2006/main">
            <a:srgbClr val="176B4B"/>
          </a:solidFill>
          <a:ln xmlns:a="http://schemas.openxmlformats.org/drawingml/2006/main" w="0">
            <a:noFill/>
            <a:prstDash val="solid"/>
          </a:ln>
        </p:spPr>
      </p:sp>
      <p:sp>
        <p:nvSpPr>
          <p:cNvPr id="37" name="Compare rules-only with the&#10;configured c">
            <a:extLst xmlns:a="http://schemas.openxmlformats.org/drawingml/2006/main">
              <a:ext uri="{FF2B5EF4-FFF2-40B4-BE49-F238E27FC236}">
                <a16:creationId xmlns:a16="http://schemas.microsoft.com/office/drawing/2014/main" id="{D2B3A892-D682-471E-AE8C-1CD5354D1BB8}"/>
              </a:ext>
            </a:extLst>
          </p:cNvPr>
          <p:cNvSpPr>
            <a:spLocks xmlns:a="http://schemas.openxmlformats.org/drawingml/2006/main" noGrp="1"/>
          </p:cNvSpPr>
          <p:nvPr/>
        </p:nvSpPr>
        <p:spPr>
          <a:xfrm xmlns:a="http://schemas.openxmlformats.org/drawingml/2006/main">
            <a:off x="6772275" y="4019550"/>
            <a:ext cx="4286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821"/>
                </a:solidFill>
                <a:latin typeface="Avenir Next"/>
                <a:ea typeface="Avenir Next"/>
                <a:cs typeface="Avenir Next"/>
              </a:defRPr>
            </a:defPPr>
          </a:lstStyle>
          <a:p xmlns:a="http://schemas.openxmlformats.org/drawingml/2006/main">
            <a:pPr algn="l">
              <a:lnSpc>
                <a:spcPct val="110000"/>
              </a:lnSpc>
              <a:buNone/>
              <a:defRPr sz="1575" b="1">
                <a:solidFill>
                  <a:srgbClr val="172821"/>
                </a:solidFill>
                <a:latin typeface="Avenir Next"/>
                <a:ea typeface="Avenir Next"/>
                <a:cs typeface="Avenir Next"/>
              </a:defRPr>
            </a:pPr>
            <a:r>
              <a:rPr sz="1575" b="1">
                <a:solidFill>
                  <a:srgbClr val="172821"/>
                </a:solidFill>
                <a:latin typeface="Avenir Next"/>
                <a:ea typeface="Avenir Next"/>
                <a:cs typeface="Avenir Next"/>
              </a:rPr>
              <a:t>Compare rules-only with the</a:t>
            </a:r>
          </a:p>
          <a:p xmlns:a="http://schemas.openxmlformats.org/drawingml/2006/main">
            <a:pPr algn="l">
              <a:lnSpc>
                <a:spcPct val="110000"/>
              </a:lnSpc>
              <a:buNone/>
              <a:defRPr sz="1575" b="1">
                <a:solidFill>
                  <a:srgbClr val="172821"/>
                </a:solidFill>
                <a:latin typeface="Avenir Next"/>
                <a:ea typeface="Avenir Next"/>
                <a:cs typeface="Avenir Next"/>
              </a:defRPr>
            </a:pPr>
            <a:r>
              <a:rPr sz="1575" b="1">
                <a:solidFill>
                  <a:srgbClr val="172821"/>
                </a:solidFill>
                <a:latin typeface="Avenir Next"/>
                <a:ea typeface="Avenir Next"/>
                <a:cs typeface="Avenir Next"/>
              </a:rPr>
              <a:t>configured classifier on identical inputs.</a:t>
            </a:r>
          </a:p>
        </p:txBody>
      </p:sp>
      <p:sp>
        <p:nvSpPr>
          <p:cNvPr id="38" name="Report intervention recall, intervention">
            <a:extLst xmlns:a="http://schemas.openxmlformats.org/drawingml/2006/main">
              <a:ext uri="{FF2B5EF4-FFF2-40B4-BE49-F238E27FC236}">
                <a16:creationId xmlns:a16="http://schemas.microsoft.com/office/drawing/2014/main" id="{BF449ED3-D052-4FDB-BED6-030C616AAD00}"/>
              </a:ext>
            </a:extLst>
          </p:cNvPr>
          <p:cNvSpPr>
            <a:spLocks xmlns:a="http://schemas.openxmlformats.org/drawingml/2006/main" noGrp="1"/>
          </p:cNvSpPr>
          <p:nvPr/>
        </p:nvSpPr>
        <p:spPr>
          <a:xfrm xmlns:a="http://schemas.openxmlformats.org/drawingml/2006/main">
            <a:off x="6772275" y="4762500"/>
            <a:ext cx="43053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9675F"/>
                </a:solidFill>
                <a:latin typeface="Avenir Next"/>
                <a:ea typeface="Avenir Next"/>
                <a:cs typeface="Avenir Next"/>
              </a:defRPr>
            </a:defPPr>
          </a:lstStyle>
          <a:p xmlns:a="http://schemas.openxmlformats.org/drawingml/2006/main">
            <a:pPr algn="l">
              <a:lnSpc>
                <a:spcPct val="120000"/>
              </a:lnSpc>
              <a:buNone/>
              <a:defRPr sz="1125" b="0">
                <a:solidFill>
                  <a:srgbClr val="59675F"/>
                </a:solidFill>
                <a:latin typeface="Avenir Next"/>
                <a:ea typeface="Avenir Next"/>
                <a:cs typeface="Avenir Next"/>
              </a:defRPr>
            </a:pPr>
            <a:r>
              <a:rPr sz="1125" b="0">
                <a:solidFill>
                  <a:srgbClr val="59675F"/>
                </a:solidFill>
                <a:latin typeface="Avenir Next"/>
                <a:ea typeface="Avenir Next"/>
                <a:cs typeface="Avenir Next"/>
              </a:rPr>
              <a:t>Report intervention recall, intervention rate on legitimate cases, ambiguous routing and provider failures. Measure latency separately.</a:t>
            </a:r>
          </a:p>
        </p:txBody>
      </p:sp>
      <p:sp>
        <p:nvSpPr>
          <p:cNvPr id="39" name="">
            <a:extLst xmlns:a="http://schemas.openxmlformats.org/drawingml/2006/main">
              <a:ext uri="{FF2B5EF4-FFF2-40B4-BE49-F238E27FC236}">
                <a16:creationId xmlns:a16="http://schemas.microsoft.com/office/drawing/2014/main" id="{9D72DC16-B382-48D7-A3DF-493C7F04F8D4}"/>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40" name="Synthetic evaluation plan  /  No measure">
            <a:extLst xmlns:a="http://schemas.openxmlformats.org/drawingml/2006/main">
              <a:ext uri="{FF2B5EF4-FFF2-40B4-BE49-F238E27FC236}">
                <a16:creationId xmlns:a16="http://schemas.microsoft.com/office/drawing/2014/main" id="{DE3D13C5-D0CC-4A2F-B561-5C5B30AC8294}"/>
              </a:ext>
            </a:extLst>
          </p:cNvPr>
          <p:cNvSpPr>
            <a:spLocks xmlns:a="http://schemas.openxmlformats.org/drawingml/2006/main" noGrp="1"/>
          </p:cNvSpPr>
          <p:nvPr/>
        </p:nvSpPr>
        <p:spPr>
          <a:xfrm xmlns:a="http://schemas.openxmlformats.org/drawingml/2006/main">
            <a:off x="685800" y="6467475"/>
            <a:ext cx="10820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9675F"/>
                </a:solidFill>
                <a:latin typeface="Avenir Next"/>
                <a:ea typeface="Avenir Next"/>
                <a:cs typeface="Avenir Next"/>
              </a:defRPr>
            </a:defPPr>
          </a:lstStyle>
          <a:p xmlns:a="http://schemas.openxmlformats.org/drawingml/2006/main">
            <a:pPr algn="l">
              <a:lnSpc>
                <a:spcPct val="106000"/>
              </a:lnSpc>
              <a:buNone/>
              <a:defRPr sz="825" b="0">
                <a:solidFill>
                  <a:srgbClr val="59675F"/>
                </a:solidFill>
                <a:latin typeface="Avenir Next"/>
                <a:ea typeface="Avenir Next"/>
                <a:cs typeface="Avenir Next"/>
              </a:defRPr>
            </a:pPr>
            <a:r>
              <a:rPr sz="825" b="0">
                <a:solidFill>
                  <a:srgbClr val="59675F"/>
                </a:solidFill>
                <a:latin typeface="Avenir Next"/>
                <a:ea typeface="Avenir Next"/>
                <a:cs typeface="Avenir Next"/>
              </a:rPr>
              <a:t>Synthetic evaluation plan  /  No measured accuracy or latency claims</a:t>
            </a:r>
          </a:p>
        </p:txBody>
      </p:sp>
    </p:spTree>
    <p:extLst>
      <p:ext uri="{BB962C8B-B14F-4D97-AF65-F5344CB8AC3E}">
        <p14:creationId xmlns:p14="http://schemas.microsoft.com/office/powerpoint/2010/main" val="111447501"/>
      </p:ext>
    </p:extLst>
  </p:cSld>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7" name="SCAMSHIELD  /  CONCEPT PITCH">
            <a:extLst xmlns:a="http://schemas.openxmlformats.org/drawingml/2006/main">
              <a:ext uri="{FF2B5EF4-FFF2-40B4-BE49-F238E27FC236}">
                <a16:creationId xmlns:a16="http://schemas.microsoft.com/office/drawing/2014/main" id="{7D907610-2D01-4FE6-BCE2-A8FB6C3ED249}"/>
              </a:ext>
            </a:extLst>
          </p:cNvPr>
          <p:cNvSpPr>
            <a:spLocks xmlns:a="http://schemas.openxmlformats.org/drawingml/2006/main" noGrp="1"/>
          </p:cNvSpPr>
          <p:nvPr/>
        </p:nvSpPr>
        <p:spPr>
          <a:xfrm xmlns:a="http://schemas.openxmlformats.org/drawingml/2006/main">
            <a:off x="685800" y="4095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76B4B"/>
                </a:solidFill>
                <a:latin typeface="Avenir Next"/>
                <a:ea typeface="Avenir Next"/>
                <a:cs typeface="Avenir Next"/>
              </a:defRPr>
            </a:defPPr>
          </a:lstStyle>
          <a:p xmlns:a="http://schemas.openxmlformats.org/drawingml/2006/main">
            <a:pPr algn="l">
              <a:lnSpc>
                <a:spcPct val="106000"/>
              </a:lnSpc>
              <a:buNone/>
              <a:defRPr sz="975" b="1">
                <a:solidFill>
                  <a:srgbClr val="176B4B"/>
                </a:solidFill>
                <a:latin typeface="Avenir Next"/>
                <a:ea typeface="Avenir Next"/>
                <a:cs typeface="Avenir Next"/>
              </a:defRPr>
            </a:pPr>
            <a:r>
              <a:rPr sz="975" b="1">
                <a:solidFill>
                  <a:srgbClr val="176B4B"/>
                </a:solidFill>
                <a:latin typeface="Avenir Next"/>
                <a:ea typeface="Avenir Next"/>
                <a:cs typeface="Avenir Next"/>
              </a:rPr>
              <a:t>SCAMSHIELD  /  CONCEPT PITCH</a:t>
            </a:r>
          </a:p>
        </p:txBody>
      </p:sp>
      <p:sp>
        <p:nvSpPr>
          <p:cNvPr id="2" name="06  /  06">
            <a:extLst xmlns:a="http://schemas.openxmlformats.org/drawingml/2006/main">
              <a:ext uri="{FF2B5EF4-FFF2-40B4-BE49-F238E27FC236}">
                <a16:creationId xmlns:a16="http://schemas.microsoft.com/office/drawing/2014/main" id="{BAF22366-8ED6-40BF-B64B-6A58585E6933}"/>
              </a:ext>
            </a:extLst>
          </p:cNvPr>
          <p:cNvSpPr>
            <a:spLocks xmlns:a="http://schemas.openxmlformats.org/drawingml/2006/main" noGrp="1"/>
          </p:cNvSpPr>
          <p:nvPr/>
        </p:nvSpPr>
        <p:spPr>
          <a:xfrm xmlns:a="http://schemas.openxmlformats.org/drawingml/2006/main">
            <a:off x="10572750" y="40957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9675F"/>
                </a:solidFill>
                <a:latin typeface="Avenir Next"/>
                <a:ea typeface="Avenir Next"/>
                <a:cs typeface="Avenir Next"/>
              </a:defRPr>
            </a:defPPr>
          </a:lstStyle>
          <a:p xmlns:a="http://schemas.openxmlformats.org/drawingml/2006/main">
            <a:pPr algn="r">
              <a:lnSpc>
                <a:spcPct val="106000"/>
              </a:lnSpc>
              <a:buNone/>
              <a:defRPr sz="900" b="0">
                <a:solidFill>
                  <a:srgbClr val="59675F"/>
                </a:solidFill>
                <a:latin typeface="Avenir Next"/>
                <a:ea typeface="Avenir Next"/>
                <a:cs typeface="Avenir Next"/>
              </a:defRPr>
            </a:pPr>
            <a:r>
              <a:rPr sz="900" b="0">
                <a:solidFill>
                  <a:srgbClr val="59675F"/>
                </a:solidFill>
                <a:latin typeface="Avenir Next"/>
                <a:ea typeface="Avenir Next"/>
                <a:cs typeface="Avenir Next"/>
              </a:rPr>
              <a:t>06  /  06</a:t>
            </a:r>
          </a:p>
        </p:txBody>
      </p:sp>
      <p:sp>
        <p:nvSpPr>
          <p:cNvPr id="3" name="">
            <a:extLst xmlns:a="http://schemas.openxmlformats.org/drawingml/2006/main">
              <a:ext uri="{FF2B5EF4-FFF2-40B4-BE49-F238E27FC236}">
                <a16:creationId xmlns:a16="http://schemas.microsoft.com/office/drawing/2014/main" id="{58CE8DE3-1619-457F-999D-7C5BC7AF12DA}"/>
              </a:ext>
            </a:extLst>
          </p:cNvPr>
          <p:cNvSpPr>
            <a:spLocks xmlns:a="http://schemas.openxmlformats.org/drawingml/2006/main" noGrp="1"/>
          </p:cNvSpPr>
          <p:nvPr/>
        </p:nvSpPr>
        <p:spPr>
          <a:xfrm xmlns:a="http://schemas.openxmlformats.org/drawingml/2006/main">
            <a:off x="685800" y="71437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4" name="A focused prototype fits a 48–72 hour bu">
            <a:extLst xmlns:a="http://schemas.openxmlformats.org/drawingml/2006/main">
              <a:ext uri="{FF2B5EF4-FFF2-40B4-BE49-F238E27FC236}">
                <a16:creationId xmlns:a16="http://schemas.microsoft.com/office/drawing/2014/main" id="{6A31A972-86F5-4413-812B-148A5108392B}"/>
              </a:ext>
            </a:extLst>
          </p:cNvPr>
          <p:cNvSpPr>
            <a:spLocks xmlns:a="http://schemas.openxmlformats.org/drawingml/2006/main" noGrp="1"/>
          </p:cNvSpPr>
          <p:nvPr/>
        </p:nvSpPr>
        <p:spPr>
          <a:xfrm xmlns:a="http://schemas.openxmlformats.org/drawingml/2006/main">
            <a:off x="685800" y="990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821"/>
                </a:solidFill>
                <a:latin typeface="Avenir Next"/>
                <a:ea typeface="Avenir Next"/>
                <a:cs typeface="Avenir Next"/>
              </a:defRPr>
            </a:defPPr>
          </a:lstStyle>
          <a:p xmlns:a="http://schemas.openxmlformats.org/drawingml/2006/main">
            <a:pPr algn="l">
              <a:lnSpc>
                <a:spcPct val="98000"/>
              </a:lnSpc>
              <a:buNone/>
              <a:defRPr sz="3000" b="1">
                <a:solidFill>
                  <a:srgbClr val="172821"/>
                </a:solidFill>
                <a:latin typeface="Avenir Next"/>
                <a:ea typeface="Avenir Next"/>
                <a:cs typeface="Avenir Next"/>
              </a:defRPr>
            </a:pPr>
            <a:r>
              <a:rPr sz="3000" b="1">
                <a:solidFill>
                  <a:srgbClr val="172821"/>
                </a:solidFill>
                <a:latin typeface="Avenir Next"/>
                <a:ea typeface="Avenir Next"/>
                <a:cs typeface="Avenir Next"/>
              </a:rPr>
              <a:t>A focused prototype fits a 48–72 hour build window</a:t>
            </a:r>
          </a:p>
        </p:txBody>
      </p:sp>
      <p:sp>
        <p:nvSpPr>
          <p:cNvPr id="5" name="Deliver the two simulators and an audita">
            <a:extLst xmlns:a="http://schemas.openxmlformats.org/drawingml/2006/main">
              <a:ext uri="{FF2B5EF4-FFF2-40B4-BE49-F238E27FC236}">
                <a16:creationId xmlns:a16="http://schemas.microsoft.com/office/drawing/2014/main" id="{905C8D7E-82C1-4AC4-B81A-8920291699F0}"/>
              </a:ext>
            </a:extLst>
          </p:cNvPr>
          <p:cNvSpPr>
            <a:spLocks xmlns:a="http://schemas.openxmlformats.org/drawingml/2006/main" noGrp="1"/>
          </p:cNvSpPr>
          <p:nvPr/>
        </p:nvSpPr>
        <p:spPr>
          <a:xfrm xmlns:a="http://schemas.openxmlformats.org/drawingml/2006/main">
            <a:off x="685800" y="1628775"/>
            <a:ext cx="1047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9675F"/>
                </a:solidFill>
                <a:latin typeface="Avenir Next"/>
                <a:ea typeface="Avenir Next"/>
                <a:cs typeface="Avenir Next"/>
              </a:defRPr>
            </a:defPPr>
          </a:lstStyle>
          <a:p xmlns:a="http://schemas.openxmlformats.org/drawingml/2006/main">
            <a:pPr algn="l">
              <a:lnSpc>
                <a:spcPct val="106000"/>
              </a:lnSpc>
              <a:buNone/>
              <a:defRPr sz="1350" b="0">
                <a:solidFill>
                  <a:srgbClr val="59675F"/>
                </a:solidFill>
                <a:latin typeface="Avenir Next"/>
                <a:ea typeface="Avenir Next"/>
                <a:cs typeface="Avenir Next"/>
              </a:defRPr>
            </a:pPr>
            <a:r>
              <a:rPr sz="1350" b="0">
                <a:solidFill>
                  <a:srgbClr val="59675F"/>
                </a:solidFill>
                <a:latin typeface="Avenir Next"/>
                <a:ea typeface="Avenir Next"/>
                <a:cs typeface="Avenir Next"/>
              </a:rPr>
              <a:t>Deliver the two simulators and an auditable recommendation path before extending scope.</a:t>
            </a:r>
          </a:p>
        </p:txBody>
      </p:sp>
      <p:sp>
        <p:nvSpPr>
          <p:cNvPr id="6" name="FIRST 48 HOURS">
            <a:extLst xmlns:a="http://schemas.openxmlformats.org/drawingml/2006/main">
              <a:ext uri="{FF2B5EF4-FFF2-40B4-BE49-F238E27FC236}">
                <a16:creationId xmlns:a16="http://schemas.microsoft.com/office/drawing/2014/main" id="{DF31059E-7AFF-4426-B388-2D6B307C85BF}"/>
              </a:ext>
            </a:extLst>
          </p:cNvPr>
          <p:cNvSpPr>
            <a:spLocks xmlns:a="http://schemas.openxmlformats.org/drawingml/2006/main" noGrp="1"/>
          </p:cNvSpPr>
          <p:nvPr/>
        </p:nvSpPr>
        <p:spPr>
          <a:xfrm xmlns:a="http://schemas.openxmlformats.org/drawingml/2006/main">
            <a:off x="685800" y="232410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76B4B"/>
                </a:solidFill>
                <a:latin typeface="Avenir Next"/>
                <a:ea typeface="Avenir Next"/>
                <a:cs typeface="Avenir Next"/>
              </a:defRPr>
            </a:defPPr>
          </a:lstStyle>
          <a:p xmlns:a="http://schemas.openxmlformats.org/drawingml/2006/main">
            <a:pPr algn="l">
              <a:lnSpc>
                <a:spcPct val="106000"/>
              </a:lnSpc>
              <a:buNone/>
              <a:defRPr sz="900" b="1">
                <a:solidFill>
                  <a:srgbClr val="176B4B"/>
                </a:solidFill>
                <a:latin typeface="Avenir Next"/>
                <a:ea typeface="Avenir Next"/>
                <a:cs typeface="Avenir Next"/>
              </a:defRPr>
            </a:pPr>
            <a:r>
              <a:rPr sz="900" b="1">
                <a:solidFill>
                  <a:srgbClr val="176B4B"/>
                </a:solidFill>
                <a:latin typeface="Avenir Next"/>
                <a:ea typeface="Avenir Next"/>
                <a:cs typeface="Avenir Next"/>
              </a:rPr>
              <a:t>FIRST 48 HOURS</a:t>
            </a:r>
          </a:p>
        </p:txBody>
      </p:sp>
      <p:sp>
        <p:nvSpPr>
          <p:cNvPr id="7" name="Contracts and fixtures">
            <a:extLst xmlns:a="http://schemas.openxmlformats.org/drawingml/2006/main">
              <a:ext uri="{FF2B5EF4-FFF2-40B4-BE49-F238E27FC236}">
                <a16:creationId xmlns:a16="http://schemas.microsoft.com/office/drawing/2014/main" id="{C0EA70F3-EEF6-4F69-B5C6-5813925DC323}"/>
              </a:ext>
            </a:extLst>
          </p:cNvPr>
          <p:cNvSpPr>
            <a:spLocks xmlns:a="http://schemas.openxmlformats.org/drawingml/2006/main" noGrp="1"/>
          </p:cNvSpPr>
          <p:nvPr/>
        </p:nvSpPr>
        <p:spPr>
          <a:xfrm xmlns:a="http://schemas.openxmlformats.org/drawingml/2006/main">
            <a:off x="685800" y="2686050"/>
            <a:ext cx="4572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Contracts and fixtures</a:t>
            </a:r>
          </a:p>
        </p:txBody>
      </p:sp>
      <p:sp>
        <p:nvSpPr>
          <p:cNvPr id="8" name="Two adapters, deterministic rules, polic">
            <a:extLst xmlns:a="http://schemas.openxmlformats.org/drawingml/2006/main">
              <a:ext uri="{FF2B5EF4-FFF2-40B4-BE49-F238E27FC236}">
                <a16:creationId xmlns:a16="http://schemas.microsoft.com/office/drawing/2014/main" id="{0C009DCB-52E4-4A4C-AED2-3ED24BD922EA}"/>
              </a:ext>
            </a:extLst>
          </p:cNvPr>
          <p:cNvSpPr>
            <a:spLocks xmlns:a="http://schemas.openxmlformats.org/drawingml/2006/main" noGrp="1"/>
          </p:cNvSpPr>
          <p:nvPr/>
        </p:nvSpPr>
        <p:spPr>
          <a:xfrm xmlns:a="http://schemas.openxmlformats.org/drawingml/2006/main">
            <a:off x="685800" y="3067050"/>
            <a:ext cx="4429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9675F"/>
                </a:solidFill>
                <a:latin typeface="Avenir Next"/>
                <a:ea typeface="Avenir Next"/>
                <a:cs typeface="Avenir Next"/>
              </a:defRPr>
            </a:defPPr>
          </a:lstStyle>
          <a:p xmlns:a="http://schemas.openxmlformats.org/drawingml/2006/main">
            <a:pPr algn="l">
              <a:lnSpc>
                <a:spcPct val="106000"/>
              </a:lnSpc>
              <a:buNone/>
              <a:defRPr sz="1200" b="0">
                <a:solidFill>
                  <a:srgbClr val="59675F"/>
                </a:solidFill>
                <a:latin typeface="Avenir Next"/>
                <a:ea typeface="Avenir Next"/>
                <a:cs typeface="Avenir Next"/>
              </a:defRPr>
            </a:pPr>
            <a:r>
              <a:rPr sz="1200" b="0">
                <a:solidFill>
                  <a:srgbClr val="59675F"/>
                </a:solidFill>
                <a:latin typeface="Avenir Next"/>
                <a:ea typeface="Avenir Next"/>
                <a:cs typeface="Avenir Next"/>
              </a:rPr>
              <a:t>Two adapters, deterministic rules, policy checks and a shared API.</a:t>
            </a:r>
          </a:p>
        </p:txBody>
      </p:sp>
      <p:sp>
        <p:nvSpPr>
          <p:cNvPr id="9" name="">
            <a:extLst xmlns:a="http://schemas.openxmlformats.org/drawingml/2006/main">
              <a:ext uri="{FF2B5EF4-FFF2-40B4-BE49-F238E27FC236}">
                <a16:creationId xmlns:a16="http://schemas.microsoft.com/office/drawing/2014/main" id="{02654862-B218-445F-B072-EB9C2C47033C}"/>
              </a:ext>
            </a:extLst>
          </p:cNvPr>
          <p:cNvSpPr>
            <a:spLocks xmlns:a="http://schemas.openxmlformats.org/drawingml/2006/main" noGrp="1"/>
          </p:cNvSpPr>
          <p:nvPr/>
        </p:nvSpPr>
        <p:spPr>
          <a:xfrm xmlns:a="http://schemas.openxmlformats.org/drawingml/2006/main">
            <a:off x="685800" y="3771900"/>
            <a:ext cx="45720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0" name="Simulators and investigation view">
            <a:extLst xmlns:a="http://schemas.openxmlformats.org/drawingml/2006/main">
              <a:ext uri="{FF2B5EF4-FFF2-40B4-BE49-F238E27FC236}">
                <a16:creationId xmlns:a16="http://schemas.microsoft.com/office/drawing/2014/main" id="{7BFE67B9-2211-4BB3-B15D-28699AFB37E8}"/>
              </a:ext>
            </a:extLst>
          </p:cNvPr>
          <p:cNvSpPr>
            <a:spLocks xmlns:a="http://schemas.openxmlformats.org/drawingml/2006/main" noGrp="1"/>
          </p:cNvSpPr>
          <p:nvPr/>
        </p:nvSpPr>
        <p:spPr>
          <a:xfrm xmlns:a="http://schemas.openxmlformats.org/drawingml/2006/main">
            <a:off x="685800" y="3981450"/>
            <a:ext cx="4953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Simulators and investigation view</a:t>
            </a:r>
          </a:p>
        </p:txBody>
      </p:sp>
      <p:sp>
        <p:nvSpPr>
          <p:cNvPr id="11" name="Consumer transfer, invoice payment, case">
            <a:extLst xmlns:a="http://schemas.openxmlformats.org/drawingml/2006/main">
              <a:ext uri="{FF2B5EF4-FFF2-40B4-BE49-F238E27FC236}">
                <a16:creationId xmlns:a16="http://schemas.microsoft.com/office/drawing/2014/main" id="{6A1DE389-1EBD-470D-ABCF-CA4B31FB4E99}"/>
              </a:ext>
            </a:extLst>
          </p:cNvPr>
          <p:cNvSpPr>
            <a:spLocks xmlns:a="http://schemas.openxmlformats.org/drawingml/2006/main" noGrp="1"/>
          </p:cNvSpPr>
          <p:nvPr/>
        </p:nvSpPr>
        <p:spPr>
          <a:xfrm xmlns:a="http://schemas.openxmlformats.org/drawingml/2006/main">
            <a:off x="685800" y="4362450"/>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9675F"/>
                </a:solidFill>
                <a:latin typeface="Avenir Next"/>
                <a:ea typeface="Avenir Next"/>
                <a:cs typeface="Avenir Next"/>
              </a:defRPr>
            </a:defPPr>
          </a:lstStyle>
          <a:p xmlns:a="http://schemas.openxmlformats.org/drawingml/2006/main">
            <a:pPr algn="l">
              <a:lnSpc>
                <a:spcPct val="106000"/>
              </a:lnSpc>
              <a:buNone/>
              <a:defRPr sz="1200" b="0">
                <a:solidFill>
                  <a:srgbClr val="59675F"/>
                </a:solidFill>
                <a:latin typeface="Avenir Next"/>
                <a:ea typeface="Avenir Next"/>
                <a:cs typeface="Avenir Next"/>
              </a:defRPr>
            </a:pPr>
            <a:r>
              <a:rPr sz="1200" b="0">
                <a:solidFill>
                  <a:srgbClr val="59675F"/>
                </a:solidFill>
                <a:latin typeface="Avenir Next"/>
                <a:ea typeface="Avenir Next"/>
                <a:cs typeface="Avenir Next"/>
              </a:rPr>
              <a:t>Consumer transfer, invoice payment, case history and recorded evidence.</a:t>
            </a:r>
          </a:p>
        </p:txBody>
      </p:sp>
      <p:sp>
        <p:nvSpPr>
          <p:cNvPr id="12" name="">
            <a:extLst xmlns:a="http://schemas.openxmlformats.org/drawingml/2006/main">
              <a:ext uri="{FF2B5EF4-FFF2-40B4-BE49-F238E27FC236}">
                <a16:creationId xmlns:a16="http://schemas.microsoft.com/office/drawing/2014/main" id="{9CCFBFD4-C742-4567-8428-8C1CFB4552E8}"/>
              </a:ext>
            </a:extLst>
          </p:cNvPr>
          <p:cNvSpPr>
            <a:spLocks xmlns:a="http://schemas.openxmlformats.org/drawingml/2006/main" noGrp="1"/>
          </p:cNvSpPr>
          <p:nvPr/>
        </p:nvSpPr>
        <p:spPr>
          <a:xfrm xmlns:a="http://schemas.openxmlformats.org/drawingml/2006/main">
            <a:off x="685800" y="5067300"/>
            <a:ext cx="45720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13" name="Local setup">
            <a:extLst xmlns:a="http://schemas.openxmlformats.org/drawingml/2006/main">
              <a:ext uri="{FF2B5EF4-FFF2-40B4-BE49-F238E27FC236}">
                <a16:creationId xmlns:a16="http://schemas.microsoft.com/office/drawing/2014/main" id="{FE5C0624-892D-422B-A753-9C2996E62398}"/>
              </a:ext>
            </a:extLst>
          </p:cNvPr>
          <p:cNvSpPr>
            <a:spLocks xmlns:a="http://schemas.openxmlformats.org/drawingml/2006/main" noGrp="1"/>
          </p:cNvSpPr>
          <p:nvPr/>
        </p:nvSpPr>
        <p:spPr>
          <a:xfrm xmlns:a="http://schemas.openxmlformats.org/drawingml/2006/main">
            <a:off x="685800" y="52768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Local setup</a:t>
            </a:r>
          </a:p>
        </p:txBody>
      </p:sp>
      <p:sp>
        <p:nvSpPr>
          <p:cNvPr id="14" name="Gemini Developer API free tier for Flash">
            <a:extLst xmlns:a="http://schemas.openxmlformats.org/drawingml/2006/main">
              <a:ext uri="{FF2B5EF4-FFF2-40B4-BE49-F238E27FC236}">
                <a16:creationId xmlns:a16="http://schemas.microsoft.com/office/drawing/2014/main" id="{73158B31-6F18-45B0-BF51-BC01B6260594}"/>
              </a:ext>
            </a:extLst>
          </p:cNvPr>
          <p:cNvSpPr>
            <a:spLocks xmlns:a="http://schemas.openxmlformats.org/drawingml/2006/main" noGrp="1"/>
          </p:cNvSpPr>
          <p:nvPr/>
        </p:nvSpPr>
        <p:spPr>
          <a:xfrm xmlns:a="http://schemas.openxmlformats.org/drawingml/2006/main">
            <a:off x="685800" y="56388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9675F"/>
                </a:solidFill>
                <a:latin typeface="Avenir Next"/>
                <a:ea typeface="Avenir Next"/>
                <a:cs typeface="Avenir Next"/>
              </a:defRPr>
            </a:defPPr>
          </a:lstStyle>
          <a:p xmlns:a="http://schemas.openxmlformats.org/drawingml/2006/main">
            <a:pPr algn="l">
              <a:lnSpc>
                <a:spcPct val="114000"/>
              </a:lnSpc>
              <a:buNone/>
              <a:defRPr sz="975" b="0">
                <a:solidFill>
                  <a:srgbClr val="59675F"/>
                </a:solidFill>
                <a:latin typeface="Avenir Next"/>
                <a:ea typeface="Avenir Next"/>
                <a:cs typeface="Avenir Next"/>
              </a:defRPr>
            </a:pPr>
            <a:r>
              <a:rPr sz="975" b="0">
                <a:solidFill>
                  <a:srgbClr val="59675F"/>
                </a:solidFill>
                <a:latin typeface="Avenir Next"/>
                <a:ea typeface="Avenir Next"/>
                <a:cs typeface="Avenir Next"/>
              </a:rPr>
              <a:t>Gemini Developer API free tier for Flash or Flash-Lite. Rate limits apply; use synthetic inputs.</a:t>
            </a:r>
          </a:p>
        </p:txBody>
      </p:sp>
      <p:sp>
        <p:nvSpPr>
          <p:cNvPr id="15" name="">
            <a:extLst xmlns:a="http://schemas.openxmlformats.org/drawingml/2006/main">
              <a:ext uri="{FF2B5EF4-FFF2-40B4-BE49-F238E27FC236}">
                <a16:creationId xmlns:a16="http://schemas.microsoft.com/office/drawing/2014/main" id="{A9AC26E3-8E5E-4005-BF9C-555888201F8E}"/>
              </a:ext>
            </a:extLst>
          </p:cNvPr>
          <p:cNvSpPr>
            <a:spLocks xmlns:a="http://schemas.openxmlformats.org/drawingml/2006/main" noGrp="1"/>
          </p:cNvSpPr>
          <p:nvPr/>
        </p:nvSpPr>
        <p:spPr>
          <a:xfrm xmlns:a="http://schemas.openxmlformats.org/drawingml/2006/main">
            <a:off x="6172200" y="2324100"/>
            <a:ext cx="9525" cy="0"/>
          </a:xfrm>
          <a:prstGeom xmlns:a="http://schemas.openxmlformats.org/drawingml/2006/main" prst="rect">
            <a:avLst/>
          </a:prstGeom>
          <a:ln xmlns:a="http://schemas.openxmlformats.org/drawingml/2006/main" w="0">
            <a:noFill/>
            <a:prstDash val="solid"/>
          </a:ln>
        </p:spPr>
      </p:sp>
      <p:sp>
        <p:nvSpPr>
          <p:cNvPr id="16" name="NEXT 24 HOURS  /  BUFFER">
            <a:extLst xmlns:a="http://schemas.openxmlformats.org/drawingml/2006/main">
              <a:ext uri="{FF2B5EF4-FFF2-40B4-BE49-F238E27FC236}">
                <a16:creationId xmlns:a16="http://schemas.microsoft.com/office/drawing/2014/main" id="{C2B565AF-29AE-4FB5-8151-3ED71960CD62}"/>
              </a:ext>
            </a:extLst>
          </p:cNvPr>
          <p:cNvSpPr>
            <a:spLocks xmlns:a="http://schemas.openxmlformats.org/drawingml/2006/main" noGrp="1"/>
          </p:cNvSpPr>
          <p:nvPr/>
        </p:nvSpPr>
        <p:spPr>
          <a:xfrm xmlns:a="http://schemas.openxmlformats.org/drawingml/2006/main">
            <a:off x="6686550" y="23241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BE7839"/>
                </a:solidFill>
                <a:latin typeface="Avenir Next"/>
                <a:ea typeface="Avenir Next"/>
                <a:cs typeface="Avenir Next"/>
              </a:defRPr>
            </a:defPPr>
          </a:lstStyle>
          <a:p xmlns:a="http://schemas.openxmlformats.org/drawingml/2006/main">
            <a:pPr algn="l">
              <a:lnSpc>
                <a:spcPct val="106000"/>
              </a:lnSpc>
              <a:buNone/>
              <a:defRPr sz="900" b="1">
                <a:solidFill>
                  <a:srgbClr val="BE7839"/>
                </a:solidFill>
                <a:latin typeface="Avenir Next"/>
                <a:ea typeface="Avenir Next"/>
                <a:cs typeface="Avenir Next"/>
              </a:defRPr>
            </a:pPr>
            <a:r>
              <a:rPr sz="900" b="1">
                <a:solidFill>
                  <a:srgbClr val="BE7839"/>
                </a:solidFill>
                <a:latin typeface="Avenir Next"/>
                <a:ea typeface="Avenir Next"/>
                <a:cs typeface="Avenir Next"/>
              </a:rPr>
              <a:t>NEXT 24 HOURS  /  BUFFER</a:t>
            </a:r>
          </a:p>
        </p:txBody>
      </p:sp>
      <p:sp>
        <p:nvSpPr>
          <p:cNvPr id="17" name="Held-out evaluation">
            <a:extLst xmlns:a="http://schemas.openxmlformats.org/drawingml/2006/main">
              <a:ext uri="{FF2B5EF4-FFF2-40B4-BE49-F238E27FC236}">
                <a16:creationId xmlns:a16="http://schemas.microsoft.com/office/drawing/2014/main" id="{6F159C25-79ED-4569-949B-3E1F4CD4E100}"/>
              </a:ext>
            </a:extLst>
          </p:cNvPr>
          <p:cNvSpPr>
            <a:spLocks xmlns:a="http://schemas.openxmlformats.org/drawingml/2006/main" noGrp="1"/>
          </p:cNvSpPr>
          <p:nvPr/>
        </p:nvSpPr>
        <p:spPr>
          <a:xfrm xmlns:a="http://schemas.openxmlformats.org/drawingml/2006/main">
            <a:off x="6686550" y="2686050"/>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Held-out evaluation</a:t>
            </a:r>
          </a:p>
        </p:txBody>
      </p:sp>
      <p:sp>
        <p:nvSpPr>
          <p:cNvPr id="18" name="Compare policy behavior, record failures">
            <a:extLst xmlns:a="http://schemas.openxmlformats.org/drawingml/2006/main">
              <a:ext uri="{FF2B5EF4-FFF2-40B4-BE49-F238E27FC236}">
                <a16:creationId xmlns:a16="http://schemas.microsoft.com/office/drawing/2014/main" id="{5EBA26C1-56DF-449D-B876-D2EFFFEE3DFF}"/>
              </a:ext>
            </a:extLst>
          </p:cNvPr>
          <p:cNvSpPr>
            <a:spLocks xmlns:a="http://schemas.openxmlformats.org/drawingml/2006/main" noGrp="1"/>
          </p:cNvSpPr>
          <p:nvPr/>
        </p:nvSpPr>
        <p:spPr>
          <a:xfrm xmlns:a="http://schemas.openxmlformats.org/drawingml/2006/main">
            <a:off x="6686550" y="3067050"/>
            <a:ext cx="413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9675F"/>
                </a:solidFill>
                <a:latin typeface="Avenir Next"/>
                <a:ea typeface="Avenir Next"/>
                <a:cs typeface="Avenir Next"/>
              </a:defRPr>
            </a:defPPr>
          </a:lstStyle>
          <a:p xmlns:a="http://schemas.openxmlformats.org/drawingml/2006/main">
            <a:pPr algn="l">
              <a:lnSpc>
                <a:spcPct val="106000"/>
              </a:lnSpc>
              <a:buNone/>
              <a:defRPr sz="1200" b="0">
                <a:solidFill>
                  <a:srgbClr val="59675F"/>
                </a:solidFill>
                <a:latin typeface="Avenir Next"/>
                <a:ea typeface="Avenir Next"/>
                <a:cs typeface="Avenir Next"/>
              </a:defRPr>
            </a:pPr>
            <a:r>
              <a:rPr sz="1200" b="0">
                <a:solidFill>
                  <a:srgbClr val="59675F"/>
                </a:solidFill>
                <a:latin typeface="Avenir Next"/>
                <a:ea typeface="Avenir Next"/>
                <a:cs typeface="Avenir Next"/>
              </a:rPr>
              <a:t>Compare policy behavior, record failures and measure latency by stage.</a:t>
            </a:r>
          </a:p>
        </p:txBody>
      </p:sp>
      <p:sp>
        <p:nvSpPr>
          <p:cNvPr id="19" name="">
            <a:extLst xmlns:a="http://schemas.openxmlformats.org/drawingml/2006/main">
              <a:ext uri="{FF2B5EF4-FFF2-40B4-BE49-F238E27FC236}">
                <a16:creationId xmlns:a16="http://schemas.microsoft.com/office/drawing/2014/main" id="{A1508E07-BE27-4A1B-A5F4-8417618DD013}"/>
              </a:ext>
            </a:extLst>
          </p:cNvPr>
          <p:cNvSpPr>
            <a:spLocks xmlns:a="http://schemas.openxmlformats.org/drawingml/2006/main" noGrp="1"/>
          </p:cNvSpPr>
          <p:nvPr/>
        </p:nvSpPr>
        <p:spPr>
          <a:xfrm xmlns:a="http://schemas.openxmlformats.org/drawingml/2006/main">
            <a:off x="6686550" y="3771900"/>
            <a:ext cx="41529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20" name="Cloud readiness check">
            <a:extLst xmlns:a="http://schemas.openxmlformats.org/drawingml/2006/main">
              <a:ext uri="{FF2B5EF4-FFF2-40B4-BE49-F238E27FC236}">
                <a16:creationId xmlns:a16="http://schemas.microsoft.com/office/drawing/2014/main" id="{8AD41918-2E60-48F0-97D4-5396993B6674}"/>
              </a:ext>
            </a:extLst>
          </p:cNvPr>
          <p:cNvSpPr>
            <a:spLocks xmlns:a="http://schemas.openxmlformats.org/drawingml/2006/main" noGrp="1"/>
          </p:cNvSpPr>
          <p:nvPr/>
        </p:nvSpPr>
        <p:spPr>
          <a:xfrm xmlns:a="http://schemas.openxmlformats.org/drawingml/2006/main">
            <a:off x="6686550" y="3981450"/>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821"/>
                </a:solidFill>
                <a:latin typeface="Avenir Next"/>
                <a:ea typeface="Avenir Next"/>
                <a:cs typeface="Avenir Next"/>
              </a:defRPr>
            </a:defPPr>
          </a:lstStyle>
          <a:p xmlns:a="http://schemas.openxmlformats.org/drawingml/2006/main">
            <a:pPr algn="l">
              <a:lnSpc>
                <a:spcPct val="106000"/>
              </a:lnSpc>
              <a:buNone/>
              <a:defRPr sz="1650" b="1">
                <a:solidFill>
                  <a:srgbClr val="172821"/>
                </a:solidFill>
                <a:latin typeface="Avenir Next"/>
                <a:ea typeface="Avenir Next"/>
                <a:cs typeface="Avenir Next"/>
              </a:defRPr>
            </a:pPr>
            <a:r>
              <a:rPr sz="1650" b="1">
                <a:solidFill>
                  <a:srgbClr val="172821"/>
                </a:solidFill>
                <a:latin typeface="Avenir Next"/>
                <a:ea typeface="Avenir Next"/>
                <a:cs typeface="Avenir Next"/>
              </a:rPr>
              <a:t>Cloud readiness check</a:t>
            </a:r>
          </a:p>
        </p:txBody>
      </p:sp>
      <p:sp>
        <p:nvSpPr>
          <p:cNvPr id="21" name="Test persistence and both flows before d">
            <a:extLst xmlns:a="http://schemas.openxmlformats.org/drawingml/2006/main">
              <a:ext uri="{FF2B5EF4-FFF2-40B4-BE49-F238E27FC236}">
                <a16:creationId xmlns:a16="http://schemas.microsoft.com/office/drawing/2014/main" id="{53FCB582-C816-44BB-9B50-1DE72C90BD07}"/>
              </a:ext>
            </a:extLst>
          </p:cNvPr>
          <p:cNvSpPr>
            <a:spLocks xmlns:a="http://schemas.openxmlformats.org/drawingml/2006/main" noGrp="1"/>
          </p:cNvSpPr>
          <p:nvPr/>
        </p:nvSpPr>
        <p:spPr>
          <a:xfrm xmlns:a="http://schemas.openxmlformats.org/drawingml/2006/main">
            <a:off x="6686550" y="4362450"/>
            <a:ext cx="4143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9675F"/>
                </a:solidFill>
                <a:latin typeface="Avenir Next"/>
                <a:ea typeface="Avenir Next"/>
                <a:cs typeface="Avenir Next"/>
              </a:defRPr>
            </a:defPPr>
          </a:lstStyle>
          <a:p xmlns:a="http://schemas.openxmlformats.org/drawingml/2006/main">
            <a:pPr algn="l">
              <a:lnSpc>
                <a:spcPct val="106000"/>
              </a:lnSpc>
              <a:buNone/>
              <a:defRPr sz="1200" b="0">
                <a:solidFill>
                  <a:srgbClr val="59675F"/>
                </a:solidFill>
                <a:latin typeface="Avenir Next"/>
                <a:ea typeface="Avenir Next"/>
                <a:cs typeface="Avenir Next"/>
              </a:defRPr>
            </a:pPr>
            <a:r>
              <a:rPr sz="1200" b="0">
                <a:solidFill>
                  <a:srgbClr val="59675F"/>
                </a:solidFill>
                <a:latin typeface="Avenir Next"/>
                <a:ea typeface="Avenir Next"/>
                <a:cs typeface="Avenir Next"/>
              </a:rPr>
              <a:t>Test persistence and both flows before describing a cloud deployment.</a:t>
            </a:r>
          </a:p>
        </p:txBody>
      </p:sp>
      <p:sp>
        <p:nvSpPr>
          <p:cNvPr id="22" name="">
            <a:extLst xmlns:a="http://schemas.openxmlformats.org/drawingml/2006/main">
              <a:ext uri="{FF2B5EF4-FFF2-40B4-BE49-F238E27FC236}">
                <a16:creationId xmlns:a16="http://schemas.microsoft.com/office/drawing/2014/main" id="{43B10D6E-D302-446B-B687-62063B2B1FBD}"/>
              </a:ext>
            </a:extLst>
          </p:cNvPr>
          <p:cNvSpPr>
            <a:spLocks xmlns:a="http://schemas.openxmlformats.org/drawingml/2006/main" noGrp="1"/>
          </p:cNvSpPr>
          <p:nvPr/>
        </p:nvSpPr>
        <p:spPr>
          <a:xfrm xmlns:a="http://schemas.openxmlformats.org/drawingml/2006/main">
            <a:off x="6686550" y="5067300"/>
            <a:ext cx="4152900" cy="19050"/>
          </a:xfrm>
          <a:prstGeom xmlns:a="http://schemas.openxmlformats.org/drawingml/2006/main" prst="rect">
            <a:avLst/>
          </a:prstGeom>
          <a:solidFill xmlns:a="http://schemas.openxmlformats.org/drawingml/2006/main">
            <a:srgbClr val="176B4B"/>
          </a:solidFill>
          <a:ln xmlns:a="http://schemas.openxmlformats.org/drawingml/2006/main" w="0">
            <a:noFill/>
            <a:prstDash val="solid"/>
          </a:ln>
        </p:spPr>
      </p:sp>
      <p:sp>
        <p:nvSpPr>
          <p:cNvPr id="23" name="MVP boundary">
            <a:extLst xmlns:a="http://schemas.openxmlformats.org/drawingml/2006/main">
              <a:ext uri="{FF2B5EF4-FFF2-40B4-BE49-F238E27FC236}">
                <a16:creationId xmlns:a16="http://schemas.microsoft.com/office/drawing/2014/main" id="{5595B7F8-F094-4483-B3E9-1E3B8F06E56A}"/>
              </a:ext>
            </a:extLst>
          </p:cNvPr>
          <p:cNvSpPr>
            <a:spLocks xmlns:a="http://schemas.openxmlformats.org/drawingml/2006/main" noGrp="1"/>
          </p:cNvSpPr>
          <p:nvPr/>
        </p:nvSpPr>
        <p:spPr>
          <a:xfrm xmlns:a="http://schemas.openxmlformats.org/drawingml/2006/main">
            <a:off x="6686550" y="5276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6B4B"/>
                </a:solidFill>
                <a:latin typeface="Avenir Next"/>
                <a:ea typeface="Avenir Next"/>
                <a:cs typeface="Avenir Next"/>
              </a:defRPr>
            </a:defPPr>
          </a:lstStyle>
          <a:p xmlns:a="http://schemas.openxmlformats.org/drawingml/2006/main">
            <a:pPr algn="l">
              <a:lnSpc>
                <a:spcPct val="106000"/>
              </a:lnSpc>
              <a:buNone/>
              <a:defRPr sz="1350" b="1">
                <a:solidFill>
                  <a:srgbClr val="176B4B"/>
                </a:solidFill>
                <a:latin typeface="Avenir Next"/>
                <a:ea typeface="Avenir Next"/>
                <a:cs typeface="Avenir Next"/>
              </a:defRPr>
            </a:pPr>
            <a:r>
              <a:rPr sz="1350" b="1">
                <a:solidFill>
                  <a:srgbClr val="176B4B"/>
                </a:solidFill>
                <a:latin typeface="Avenir Next"/>
                <a:ea typeface="Avenir Next"/>
                <a:cs typeface="Avenir Next"/>
              </a:rPr>
              <a:t>MVP boundary</a:t>
            </a:r>
          </a:p>
        </p:txBody>
      </p:sp>
      <p:sp>
        <p:nvSpPr>
          <p:cNvPr id="24" name="Synthetic data. Simulated outcomes. No p">
            <a:extLst xmlns:a="http://schemas.openxmlformats.org/drawingml/2006/main">
              <a:ext uri="{FF2B5EF4-FFF2-40B4-BE49-F238E27FC236}">
                <a16:creationId xmlns:a16="http://schemas.microsoft.com/office/drawing/2014/main" id="{5DDEEB2B-1510-4262-B559-C9BCA240512B}"/>
              </a:ext>
            </a:extLst>
          </p:cNvPr>
          <p:cNvSpPr>
            <a:spLocks xmlns:a="http://schemas.openxmlformats.org/drawingml/2006/main" noGrp="1"/>
          </p:cNvSpPr>
          <p:nvPr/>
        </p:nvSpPr>
        <p:spPr>
          <a:xfrm xmlns:a="http://schemas.openxmlformats.org/drawingml/2006/main">
            <a:off x="6686550" y="5638800"/>
            <a:ext cx="421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72821"/>
                </a:solidFill>
                <a:latin typeface="Avenir Next"/>
                <a:ea typeface="Avenir Next"/>
                <a:cs typeface="Avenir Next"/>
              </a:defRPr>
            </a:defPPr>
          </a:lstStyle>
          <a:p xmlns:a="http://schemas.openxmlformats.org/drawingml/2006/main">
            <a:pPr algn="l">
              <a:lnSpc>
                <a:spcPct val="106000"/>
              </a:lnSpc>
              <a:buNone/>
              <a:defRPr sz="1125" b="0">
                <a:solidFill>
                  <a:srgbClr val="172821"/>
                </a:solidFill>
                <a:latin typeface="Avenir Next"/>
                <a:ea typeface="Avenir Next"/>
                <a:cs typeface="Avenir Next"/>
              </a:defRPr>
            </a:pPr>
            <a:r>
              <a:rPr sz="1125" b="0">
                <a:solidFill>
                  <a:srgbClr val="172821"/>
                </a:solidFill>
                <a:latin typeface="Avenir Next"/>
                <a:ea typeface="Avenir Next"/>
                <a:cs typeface="Avenir Next"/>
              </a:rPr>
              <a:t>Synthetic data. Simulated outcomes. No payment execution.</a:t>
            </a:r>
          </a:p>
        </p:txBody>
      </p:sp>
      <p:sp>
        <p:nvSpPr>
          <p:cNvPr id="25" name="">
            <a:extLst xmlns:a="http://schemas.openxmlformats.org/drawingml/2006/main">
              <a:ext uri="{FF2B5EF4-FFF2-40B4-BE49-F238E27FC236}">
                <a16:creationId xmlns:a16="http://schemas.microsoft.com/office/drawing/2014/main" id="{A1791610-507C-4403-937F-D86CF8F4F40F}"/>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C9D1C8"/>
          </a:solidFill>
          <a:ln xmlns:a="http://schemas.openxmlformats.org/drawingml/2006/main" w="0">
            <a:noFill/>
            <a:prstDash val="solid"/>
          </a:ln>
        </p:spPr>
      </p:sp>
      <p:sp>
        <p:nvSpPr>
          <p:cNvPr id="26" name="No paid services provisioned  /  Vertex ">
            <a:extLst xmlns:a="http://schemas.openxmlformats.org/drawingml/2006/main">
              <a:ext uri="{FF2B5EF4-FFF2-40B4-BE49-F238E27FC236}">
                <a16:creationId xmlns:a16="http://schemas.microsoft.com/office/drawing/2014/main" id="{D3C203DA-41A7-4B6D-A728-5C8AE2BABE78}"/>
              </a:ext>
            </a:extLst>
          </p:cNvPr>
          <p:cNvSpPr>
            <a:spLocks xmlns:a="http://schemas.openxmlformats.org/drawingml/2006/main" noGrp="1"/>
          </p:cNvSpPr>
          <p:nvPr/>
        </p:nvSpPr>
        <p:spPr>
          <a:xfrm xmlns:a="http://schemas.openxmlformats.org/drawingml/2006/main">
            <a:off x="685800" y="6467475"/>
            <a:ext cx="10820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9675F"/>
                </a:solidFill>
                <a:latin typeface="Avenir Next"/>
                <a:ea typeface="Avenir Next"/>
                <a:cs typeface="Avenir Next"/>
              </a:defRPr>
            </a:defPPr>
          </a:lstStyle>
          <a:p xmlns:a="http://schemas.openxmlformats.org/drawingml/2006/main">
            <a:pPr algn="l">
              <a:lnSpc>
                <a:spcPct val="106000"/>
              </a:lnSpc>
              <a:buNone/>
              <a:defRPr sz="825" b="0">
                <a:solidFill>
                  <a:srgbClr val="59675F"/>
                </a:solidFill>
                <a:latin typeface="Avenir Next"/>
                <a:ea typeface="Avenir Next"/>
                <a:cs typeface="Avenir Next"/>
              </a:defRPr>
            </a:pPr>
            <a:r>
              <a:rPr sz="825" b="0">
                <a:solidFill>
                  <a:srgbClr val="59675F"/>
                </a:solidFill>
                <a:latin typeface="Avenir Next"/>
                <a:ea typeface="Avenir Next"/>
                <a:cs typeface="Avenir Next"/>
              </a:rPr>
              <a:t>No paid services provisioned  /  Vertex and Cloud Run optional; usage can incur charges</a:t>
            </a:r>
          </a:p>
        </p:txBody>
      </p:sp>
    </p:spTree>
    <p:extLst>
      <p:ext uri="{BB962C8B-B14F-4D97-AF65-F5344CB8AC3E}">
        <p14:creationId xmlns:p14="http://schemas.microsoft.com/office/powerpoint/2010/main" val="9845263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2026-10-11T15:23:10.8540000Z</dcterms:created>
  <dcterms:modified xsi:type="dcterms:W3CDTF">2026-10-11T15:23:10.8540000Z</dcterms:modified>
</coreProperties>
</file>