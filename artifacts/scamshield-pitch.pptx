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a5daaef82834053" /><Relationship Type="http://schemas.openxmlformats.org/officeDocument/2006/relationships/extended-properties" Target="/docProps/app.xml" Id="R75c935af6c5644fb" /><Relationship Type="http://schemas.openxmlformats.org/officeDocument/2006/relationships/officeDocument" Target="/ppt/presentation.xml" Id="R9fe189a4bacc4d6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63ff630cd864034"/>
  </p:sldMasterIdLst>
  <p:notesMasterIdLst>
    <p:notesMasterId xmlns:r="http://schemas.openxmlformats.org/officeDocument/2006/relationships" r:id="Rc12891d8e7524ef0"/>
  </p:notesMasterIdLst>
  <p:sldIdLst>
    <p:sldId xmlns:r="http://schemas.openxmlformats.org/officeDocument/2006/relationships" id="256" r:id="R3a43be0587ac444b"/>
    <p:sldId xmlns:r="http://schemas.openxmlformats.org/officeDocument/2006/relationships" id="257" r:id="R62de3687a25c42eb"/>
    <p:sldId xmlns:r="http://schemas.openxmlformats.org/officeDocument/2006/relationships" id="258" r:id="R2af96650e8914f52"/>
    <p:sldId xmlns:r="http://schemas.openxmlformats.org/officeDocument/2006/relationships" id="259" r:id="R2648dcfdc7054cef"/>
    <p:sldId xmlns:r="http://schemas.openxmlformats.org/officeDocument/2006/relationships" id="260" r:id="Re15a68b0a1264c34"/>
    <p:sldId xmlns:r="http://schemas.openxmlformats.org/officeDocument/2006/relationships" id="261" r:id="R183093ec830e4f5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83349ae23634e3b" /><Relationship Type="http://schemas.openxmlformats.org/officeDocument/2006/relationships/slideMaster" Target="/ppt/slideMasters/slideMaster1.xml" Id="R663ff630cd864034" /><Relationship Type="http://schemas.openxmlformats.org/officeDocument/2006/relationships/notesMaster" Target="/ppt/notesMasters/notesMaster1.xml" Id="Rc12891d8e7524ef0" /><Relationship Type="http://schemas.openxmlformats.org/officeDocument/2006/relationships/presProps" Target="/ppt/presProps.xml" Id="R3d0d9c80dbad4eb6" /><Relationship Type="http://schemas.openxmlformats.org/officeDocument/2006/relationships/tableStyles" Target="/ppt/tableStyles.xml" Id="R0f1587229c5d4386" /><Relationship Type="http://schemas.openxmlformats.org/officeDocument/2006/relationships/slide" Target="/ppt/slides/slide1.xml" Id="R3a43be0587ac444b" /><Relationship Type="http://schemas.openxmlformats.org/officeDocument/2006/relationships/slide" Target="/ppt/slides/slide2.xml" Id="R62de3687a25c42eb" /><Relationship Type="http://schemas.openxmlformats.org/officeDocument/2006/relationships/slide" Target="/ppt/slides/slide3.xml" Id="R2af96650e8914f52" /><Relationship Type="http://schemas.openxmlformats.org/officeDocument/2006/relationships/slide" Target="/ppt/slides/slide4.xml" Id="R2648dcfdc7054cef" /><Relationship Type="http://schemas.openxmlformats.org/officeDocument/2006/relationships/slide" Target="/ppt/slides/slide5.xml" Id="Re15a68b0a1264c34" /><Relationship Type="http://schemas.openxmlformats.org/officeDocument/2006/relationships/slide" Target="/ppt/slides/slide6.xml" Id="R183093ec830e4f5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d9e9482002540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00bd8f8ec9b446e" /><Relationship Type="http://schemas.openxmlformats.org/officeDocument/2006/relationships/notesMaster" Target="/ppt/notesMasters/notesMaster1.xml" Id="R007e01ec7c2441a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ed77050fd574d8e" /><Relationship Type="http://schemas.openxmlformats.org/officeDocument/2006/relationships/notesMaster" Target="/ppt/notesMasters/notesMaster1.xml" Id="R6b79bb6f102a404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19f33a89c2445e8" /><Relationship Type="http://schemas.openxmlformats.org/officeDocument/2006/relationships/notesMaster" Target="/ppt/notesMasters/notesMaster1.xml" Id="R321376a58f554a1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1c67ca7a0364788" /><Relationship Type="http://schemas.openxmlformats.org/officeDocument/2006/relationships/notesMaster" Target="/ppt/notesMasters/notesMaster1.xml" Id="Rdcc64b796faa414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9a607e09d05428e" /><Relationship Type="http://schemas.openxmlformats.org/officeDocument/2006/relationships/notesMaster" Target="/ppt/notesMasters/notesMaster1.xml" Id="Rf7ebe7cba1ae4fa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159d51560e94fbc" /><Relationship Type="http://schemas.openxmlformats.org/officeDocument/2006/relationships/notesMaster" Target="/ppt/notesMasters/notesMaster1.xml" Id="Rc0471e83ba60433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ScamShield is a proposal for proportionate payment intervention. The prototype uses synthetic records and simulated outcomes. Source: approved design specification, docs/superpowers/specs/2026-10-11-scamshield-design.md.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 payment and message details on this slide are synthetic. A safe-account classification at the specified provisional threshold together with a new recipient routes to review; the recommendation language is intentionally cautious. Source: approved design specification, sections “Rules and policy” and “Demonstration and evaluation”.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two workflow adapters feed one assessment contract. The policy recommendation is determined from recorded evidence; the explanation is generated separately and cannot change the recommendation. Source: approved design specification, sections “Workflows”, “Architecture” and “Model boundaries and resilience”.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Context classification is configurable: Jev or Gemini on Vertex AI. Gemini explanation remains a separate call after the recommendation is stored. Fixture mode supports a reproducible offline demonstration. Live providers and deployment are unverified. Source: approved design specification, sections “Architecture” and “Model boundaries and resilience”, with the project integration clarification that Google Cloud Gemini classification is supported and Jev is optional.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six named scenarios are in the spec; this slide shows four representative outcomes. Evaluation uses 40 synthetic examples split into 20 development and 20 held-out, with identical-input rules-only comparison. The dataset does not establish real-world fraud accuracy. Source: approved design specification, section “Demonstration and evaluation”.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schedule is a proposed delivery sequence, not a claim that implementation or deployment has completed. Cloud readiness requires integration checks against PostgreSQL and end-to-end flows. Optional invoice extraction is outside this first pitch scope. Source: approved design specification “Delivery sequence” and implementation plan “Presentation”.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baa3eda8054c7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dc255bea8f473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c0d4381bf2425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aa9d977a2844a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03abf6ca2c443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69643384bb4ff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1FCC3D2-221B-4A79-9071-97D8B8E103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90781E0-6B5D-4F3C-9316-D430AFE7235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A5F19F3-0EB2-4062-BFAE-80EED2D7F5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D61F080-F56B-4705-BFE9-FC27613526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0429F6C-8F71-4998-B351-2DB3C0B1C9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1F5A207-BF20-4AFD-8873-0221B650E61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B5E8636-34C1-402D-B5AE-FC44508809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483D2E1-FE49-4D63-B24E-FD49147A29A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2154D8D-E573-4474-AFB5-6A425EE87F5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38E5DFC-6953-4B97-9E6A-29C0CA8E0C3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c79367855304fad" /><Relationship Type="http://schemas.openxmlformats.org/officeDocument/2006/relationships/slideLayout" Target="/ppt/slideLayouts/slideLayout1.xml" Id="R4d2f3976bd844511" /><Relationship Type="http://schemas.openxmlformats.org/officeDocument/2006/relationships/slideLayout" Target="/ppt/slideLayouts/slideLayout2.xml" Id="R0876175923e24faa" /><Relationship Type="http://schemas.openxmlformats.org/officeDocument/2006/relationships/slideLayout" Target="/ppt/slideLayouts/slideLayout3.xml" Id="R051b01d998714a34" /><Relationship Type="http://schemas.openxmlformats.org/officeDocument/2006/relationships/slideLayout" Target="/ppt/slideLayouts/slideLayout4.xml" Id="R79a8e2abf05a446e" /><Relationship Type="http://schemas.openxmlformats.org/officeDocument/2006/relationships/slideLayout" Target="/ppt/slideLayouts/slideLayout5.xml" Id="R3c293a8d0740495d" /><Relationship Type="http://schemas.openxmlformats.org/officeDocument/2006/relationships/slideLayout" Target="/ppt/slideLayouts/slideLayout6.xml" Id="R4267ce4243f344f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2f3976bd844511"/>
    <p:sldLayoutId xmlns:r="http://schemas.openxmlformats.org/officeDocument/2006/relationships" id="2147483650" r:id="R0876175923e24faa"/>
    <p:sldLayoutId xmlns:r="http://schemas.openxmlformats.org/officeDocument/2006/relationships" id="2147483651" r:id="R051b01d998714a34"/>
    <p:sldLayoutId xmlns:r="http://schemas.openxmlformats.org/officeDocument/2006/relationships" id="2147483652" r:id="R79a8e2abf05a446e"/>
    <p:sldLayoutId xmlns:r="http://schemas.openxmlformats.org/officeDocument/2006/relationships" id="2147483653" r:id="R3c293a8d0740495d"/>
    <p:sldLayoutId xmlns:r="http://schemas.openxmlformats.org/officeDocument/2006/relationships" id="2147483654" r:id="R4267ce4243f344f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d7de9ed62943d1" /><Relationship Type="http://schemas.openxmlformats.org/officeDocument/2006/relationships/notesSlide" Target="/ppt/notesSlides/notesSlide1.xml" Id="R9f175a77f39f433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9a65dabe9f4067" /><Relationship Type="http://schemas.openxmlformats.org/officeDocument/2006/relationships/notesSlide" Target="/ppt/notesSlides/notesSlide2.xml" Id="Rd9298979ba0f47d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c2015f97684ff7" /><Relationship Type="http://schemas.openxmlformats.org/officeDocument/2006/relationships/notesSlide" Target="/ppt/notesSlides/notesSlide3.xml" Id="Rfd67094c1b0544d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6e1fa076574157" /><Relationship Type="http://schemas.openxmlformats.org/officeDocument/2006/relationships/notesSlide" Target="/ppt/notesSlides/notesSlide4.xml" Id="R26217314000643f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9cbabc6b4d4b42" /><Relationship Type="http://schemas.openxmlformats.org/officeDocument/2006/relationships/notesSlide" Target="/ppt/notesSlides/notesSlide5.xml" Id="R2a02b1f792aa44e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3d524a29aa4ab9" /><Relationship Type="http://schemas.openxmlformats.org/officeDocument/2006/relationships/notesSlide" Target="/ppt/notesSlides/notesSlide6.xml" Id="Rd0359c421086451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CAMSHIELD">
            <a:extLst xmlns:a="http://schemas.openxmlformats.org/drawingml/2006/main">
              <a:ext uri="{FF2B5EF4-FFF2-40B4-BE49-F238E27FC236}">
                <a16:creationId xmlns:a16="http://schemas.microsoft.com/office/drawing/2014/main" id="{63FF1C7B-8378-4D84-B9F8-B1AFEB0BF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176B4B"/>
                </a:solidFill>
                <a:latin typeface="Avenir Next"/>
                <a:ea typeface="Avenir Next"/>
                <a:cs typeface="Avenir Next"/>
              </a:rPr>
              <a:t>SCAMSHIELD</a:t>
            </a:r>
          </a:p>
        </p:txBody>
      </p:sp>
      <p:sp>
        <p:nvSpPr>
          <p:cNvPr id="2" name="PAYMENT SAFETY  /  CONCEPT">
            <a:extLst xmlns:a="http://schemas.openxmlformats.org/drawingml/2006/main">
              <a:ext uri="{FF2B5EF4-FFF2-40B4-BE49-F238E27FC236}">
                <a16:creationId xmlns:a16="http://schemas.microsoft.com/office/drawing/2014/main" id="{E96FCEB4-464D-4C0F-978C-0B4A9B76C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542925"/>
            <a:ext cx="3105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PAYMENT SAFETY  /  CONCEPT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24EBFA-CE6E-4DF6-B426-91611F0E6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048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A pause at the&#10;right moment.">
            <a:extLst xmlns:a="http://schemas.openxmlformats.org/drawingml/2006/main">
              <a:ext uri="{FF2B5EF4-FFF2-40B4-BE49-F238E27FC236}">
                <a16:creationId xmlns:a16="http://schemas.microsoft.com/office/drawing/2014/main" id="{AF3A4D3C-676B-4C21-8448-21CE1F403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65722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495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91000"/>
              </a:lnSpc>
              <a:buNone/>
              <a:defRPr sz="495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4950" b="1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A pause at the</a:t>
            </a:r>
          </a:p>
          <a:p xmlns:a="http://schemas.openxmlformats.org/drawingml/2006/main">
            <a:pPr algn="l">
              <a:lnSpc>
                <a:spcPct val="91000"/>
              </a:lnSpc>
              <a:buNone/>
              <a:defRPr sz="495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4950" b="1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right moment.</a:t>
            </a:r>
          </a:p>
        </p:txBody>
      </p:sp>
      <p:sp>
        <p:nvSpPr>
          <p:cNvPr id="5" name="Payment risk review for the details that">
            <a:extLst xmlns:a="http://schemas.openxmlformats.org/drawingml/2006/main">
              <a:ext uri="{FF2B5EF4-FFF2-40B4-BE49-F238E27FC236}">
                <a16:creationId xmlns:a16="http://schemas.microsoft.com/office/drawing/2014/main" id="{E966FA31-DFCD-42E0-8D6D-DFF3B342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562350"/>
            <a:ext cx="581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80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1800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Payment risk review for the details that travel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80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1800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with a transfer: the message, the recipient, the account.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080F7C-5C73-42C3-A6A0-71594CFE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ONE ASSESSMENT ENGINE">
            <a:extLst xmlns:a="http://schemas.openxmlformats.org/drawingml/2006/main">
              <a:ext uri="{FF2B5EF4-FFF2-40B4-BE49-F238E27FC236}">
                <a16:creationId xmlns:a16="http://schemas.microsoft.com/office/drawing/2014/main" id="{DD1E6A9B-E55D-4990-80D9-91410A5B9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176B4B"/>
                </a:solidFill>
                <a:latin typeface="Avenir Next"/>
                <a:ea typeface="Avenir Next"/>
                <a:cs typeface="Avenir Next"/>
              </a:rPr>
              <a:t>ONE ASSESSMENT ENGINE</a:t>
            </a:r>
          </a:p>
        </p:txBody>
      </p:sp>
      <p:sp>
        <p:nvSpPr>
          <p:cNvPr id="8" name="Consumer transfer">
            <a:extLst xmlns:a="http://schemas.openxmlformats.org/drawingml/2006/main">
              <a:ext uri="{FF2B5EF4-FFF2-40B4-BE49-F238E27FC236}">
                <a16:creationId xmlns:a16="http://schemas.microsoft.com/office/drawing/2014/main" id="{EE33F85A-30EA-43CE-A548-A8E5B44EB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3524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Consumer transfer</a:t>
            </a:r>
          </a:p>
        </p:txBody>
      </p:sp>
      <p:sp>
        <p:nvSpPr>
          <p:cNvPr id="9" name="UPI payment with message context">
            <a:extLst xmlns:a="http://schemas.openxmlformats.org/drawingml/2006/main">
              <a:ext uri="{FF2B5EF4-FFF2-40B4-BE49-F238E27FC236}">
                <a16:creationId xmlns:a16="http://schemas.microsoft.com/office/drawing/2014/main" id="{2392A005-45C6-4738-9207-2F0D0C792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UPI payment with message context</a:t>
            </a:r>
          </a:p>
        </p:txBody>
      </p:sp>
      <p:sp>
        <p:nvSpPr>
          <p:cNvPr id="10" name="Business invoice">
            <a:extLst xmlns:a="http://schemas.openxmlformats.org/drawingml/2006/main">
              <a:ext uri="{FF2B5EF4-FFF2-40B4-BE49-F238E27FC236}">
                <a16:creationId xmlns:a16="http://schemas.microsoft.com/office/drawing/2014/main" id="{9B9FD9A5-0ACC-4A68-8D5A-799D7A012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5467350"/>
            <a:ext cx="3524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Business invoice</a:t>
            </a:r>
          </a:p>
        </p:txBody>
      </p:sp>
      <p:sp>
        <p:nvSpPr>
          <p:cNvPr id="11" name="Vendor details checked against records">
            <a:extLst xmlns:a="http://schemas.openxmlformats.org/drawingml/2006/main">
              <a:ext uri="{FF2B5EF4-FFF2-40B4-BE49-F238E27FC236}">
                <a16:creationId xmlns:a16="http://schemas.microsoft.com/office/drawing/2014/main" id="{85C9128D-0F40-4C72-B034-E83E285B9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582930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Vendor details checked against records</a:t>
            </a:r>
          </a:p>
        </p:txBody>
      </p:sp>
      <p:sp>
        <p:nvSpPr>
          <p:cNvPr id="12" name="01">
            <a:extLst xmlns:a="http://schemas.openxmlformats.org/drawingml/2006/main">
              <a:ext uri="{FF2B5EF4-FFF2-40B4-BE49-F238E27FC236}">
                <a16:creationId xmlns:a16="http://schemas.microsoft.com/office/drawing/2014/main" id="{610CA576-3B9A-42BD-9456-A5420738B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5457825"/>
            <a:ext cx="781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3000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r">
              <a:lnSpc>
                <a:spcPct val="106000"/>
              </a:lnSpc>
              <a:buNone/>
              <a:defRPr sz="3000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176B4B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30432551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CAMSHIELD  /  CONCEPT PITCH">
            <a:extLst xmlns:a="http://schemas.openxmlformats.org/drawingml/2006/main">
              <a:ext uri="{FF2B5EF4-FFF2-40B4-BE49-F238E27FC236}">
                <a16:creationId xmlns:a16="http://schemas.microsoft.com/office/drawing/2014/main" id="{4CD6C99F-AEC3-481B-8EEF-6D34109A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176B4B"/>
                </a:solidFill>
                <a:latin typeface="Avenir Next"/>
                <a:ea typeface="Avenir Next"/>
                <a:cs typeface="Avenir Next"/>
              </a:rPr>
              <a:t>SCAMSHIELD  /  CONCEPT PITCH</a:t>
            </a:r>
          </a:p>
        </p:txBody>
      </p:sp>
      <p:sp>
        <p:nvSpPr>
          <p:cNvPr id="2" name="02  /  06">
            <a:extLst xmlns:a="http://schemas.openxmlformats.org/drawingml/2006/main">
              <a:ext uri="{FF2B5EF4-FFF2-40B4-BE49-F238E27FC236}">
                <a16:creationId xmlns:a16="http://schemas.microsoft.com/office/drawing/2014/main" id="{27335B55-0591-4F7A-B2E8-E346B89EA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09575"/>
            <a:ext cx="933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02  /  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5111EB-2920-42AD-9B1A-C71541C2D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he risky detail often arrives beside th">
            <a:extLst xmlns:a="http://schemas.openxmlformats.org/drawingml/2006/main">
              <a:ext uri="{FF2B5EF4-FFF2-40B4-BE49-F238E27FC236}">
                <a16:creationId xmlns:a16="http://schemas.microsoft.com/office/drawing/2014/main" id="{F65432CF-506F-4BD4-9CE1-F51DE012C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00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98000"/>
              </a:lnSpc>
              <a:buNone/>
              <a:defRPr sz="300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The risky detail often arrives beside the payment</a:t>
            </a:r>
          </a:p>
        </p:txBody>
      </p:sp>
      <p:sp>
        <p:nvSpPr>
          <p:cNvPr id="5" name="Forms capture amount and destination. Co">
            <a:extLst xmlns:a="http://schemas.openxmlformats.org/drawingml/2006/main">
              <a:ext uri="{FF2B5EF4-FFF2-40B4-BE49-F238E27FC236}">
                <a16:creationId xmlns:a16="http://schemas.microsoft.com/office/drawing/2014/main" id="{76B8A8F9-DC5E-46E7-8C6E-2490B18BD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8775"/>
            <a:ext cx="10477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Forms capture amount and destination. Context can change what the same payment means.</a:t>
            </a:r>
          </a:p>
        </p:txBody>
      </p:sp>
      <p:sp>
        <p:nvSpPr>
          <p:cNvPr id="6" name="SYNTHETIC EXAMPLE  /  UPI TRANSFER">
            <a:extLst xmlns:a="http://schemas.openxmlformats.org/drawingml/2006/main">
              <a:ext uri="{FF2B5EF4-FFF2-40B4-BE49-F238E27FC236}">
                <a16:creationId xmlns:a16="http://schemas.microsoft.com/office/drawing/2014/main" id="{EA61A833-2FAF-4022-AFF8-8E35A8A92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3714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BE7839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BE783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BE7839"/>
                </a:solidFill>
                <a:latin typeface="Avenir Next"/>
                <a:ea typeface="Avenir Next"/>
                <a:cs typeface="Avenir Next"/>
              </a:rPr>
              <a:t>SYNTHETIC EXAMPLE  /  UPI TRANSFER</a:t>
            </a:r>
          </a:p>
        </p:txBody>
      </p:sp>
      <p:sp>
        <p:nvSpPr>
          <p:cNvPr id="7" name="₹25,000">
            <a:extLst xmlns:a="http://schemas.openxmlformats.org/drawingml/2006/main">
              <a:ext uri="{FF2B5EF4-FFF2-40B4-BE49-F238E27FC236}">
                <a16:creationId xmlns:a16="http://schemas.microsoft.com/office/drawing/2014/main" id="{D67B8003-4DA5-4E82-A065-15C8687E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4000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405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405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4050" b="1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₹25,000</a:t>
            </a:r>
          </a:p>
        </p:txBody>
      </p:sp>
      <p:sp>
        <p:nvSpPr>
          <p:cNvPr id="8" name="New recipient  ·  reserve@upi">
            <a:extLst xmlns:a="http://schemas.openxmlformats.org/drawingml/2006/main">
              <a:ext uri="{FF2B5EF4-FFF2-40B4-BE49-F238E27FC236}">
                <a16:creationId xmlns:a16="http://schemas.microsoft.com/office/drawing/2014/main" id="{3C3E1F14-B721-4659-83B2-AA23366D3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67100"/>
            <a:ext cx="43434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New recipient  ·  reserve@upi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C5615B-6054-44BE-A22D-8F610E57D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429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“Move your money to a safe account now.&#10;">
            <a:extLst xmlns:a="http://schemas.openxmlformats.org/drawingml/2006/main">
              <a:ext uri="{FF2B5EF4-FFF2-40B4-BE49-F238E27FC236}">
                <a16:creationId xmlns:a16="http://schemas.microsoft.com/office/drawing/2014/main" id="{BC6B6A6E-D48B-4434-8AE7-3D1B05CB6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8150"/>
            <a:ext cx="461962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1875" b="0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“Move your money to a safe account now.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1875" b="0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Do not call the bank.”</a:t>
            </a:r>
          </a:p>
        </p:txBody>
      </p:sp>
      <p:sp>
        <p:nvSpPr>
          <p:cNvPr id="11" name="MESSAGE TEXT IS EVIDENCE, NOT AN INSTRUC">
            <a:extLst xmlns:a="http://schemas.openxmlformats.org/drawingml/2006/main">
              <a:ext uri="{FF2B5EF4-FFF2-40B4-BE49-F238E27FC236}">
                <a16:creationId xmlns:a16="http://schemas.microsoft.com/office/drawing/2014/main" id="{B75AF692-C881-4EFD-B068-EB46C2012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6196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825" b="1">
                <a:solidFill>
                  <a:srgbClr val="9F4E3B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825" b="1">
                <a:solidFill>
                  <a:srgbClr val="9F4E3B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9F4E3B"/>
                </a:solidFill>
                <a:latin typeface="Avenir Next"/>
                <a:ea typeface="Avenir Next"/>
                <a:cs typeface="Avenir Next"/>
              </a:rPr>
              <a:t>MESSAGE TEXT IS EVIDENCE, NOT AN INSTRUCTION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639F70-FA8B-4F2F-BAEC-9AA27CCD7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305050"/>
            <a:ext cx="9525" cy="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13" name="WHAT THE REVIEW CAN SAY">
            <a:extLst xmlns:a="http://schemas.openxmlformats.org/drawingml/2006/main">
              <a:ext uri="{FF2B5EF4-FFF2-40B4-BE49-F238E27FC236}">
                <a16:creationId xmlns:a16="http://schemas.microsoft.com/office/drawing/2014/main" id="{FD251A3F-C1DE-49F5-99A2-AEBAE0BCD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381250"/>
            <a:ext cx="4191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176B4B"/>
                </a:solidFill>
                <a:latin typeface="Avenir Next"/>
                <a:ea typeface="Avenir Next"/>
                <a:cs typeface="Avenir Next"/>
              </a:rPr>
              <a:t>WHAT THE REVIEW CAN SAY</a:t>
            </a:r>
          </a:p>
        </p:txBody>
      </p:sp>
      <p:sp>
        <p:nvSpPr>
          <p:cNvPr id="14" name="Review the request&#10;before proceeding.">
            <a:extLst xmlns:a="http://schemas.openxmlformats.org/drawingml/2006/main">
              <a:ext uri="{FF2B5EF4-FFF2-40B4-BE49-F238E27FC236}">
                <a16:creationId xmlns:a16="http://schemas.microsoft.com/office/drawing/2014/main" id="{99E38C9A-3B08-415E-B32F-B328E9B82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771775"/>
            <a:ext cx="4667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2625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2625" b="1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Review the request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625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2625" b="1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before proceeding.</a:t>
            </a:r>
          </a:p>
        </p:txBody>
      </p:sp>
      <p:sp>
        <p:nvSpPr>
          <p:cNvPr id="15" name="Recorded signals">
            <a:extLst xmlns:a="http://schemas.openxmlformats.org/drawingml/2006/main">
              <a:ext uri="{FF2B5EF4-FFF2-40B4-BE49-F238E27FC236}">
                <a16:creationId xmlns:a16="http://schemas.microsoft.com/office/drawing/2014/main" id="{C08BF4F2-BFC5-4B43-B543-16994D3E7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2571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176B4B"/>
                </a:solidFill>
                <a:latin typeface="Avenir Next"/>
                <a:ea typeface="Avenir Next"/>
                <a:cs typeface="Avenir Next"/>
              </a:rPr>
              <a:t>Recorded signals</a:t>
            </a:r>
          </a:p>
        </p:txBody>
      </p:sp>
      <p:sp>
        <p:nvSpPr>
          <p:cNvPr id="16" name="New recipient&#10;Safe-account language&#10;Requ">
            <a:extLst xmlns:a="http://schemas.openxmlformats.org/drawingml/2006/main">
              <a:ext uri="{FF2B5EF4-FFF2-40B4-BE49-F238E27FC236}">
                <a16:creationId xmlns:a16="http://schemas.microsoft.com/office/drawing/2014/main" id="{204E8CF5-7592-4BC8-AAC7-1A500715F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371975"/>
            <a:ext cx="471487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28000"/>
              </a:lnSpc>
              <a:buNone/>
              <a:defRPr sz="1500" b="0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New recipient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500" b="0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Safe-account language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500" b="0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Request to avoid verification</a:t>
            </a:r>
          </a:p>
        </p:txBody>
      </p:sp>
      <p:sp>
        <p:nvSpPr>
          <p:cNvPr id="17" name="A recommendation follows configured poli">
            <a:extLst xmlns:a="http://schemas.openxmlformats.org/drawingml/2006/main">
              <a:ext uri="{FF2B5EF4-FFF2-40B4-BE49-F238E27FC236}">
                <a16:creationId xmlns:a16="http://schemas.microsoft.com/office/drawing/2014/main" id="{1A7F23DD-64FC-4DAC-AE52-8BCEF832E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55435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A recommendation follows configured policy. It is not a fraud verdict.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6EC457-91EC-4E19-BBBA-2E8E84007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ynthetic demonstration concept  /  No p">
            <a:extLst xmlns:a="http://schemas.openxmlformats.org/drawingml/2006/main">
              <a:ext uri="{FF2B5EF4-FFF2-40B4-BE49-F238E27FC236}">
                <a16:creationId xmlns:a16="http://schemas.microsoft.com/office/drawing/2014/main" id="{84DB543E-4DEA-48E7-9038-88AB1D9D2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67475"/>
            <a:ext cx="10820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Synthetic demonstration concept  /  No payment execution</a:t>
            </a:r>
          </a:p>
        </p:txBody>
      </p:sp>
    </p:spTree>
    <p:extLst>
      <p:ext uri="{BB962C8B-B14F-4D97-AF65-F5344CB8AC3E}">
        <p14:creationId xmlns:p14="http://schemas.microsoft.com/office/powerpoint/2010/main" val="14785707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CAMSHIELD  /  CONCEPT PITCH">
            <a:extLst xmlns:a="http://schemas.openxmlformats.org/drawingml/2006/main">
              <a:ext uri="{FF2B5EF4-FFF2-40B4-BE49-F238E27FC236}">
                <a16:creationId xmlns:a16="http://schemas.microsoft.com/office/drawing/2014/main" id="{9DE7E46F-05BE-4214-A3E1-988BD6C6A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176B4B"/>
                </a:solidFill>
                <a:latin typeface="Avenir Next"/>
                <a:ea typeface="Avenir Next"/>
                <a:cs typeface="Avenir Next"/>
              </a:rPr>
              <a:t>SCAMSHIELD  /  CONCEPT PITCH</a:t>
            </a:r>
          </a:p>
        </p:txBody>
      </p:sp>
      <p:sp>
        <p:nvSpPr>
          <p:cNvPr id="2" name="03  /  06">
            <a:extLst xmlns:a="http://schemas.openxmlformats.org/drawingml/2006/main">
              <a:ext uri="{FF2B5EF4-FFF2-40B4-BE49-F238E27FC236}">
                <a16:creationId xmlns:a16="http://schemas.microsoft.com/office/drawing/2014/main" id="{7D2A4B3E-6AAB-4EF9-A9EE-9F77068DB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09575"/>
            <a:ext cx="933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03  /  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887086-D332-46CE-9117-D6D8DCA1E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wo payment paths share one decision eng">
            <a:extLst xmlns:a="http://schemas.openxmlformats.org/drawingml/2006/main">
              <a:ext uri="{FF2B5EF4-FFF2-40B4-BE49-F238E27FC236}">
                <a16:creationId xmlns:a16="http://schemas.microsoft.com/office/drawing/2014/main" id="{BA3CE98D-8975-495C-9312-ED713941F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00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98000"/>
              </a:lnSpc>
              <a:buNone/>
              <a:defRPr sz="300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Two payment paths share one decision engine</a:t>
            </a:r>
          </a:p>
        </p:txBody>
      </p:sp>
      <p:sp>
        <p:nvSpPr>
          <p:cNvPr id="5" name="Adapters retain the details each workflo">
            <a:extLst xmlns:a="http://schemas.openxmlformats.org/drawingml/2006/main">
              <a:ext uri="{FF2B5EF4-FFF2-40B4-BE49-F238E27FC236}">
                <a16:creationId xmlns:a16="http://schemas.microsoft.com/office/drawing/2014/main" id="{1B1506CC-42C5-43AA-9B4D-A23B8ADE9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8775"/>
            <a:ext cx="10477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Adapters retain the details each workflow needs, then normalize into a common assessment.</a:t>
            </a:r>
          </a:p>
        </p:txBody>
      </p:sp>
      <p:sp>
        <p:nvSpPr>
          <p:cNvPr id="6" name="01">
            <a:extLst xmlns:a="http://schemas.openxmlformats.org/drawingml/2006/main">
              <a:ext uri="{FF2B5EF4-FFF2-40B4-BE49-F238E27FC236}">
                <a16:creationId xmlns:a16="http://schemas.microsoft.com/office/drawing/2014/main" id="{7348B773-56BC-4E8D-8299-7F362DAC2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552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100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176B4B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7" name="Consumer transfer">
            <a:extLst xmlns:a="http://schemas.openxmlformats.org/drawingml/2006/main">
              <a:ext uri="{FF2B5EF4-FFF2-40B4-BE49-F238E27FC236}">
                <a16:creationId xmlns:a16="http://schemas.microsoft.com/office/drawing/2014/main" id="{13268779-37A2-4EB2-B7A8-075E27B83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343150"/>
            <a:ext cx="3429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Consumer transfer</a:t>
            </a:r>
          </a:p>
        </p:txBody>
      </p:sp>
      <p:sp>
        <p:nvSpPr>
          <p:cNvPr id="8" name="Capture amount, UPI recipient and option">
            <a:extLst xmlns:a="http://schemas.openxmlformats.org/drawingml/2006/main">
              <a:ext uri="{FF2B5EF4-FFF2-40B4-BE49-F238E27FC236}">
                <a16:creationId xmlns:a16="http://schemas.microsoft.com/office/drawing/2014/main" id="{B49E7EC9-DF11-47A8-81AF-6876AADCC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790825"/>
            <a:ext cx="4191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544"/>
          </a:bodyPr>
          <a:lstStyle xmlns:a="http://schemas.openxmlformats.org/drawingml/2006/main">
            <a:defPPr algn="l">
              <a:defRPr sz="127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Capture amount, UPI recipient and optional request message.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Compare recipient and payment patterns with stored history.</a:t>
            </a:r>
          </a:p>
        </p:txBody>
      </p:sp>
      <p:sp>
        <p:nvSpPr>
          <p:cNvPr id="9" name="02">
            <a:extLst xmlns:a="http://schemas.openxmlformats.org/drawingml/2006/main">
              <a:ext uri="{FF2B5EF4-FFF2-40B4-BE49-F238E27FC236}">
                <a16:creationId xmlns:a16="http://schemas.microsoft.com/office/drawing/2014/main" id="{702D6FA1-CB39-4A57-BD6A-58326DE72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333625"/>
            <a:ext cx="552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100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176B4B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10" name="Invoice payment">
            <a:extLst xmlns:a="http://schemas.openxmlformats.org/drawingml/2006/main">
              <a:ext uri="{FF2B5EF4-FFF2-40B4-BE49-F238E27FC236}">
                <a16:creationId xmlns:a16="http://schemas.microsoft.com/office/drawing/2014/main" id="{D8AA8439-CE1A-437C-8DFB-02E65E3C0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343150"/>
            <a:ext cx="3810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Invoice payment</a:t>
            </a:r>
          </a:p>
        </p:txBody>
      </p:sp>
      <p:sp>
        <p:nvSpPr>
          <p:cNvPr id="11" name="Capture invoice amount, vendor and reque">
            <a:extLst xmlns:a="http://schemas.openxmlformats.org/drawingml/2006/main">
              <a:ext uri="{FF2B5EF4-FFF2-40B4-BE49-F238E27FC236}">
                <a16:creationId xmlns:a16="http://schemas.microsoft.com/office/drawing/2014/main" id="{0027E0B0-0152-4F99-AA43-D496E4F7E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790825"/>
            <a:ext cx="4048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Capture invoice amount, vendor and requested bank account.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Compare the destination with the vendor record.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025A9D-FDC3-4A19-BA97-0D2B58DF2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719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HARED ENGINE">
            <a:extLst xmlns:a="http://schemas.openxmlformats.org/drawingml/2006/main">
              <a:ext uri="{FF2B5EF4-FFF2-40B4-BE49-F238E27FC236}">
                <a16:creationId xmlns:a16="http://schemas.microsoft.com/office/drawing/2014/main" id="{47D6C70A-F570-4528-ADF4-B6B7FB357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2095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176B4B"/>
                </a:solidFill>
                <a:latin typeface="Avenir Next"/>
                <a:ea typeface="Avenir Next"/>
                <a:cs typeface="Avenir Next"/>
              </a:rPr>
              <a:t>SHARED ENGINE</a:t>
            </a:r>
          </a:p>
        </p:txBody>
      </p:sp>
      <p:sp>
        <p:nvSpPr>
          <p:cNvPr id="14" name="01">
            <a:extLst xmlns:a="http://schemas.openxmlformats.org/drawingml/2006/main">
              <a:ext uri="{FF2B5EF4-FFF2-40B4-BE49-F238E27FC236}">
                <a16:creationId xmlns:a16="http://schemas.microsoft.com/office/drawing/2014/main" id="{616B1598-5748-44CC-A096-75568412B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609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BE7839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BE7839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BE7839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15" name="Normalize">
            <a:extLst xmlns:a="http://schemas.openxmlformats.org/drawingml/2006/main">
              <a:ext uri="{FF2B5EF4-FFF2-40B4-BE49-F238E27FC236}">
                <a16:creationId xmlns:a16="http://schemas.microsoft.com/office/drawing/2014/main" id="{70EDB549-29C8-4846-9B76-AD2DE22A3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72025"/>
            <a:ext cx="23336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Normalize</a:t>
            </a:r>
          </a:p>
        </p:txBody>
      </p:sp>
      <p:sp>
        <p:nvSpPr>
          <p:cNvPr id="16" name="One transaction contract">
            <a:extLst xmlns:a="http://schemas.openxmlformats.org/drawingml/2006/main">
              <a:ext uri="{FF2B5EF4-FFF2-40B4-BE49-F238E27FC236}">
                <a16:creationId xmlns:a16="http://schemas.microsoft.com/office/drawing/2014/main" id="{048E2636-7F59-430B-B575-59546A628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72075"/>
            <a:ext cx="24003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One transaction contract</a:t>
            </a:r>
          </a:p>
        </p:txBody>
      </p:sp>
      <p:sp>
        <p:nvSpPr>
          <p:cNvPr id="17" name="02">
            <a:extLst xmlns:a="http://schemas.openxmlformats.org/drawingml/2006/main">
              <a:ext uri="{FF2B5EF4-FFF2-40B4-BE49-F238E27FC236}">
                <a16:creationId xmlns:a16="http://schemas.microsoft.com/office/drawing/2014/main" id="{2988E6F8-A26B-4E1B-924B-355D8F65A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457700"/>
            <a:ext cx="609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BE7839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BE7839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BE7839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18" name="Find evidence">
            <a:extLst xmlns:a="http://schemas.openxmlformats.org/drawingml/2006/main">
              <a:ext uri="{FF2B5EF4-FFF2-40B4-BE49-F238E27FC236}">
                <a16:creationId xmlns:a16="http://schemas.microsoft.com/office/drawing/2014/main" id="{CB95EA17-3FA4-45C8-A1E3-E38F3A3C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772025"/>
            <a:ext cx="23336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Find evidence</a:t>
            </a:r>
          </a:p>
        </p:txBody>
      </p:sp>
      <p:sp>
        <p:nvSpPr>
          <p:cNvPr id="19" name="Rules plus optional context">
            <a:extLst xmlns:a="http://schemas.openxmlformats.org/drawingml/2006/main">
              <a:ext uri="{FF2B5EF4-FFF2-40B4-BE49-F238E27FC236}">
                <a16:creationId xmlns:a16="http://schemas.microsoft.com/office/drawing/2014/main" id="{E84D1039-ACFF-451F-913D-AAADD804F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172075"/>
            <a:ext cx="24003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Rules plus optional context</a:t>
            </a:r>
          </a:p>
        </p:txBody>
      </p:sp>
      <p:sp>
        <p:nvSpPr>
          <p:cNvPr id="20" name="03">
            <a:extLst xmlns:a="http://schemas.openxmlformats.org/drawingml/2006/main">
              <a:ext uri="{FF2B5EF4-FFF2-40B4-BE49-F238E27FC236}">
                <a16:creationId xmlns:a16="http://schemas.microsoft.com/office/drawing/2014/main" id="{0A51EDF3-95EE-45C5-A928-B4C0C5837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457700"/>
            <a:ext cx="609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BE7839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BE7839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BE7839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21" name="Apply policy">
            <a:extLst xmlns:a="http://schemas.openxmlformats.org/drawingml/2006/main">
              <a:ext uri="{FF2B5EF4-FFF2-40B4-BE49-F238E27FC236}">
                <a16:creationId xmlns:a16="http://schemas.microsoft.com/office/drawing/2014/main" id="{ED418FBE-12D4-4A48-ABC1-5C8B393F4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772025"/>
            <a:ext cx="23336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Apply policy</a:t>
            </a:r>
          </a:p>
        </p:txBody>
      </p:sp>
      <p:sp>
        <p:nvSpPr>
          <p:cNvPr id="22" name="Continue · verify · review">
            <a:extLst xmlns:a="http://schemas.openxmlformats.org/drawingml/2006/main">
              <a:ext uri="{FF2B5EF4-FFF2-40B4-BE49-F238E27FC236}">
                <a16:creationId xmlns:a16="http://schemas.microsoft.com/office/drawing/2014/main" id="{4CE9507F-3985-4456-B6F1-9D90B9D4D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172075"/>
            <a:ext cx="24003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Continue · verify · review</a:t>
            </a:r>
          </a:p>
        </p:txBody>
      </p:sp>
      <p:sp>
        <p:nvSpPr>
          <p:cNvPr id="23" name="04">
            <a:extLst xmlns:a="http://schemas.openxmlformats.org/drawingml/2006/main">
              <a:ext uri="{FF2B5EF4-FFF2-40B4-BE49-F238E27FC236}">
                <a16:creationId xmlns:a16="http://schemas.microsoft.com/office/drawing/2014/main" id="{AB1BBAA5-991F-4AC1-83E8-A817A588E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457700"/>
            <a:ext cx="609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BE7839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BE7839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BE7839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24" name="Explain">
            <a:extLst xmlns:a="http://schemas.openxmlformats.org/drawingml/2006/main">
              <a:ext uri="{FF2B5EF4-FFF2-40B4-BE49-F238E27FC236}">
                <a16:creationId xmlns:a16="http://schemas.microsoft.com/office/drawing/2014/main" id="{295D9A9D-79D2-47F5-BC2A-B70173756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772025"/>
            <a:ext cx="23336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Explain</a:t>
            </a:r>
          </a:p>
        </p:txBody>
      </p:sp>
      <p:sp>
        <p:nvSpPr>
          <p:cNvPr id="25" name="Evidence-grounded summary">
            <a:extLst xmlns:a="http://schemas.openxmlformats.org/drawingml/2006/main">
              <a:ext uri="{FF2B5EF4-FFF2-40B4-BE49-F238E27FC236}">
                <a16:creationId xmlns:a16="http://schemas.microsoft.com/office/drawing/2014/main" id="{4BDDC913-BD53-4E9A-BCB4-D1339CDC6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5172075"/>
            <a:ext cx="24003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Evidence-grounded summary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61925E3-9084-485E-BC1B-15EDD7705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Synthetic demonstration concept  /  No p">
            <a:extLst xmlns:a="http://schemas.openxmlformats.org/drawingml/2006/main">
              <a:ext uri="{FF2B5EF4-FFF2-40B4-BE49-F238E27FC236}">
                <a16:creationId xmlns:a16="http://schemas.microsoft.com/office/drawing/2014/main" id="{C9260AB9-5152-4539-8A01-96298C2C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67475"/>
            <a:ext cx="10820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Synthetic demonstration concept  /  No payment execution</a:t>
            </a:r>
          </a:p>
        </p:txBody>
      </p:sp>
    </p:spTree>
    <p:extLst>
      <p:ext uri="{BB962C8B-B14F-4D97-AF65-F5344CB8AC3E}">
        <p14:creationId xmlns:p14="http://schemas.microsoft.com/office/powerpoint/2010/main" val="775332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CAMSHIELD  /  CONCEPT PITCH">
            <a:extLst xmlns:a="http://schemas.openxmlformats.org/drawingml/2006/main">
              <a:ext uri="{FF2B5EF4-FFF2-40B4-BE49-F238E27FC236}">
                <a16:creationId xmlns:a16="http://schemas.microsoft.com/office/drawing/2014/main" id="{37AEC040-A184-46C9-9F3C-CD9E077F3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176B4B"/>
                </a:solidFill>
                <a:latin typeface="Avenir Next"/>
                <a:ea typeface="Avenir Next"/>
                <a:cs typeface="Avenir Next"/>
              </a:rPr>
              <a:t>SCAMSHIELD  /  CONCEPT PITCH</a:t>
            </a:r>
          </a:p>
        </p:txBody>
      </p:sp>
      <p:sp>
        <p:nvSpPr>
          <p:cNvPr id="2" name="04  /  06">
            <a:extLst xmlns:a="http://schemas.openxmlformats.org/drawingml/2006/main">
              <a:ext uri="{FF2B5EF4-FFF2-40B4-BE49-F238E27FC236}">
                <a16:creationId xmlns:a16="http://schemas.microsoft.com/office/drawing/2014/main" id="{573F6765-08A4-4FFA-A2D8-6CA410C37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09575"/>
            <a:ext cx="933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04  /  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CA6E45-D65F-4114-86C2-D6C41A743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Keep evidence, policy and explanation se">
            <a:extLst xmlns:a="http://schemas.openxmlformats.org/drawingml/2006/main">
              <a:ext uri="{FF2B5EF4-FFF2-40B4-BE49-F238E27FC236}">
                <a16:creationId xmlns:a16="http://schemas.microsoft.com/office/drawing/2014/main" id="{8E1319DA-D777-4B1F-AE50-FE0567DAF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00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98000"/>
              </a:lnSpc>
              <a:buNone/>
              <a:defRPr sz="300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Keep evidence, policy and explanation separate</a:t>
            </a:r>
          </a:p>
        </p:txBody>
      </p:sp>
      <p:sp>
        <p:nvSpPr>
          <p:cNvPr id="5" name="Each stage has a bounded job. Model outp">
            <a:extLst xmlns:a="http://schemas.openxmlformats.org/drawingml/2006/main">
              <a:ext uri="{FF2B5EF4-FFF2-40B4-BE49-F238E27FC236}">
                <a16:creationId xmlns:a16="http://schemas.microsoft.com/office/drawing/2014/main" id="{2BA29611-1764-422D-A988-6B1529CC1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8775"/>
            <a:ext cx="10477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Each stage has a bounded job. Model output cannot authorize or execute a payment.</a:t>
            </a:r>
          </a:p>
        </p:txBody>
      </p:sp>
      <p:sp>
        <p:nvSpPr>
          <p:cNvPr id="6" name="01">
            <a:extLst xmlns:a="http://schemas.openxmlformats.org/drawingml/2006/main">
              <a:ext uri="{FF2B5EF4-FFF2-40B4-BE49-F238E27FC236}">
                <a16:creationId xmlns:a16="http://schemas.microsoft.com/office/drawing/2014/main" id="{02C9602F-FBC9-4CB3-8231-7E13ECE8D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BE7839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BE7839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BE7839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7" name="ADAPTERS">
            <a:extLst xmlns:a="http://schemas.openxmlformats.org/drawingml/2006/main">
              <a:ext uri="{FF2B5EF4-FFF2-40B4-BE49-F238E27FC236}">
                <a16:creationId xmlns:a16="http://schemas.microsoft.com/office/drawing/2014/main" id="{46AF441C-6DE6-43F3-9E22-7526A97F3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4003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ADAPTERS</a:t>
            </a:r>
          </a:p>
        </p:txBody>
      </p:sp>
      <p:sp>
        <p:nvSpPr>
          <p:cNvPr id="8" name="UPI transfer  /  Vendor invoice">
            <a:extLst xmlns:a="http://schemas.openxmlformats.org/drawingml/2006/main">
              <a:ext uri="{FF2B5EF4-FFF2-40B4-BE49-F238E27FC236}">
                <a16:creationId xmlns:a16="http://schemas.microsoft.com/office/drawing/2014/main" id="{9471D201-48E7-48AD-9911-ECF1304BE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14575"/>
            <a:ext cx="723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UPI transfer  /  Vendor invoice</a:t>
            </a:r>
          </a:p>
        </p:txBody>
      </p:sp>
      <p:sp>
        <p:nvSpPr>
          <p:cNvPr id="9" name="Validate fields and normalize the reques">
            <a:extLst xmlns:a="http://schemas.openxmlformats.org/drawingml/2006/main">
              <a:ext uri="{FF2B5EF4-FFF2-40B4-BE49-F238E27FC236}">
                <a16:creationId xmlns:a16="http://schemas.microsoft.com/office/drawing/2014/main" id="{6F88ADB1-E381-4D77-9F3D-9A4B39E68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860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Validate fields and normalize the request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B79CD7-9E5F-438D-B3B4-58656D62A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057525"/>
            <a:ext cx="9467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02">
            <a:extLst xmlns:a="http://schemas.openxmlformats.org/drawingml/2006/main">
              <a:ext uri="{FF2B5EF4-FFF2-40B4-BE49-F238E27FC236}">
                <a16:creationId xmlns:a16="http://schemas.microsoft.com/office/drawing/2014/main" id="{D0C5B1BD-7F73-478D-92B7-A96368024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BE7839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BE7839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BE7839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12" name="EVIDENCE">
            <a:extLst xmlns:a="http://schemas.openxmlformats.org/drawingml/2006/main">
              <a:ext uri="{FF2B5EF4-FFF2-40B4-BE49-F238E27FC236}">
                <a16:creationId xmlns:a16="http://schemas.microsoft.com/office/drawing/2014/main" id="{FB95FEA1-A2C3-4880-8D61-999E4CC7A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3147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176B4B"/>
                </a:solidFill>
                <a:latin typeface="Avenir Next"/>
                <a:ea typeface="Avenir Next"/>
                <a:cs typeface="Avenir Next"/>
              </a:rPr>
              <a:t>EVIDENCE</a:t>
            </a:r>
          </a:p>
        </p:txBody>
      </p:sp>
      <p:sp>
        <p:nvSpPr>
          <p:cNvPr id="13" name="Rules  +  optional context classificatio">
            <a:extLst xmlns:a="http://schemas.openxmlformats.org/drawingml/2006/main">
              <a:ext uri="{FF2B5EF4-FFF2-40B4-BE49-F238E27FC236}">
                <a16:creationId xmlns:a16="http://schemas.microsoft.com/office/drawing/2014/main" id="{0CF555E2-35CD-4BF2-A58D-01A2D0E9C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228975"/>
            <a:ext cx="723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Rules  +  optional context classification</a:t>
            </a:r>
          </a:p>
        </p:txBody>
      </p:sp>
      <p:sp>
        <p:nvSpPr>
          <p:cNvPr id="14" name="Jev or Gemini on Vertex AI, selected by ">
            <a:extLst xmlns:a="http://schemas.openxmlformats.org/drawingml/2006/main">
              <a:ext uri="{FF2B5EF4-FFF2-40B4-BE49-F238E27FC236}">
                <a16:creationId xmlns:a16="http://schemas.microsoft.com/office/drawing/2014/main" id="{EE4438AF-CEC0-492A-A01B-D6C197D97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004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Jev or Gemini on Vertex AI, selected by configuration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C82A08-2778-4F12-B609-E16914C89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971925"/>
            <a:ext cx="9467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03">
            <a:extLst xmlns:a="http://schemas.openxmlformats.org/drawingml/2006/main">
              <a:ext uri="{FF2B5EF4-FFF2-40B4-BE49-F238E27FC236}">
                <a16:creationId xmlns:a16="http://schemas.microsoft.com/office/drawing/2014/main" id="{AF9BC2FA-C5AE-4BE4-8E2D-566C43A5B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BE7839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BE7839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BE7839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17" name="POLICY">
            <a:extLst xmlns:a="http://schemas.openxmlformats.org/drawingml/2006/main">
              <a:ext uri="{FF2B5EF4-FFF2-40B4-BE49-F238E27FC236}">
                <a16:creationId xmlns:a16="http://schemas.microsoft.com/office/drawing/2014/main" id="{C196EB1E-F6E6-4943-8BF2-24846A80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2291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POLICY</a:t>
            </a:r>
          </a:p>
        </p:txBody>
      </p:sp>
      <p:sp>
        <p:nvSpPr>
          <p:cNvPr id="18" name="Continue  /  Verify  /  Review">
            <a:extLst xmlns:a="http://schemas.openxmlformats.org/drawingml/2006/main">
              <a:ext uri="{FF2B5EF4-FFF2-40B4-BE49-F238E27FC236}">
                <a16:creationId xmlns:a16="http://schemas.microsoft.com/office/drawing/2014/main" id="{C416C9DC-2024-4BDC-BDB4-13610ADAD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143375"/>
            <a:ext cx="723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Continue  /  Verify  /  Review</a:t>
            </a:r>
          </a:p>
        </p:txBody>
      </p:sp>
      <p:sp>
        <p:nvSpPr>
          <p:cNvPr id="19" name="Versioned thresholds map evidence to a r">
            <a:extLst xmlns:a="http://schemas.openxmlformats.org/drawingml/2006/main">
              <a:ext uri="{FF2B5EF4-FFF2-40B4-BE49-F238E27FC236}">
                <a16:creationId xmlns:a16="http://schemas.microsoft.com/office/drawing/2014/main" id="{79A43735-C774-4AA2-9E1C-9CA84CEA7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5148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Versioned thresholds map evidence to a recommendation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97A3B0-478F-4CED-B818-A1B6A5961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886325"/>
            <a:ext cx="9467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04">
            <a:extLst xmlns:a="http://schemas.openxmlformats.org/drawingml/2006/main">
              <a:ext uri="{FF2B5EF4-FFF2-40B4-BE49-F238E27FC236}">
                <a16:creationId xmlns:a16="http://schemas.microsoft.com/office/drawing/2014/main" id="{E22A1952-3F20-450F-AF12-B85933E4D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BE7839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BE7839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BE7839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22" name="EXPLANATION">
            <a:extLst xmlns:a="http://schemas.openxmlformats.org/drawingml/2006/main">
              <a:ext uri="{FF2B5EF4-FFF2-40B4-BE49-F238E27FC236}">
                <a16:creationId xmlns:a16="http://schemas.microsoft.com/office/drawing/2014/main" id="{6137370C-4D28-4559-9CFE-977452CD0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1435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176B4B"/>
                </a:solidFill>
                <a:latin typeface="Avenir Next"/>
                <a:ea typeface="Avenir Next"/>
                <a:cs typeface="Avenir Next"/>
              </a:rPr>
              <a:t>EXPLANATION</a:t>
            </a:r>
          </a:p>
        </p:txBody>
      </p:sp>
      <p:sp>
        <p:nvSpPr>
          <p:cNvPr id="23" name="Vertex AI Gemini summary">
            <a:extLst xmlns:a="http://schemas.openxmlformats.org/drawingml/2006/main">
              <a:ext uri="{FF2B5EF4-FFF2-40B4-BE49-F238E27FC236}">
                <a16:creationId xmlns:a16="http://schemas.microsoft.com/office/drawing/2014/main" id="{B9D65311-EE2B-421D-8206-84D755904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057775"/>
            <a:ext cx="723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Vertex AI Gemini summary</a:t>
            </a:r>
          </a:p>
        </p:txBody>
      </p:sp>
      <p:sp>
        <p:nvSpPr>
          <p:cNvPr id="24" name="Separate call after the decision is stor">
            <a:extLst xmlns:a="http://schemas.openxmlformats.org/drawingml/2006/main">
              <a:ext uri="{FF2B5EF4-FFF2-40B4-BE49-F238E27FC236}">
                <a16:creationId xmlns:a16="http://schemas.microsoft.com/office/drawing/2014/main" id="{8A0AEB43-85A4-4269-AC1B-0D629192E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292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Separate call after the decision is stored; fallback on failure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51543C-39C3-478F-82BE-1ACDAB98D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800725"/>
            <a:ext cx="9467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NOW">
            <a:extLst xmlns:a="http://schemas.openxmlformats.org/drawingml/2006/main">
              <a:ext uri="{FF2B5EF4-FFF2-40B4-BE49-F238E27FC236}">
                <a16:creationId xmlns:a16="http://schemas.microsoft.com/office/drawing/2014/main" id="{30CF088E-AC50-4703-869C-BD11C2A5C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5810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825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825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176B4B"/>
                </a:solidFill>
                <a:latin typeface="Avenir Next"/>
                <a:ea typeface="Avenir Next"/>
                <a:cs typeface="Avenir Next"/>
              </a:rPr>
              <a:t>NOW</a:t>
            </a:r>
          </a:p>
        </p:txBody>
      </p:sp>
      <p:sp>
        <p:nvSpPr>
          <p:cNvPr id="27" name="Synthetic records  /  fixture mode avail">
            <a:extLst xmlns:a="http://schemas.openxmlformats.org/drawingml/2006/main">
              <a:ext uri="{FF2B5EF4-FFF2-40B4-BE49-F238E27FC236}">
                <a16:creationId xmlns:a16="http://schemas.microsoft.com/office/drawing/2014/main" id="{35BCE8AA-F401-40D1-8274-CDB6E385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010275"/>
            <a:ext cx="933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Synthetic records  /  fixture mode available  /  integrations configurable and unverified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5F7762-827F-4C31-9086-5D9A78EEC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Proposed architecture  /  Provider calls">
            <a:extLst xmlns:a="http://schemas.openxmlformats.org/drawingml/2006/main">
              <a:ext uri="{FF2B5EF4-FFF2-40B4-BE49-F238E27FC236}">
                <a16:creationId xmlns:a16="http://schemas.microsoft.com/office/drawing/2014/main" id="{8BF6A507-F019-400F-A77E-46ECB73ED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67475"/>
            <a:ext cx="10820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Proposed architecture  /  Provider calls remain on the backend</a:t>
            </a:r>
          </a:p>
        </p:txBody>
      </p:sp>
    </p:spTree>
    <p:extLst>
      <p:ext uri="{BB962C8B-B14F-4D97-AF65-F5344CB8AC3E}">
        <p14:creationId xmlns:p14="http://schemas.microsoft.com/office/powerpoint/2010/main" val="103030137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SCAMSHIELD  /  CONCEPT PITCH">
            <a:extLst xmlns:a="http://schemas.openxmlformats.org/drawingml/2006/main">
              <a:ext uri="{FF2B5EF4-FFF2-40B4-BE49-F238E27FC236}">
                <a16:creationId xmlns:a16="http://schemas.microsoft.com/office/drawing/2014/main" id="{9F71A517-7CF0-41E0-BC6B-4876E5898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176B4B"/>
                </a:solidFill>
                <a:latin typeface="Avenir Next"/>
                <a:ea typeface="Avenir Next"/>
                <a:cs typeface="Avenir Next"/>
              </a:rPr>
              <a:t>SCAMSHIELD  /  CONCEPT PITCH</a:t>
            </a:r>
          </a:p>
        </p:txBody>
      </p:sp>
      <p:sp>
        <p:nvSpPr>
          <p:cNvPr id="2" name="05  /  06">
            <a:extLst xmlns:a="http://schemas.openxmlformats.org/drawingml/2006/main">
              <a:ext uri="{FF2B5EF4-FFF2-40B4-BE49-F238E27FC236}">
                <a16:creationId xmlns:a16="http://schemas.microsoft.com/office/drawing/2014/main" id="{3E9CB0B2-2A0E-4878-8B2B-4F26BA5E9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09575"/>
            <a:ext cx="933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05  /  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8F7132-11C0-4665-BAE7-1761432AD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how the evidence, then measure the beha">
            <a:extLst xmlns:a="http://schemas.openxmlformats.org/drawingml/2006/main">
              <a:ext uri="{FF2B5EF4-FFF2-40B4-BE49-F238E27FC236}">
                <a16:creationId xmlns:a16="http://schemas.microsoft.com/office/drawing/2014/main" id="{31146FBE-8929-46DB-9684-495195D96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00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98000"/>
              </a:lnSpc>
              <a:buNone/>
              <a:defRPr sz="300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Show the evidence, then measure the behavior</a:t>
            </a:r>
          </a:p>
        </p:txBody>
      </p:sp>
      <p:sp>
        <p:nvSpPr>
          <p:cNvPr id="5" name="A short demo moves across both workflows">
            <a:extLst xmlns:a="http://schemas.openxmlformats.org/drawingml/2006/main">
              <a:ext uri="{FF2B5EF4-FFF2-40B4-BE49-F238E27FC236}">
                <a16:creationId xmlns:a16="http://schemas.microsoft.com/office/drawing/2014/main" id="{45DCC20B-8982-476E-9DAA-9A71C6C83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8775"/>
            <a:ext cx="10477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A short demo moves across both workflows and includes a normal repeat payment.</a:t>
            </a:r>
          </a:p>
        </p:txBody>
      </p:sp>
      <p:sp>
        <p:nvSpPr>
          <p:cNvPr id="6" name="DEMO CASES">
            <a:extLst xmlns:a="http://schemas.openxmlformats.org/drawingml/2006/main">
              <a:ext uri="{FF2B5EF4-FFF2-40B4-BE49-F238E27FC236}">
                <a16:creationId xmlns:a16="http://schemas.microsoft.com/office/drawing/2014/main" id="{EF23E62A-4E28-490D-969B-4E6C79A98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14575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176B4B"/>
                </a:solidFill>
                <a:latin typeface="Avenir Next"/>
                <a:ea typeface="Avenir Next"/>
                <a:cs typeface="Avenir Next"/>
              </a:rPr>
              <a:t>DEMO CASES</a:t>
            </a:r>
          </a:p>
        </p:txBody>
      </p:sp>
      <p:sp>
        <p:nvSpPr>
          <p:cNvPr id="7" name="01">
            <a:extLst xmlns:a="http://schemas.openxmlformats.org/drawingml/2006/main">
              <a:ext uri="{FF2B5EF4-FFF2-40B4-BE49-F238E27FC236}">
                <a16:creationId xmlns:a16="http://schemas.microsoft.com/office/drawing/2014/main" id="{EAE3F35D-CEBD-4AE3-B5E3-106E62465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BE7839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BE7839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BE7839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8" name="Safe-account message, new UPI recipient">
            <a:extLst xmlns:a="http://schemas.openxmlformats.org/drawingml/2006/main">
              <a:ext uri="{FF2B5EF4-FFF2-40B4-BE49-F238E27FC236}">
                <a16:creationId xmlns:a16="http://schemas.microsoft.com/office/drawing/2014/main" id="{1B115229-C858-481F-88EA-05FD99156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6479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Safe-account message, new UPI recipient</a:t>
            </a:r>
          </a:p>
        </p:txBody>
      </p:sp>
      <p:sp>
        <p:nvSpPr>
          <p:cNvPr id="9" name="REVIEW">
            <a:extLst xmlns:a="http://schemas.openxmlformats.org/drawingml/2006/main">
              <a:ext uri="{FF2B5EF4-FFF2-40B4-BE49-F238E27FC236}">
                <a16:creationId xmlns:a16="http://schemas.microsoft.com/office/drawing/2014/main" id="{56811A61-29C6-46EE-AE37-896F4CC27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647950"/>
            <a:ext cx="1009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750" b="1">
                <a:solidFill>
                  <a:srgbClr val="9F4E3B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r">
              <a:lnSpc>
                <a:spcPct val="106000"/>
              </a:lnSpc>
              <a:buNone/>
              <a:defRPr sz="750" b="1">
                <a:solidFill>
                  <a:srgbClr val="9F4E3B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9F4E3B"/>
                </a:solidFill>
                <a:latin typeface="Avenir Next"/>
                <a:ea typeface="Avenir Next"/>
                <a:cs typeface="Avenir Next"/>
              </a:rPr>
              <a:t>REVIEW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DD3981-2426-4CA0-9229-E102D253B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52292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02">
            <a:extLst xmlns:a="http://schemas.openxmlformats.org/drawingml/2006/main">
              <a:ext uri="{FF2B5EF4-FFF2-40B4-BE49-F238E27FC236}">
                <a16:creationId xmlns:a16="http://schemas.microsoft.com/office/drawing/2014/main" id="{09DD834B-E223-4B44-948C-84CC22D2F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BE7839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BE7839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BE7839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12" name="Legitimate large consumer payment">
            <a:extLst xmlns:a="http://schemas.openxmlformats.org/drawingml/2006/main">
              <a:ext uri="{FF2B5EF4-FFF2-40B4-BE49-F238E27FC236}">
                <a16:creationId xmlns:a16="http://schemas.microsoft.com/office/drawing/2014/main" id="{3660F919-D364-4703-B5F5-64BC20FD4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0480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Legitimate large consumer payment</a:t>
            </a:r>
          </a:p>
        </p:txBody>
      </p:sp>
      <p:sp>
        <p:nvSpPr>
          <p:cNvPr id="13" name="VERIFY">
            <a:extLst xmlns:a="http://schemas.openxmlformats.org/drawingml/2006/main">
              <a:ext uri="{FF2B5EF4-FFF2-40B4-BE49-F238E27FC236}">
                <a16:creationId xmlns:a16="http://schemas.microsoft.com/office/drawing/2014/main" id="{914326BF-CD7A-4957-9290-D9FC82A89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048000"/>
            <a:ext cx="1009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750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r">
              <a:lnSpc>
                <a:spcPct val="106000"/>
              </a:lnSpc>
              <a:buNone/>
              <a:defRPr sz="750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176B4B"/>
                </a:solidFill>
                <a:latin typeface="Avenir Next"/>
                <a:ea typeface="Avenir Next"/>
                <a:cs typeface="Avenir Next"/>
              </a:rPr>
              <a:t>VERIFY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65A66E-35A5-4A7C-8A37-22D324737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52292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03">
            <a:extLst xmlns:a="http://schemas.openxmlformats.org/drawingml/2006/main">
              <a:ext uri="{FF2B5EF4-FFF2-40B4-BE49-F238E27FC236}">
                <a16:creationId xmlns:a16="http://schemas.microsoft.com/office/drawing/2014/main" id="{674119EE-C49B-4ED5-994E-F0E0CC7B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BE7839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BE7839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BE7839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16" name="Urgent, ambiguous family request">
            <a:extLst xmlns:a="http://schemas.openxmlformats.org/drawingml/2006/main">
              <a:ext uri="{FF2B5EF4-FFF2-40B4-BE49-F238E27FC236}">
                <a16:creationId xmlns:a16="http://schemas.microsoft.com/office/drawing/2014/main" id="{2ABD190C-6B83-468A-8893-91B64AAF8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4480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Urgent, ambiguous family request</a:t>
            </a:r>
          </a:p>
        </p:txBody>
      </p:sp>
      <p:sp>
        <p:nvSpPr>
          <p:cNvPr id="17" name="VERIFY">
            <a:extLst xmlns:a="http://schemas.openxmlformats.org/drawingml/2006/main">
              <a:ext uri="{FF2B5EF4-FFF2-40B4-BE49-F238E27FC236}">
                <a16:creationId xmlns:a16="http://schemas.microsoft.com/office/drawing/2014/main" id="{2BDBF010-6F55-440A-8DEB-AA264FA57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448050"/>
            <a:ext cx="1009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750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r">
              <a:lnSpc>
                <a:spcPct val="106000"/>
              </a:lnSpc>
              <a:buNone/>
              <a:defRPr sz="750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176B4B"/>
                </a:solidFill>
                <a:latin typeface="Avenir Next"/>
                <a:ea typeface="Avenir Next"/>
                <a:cs typeface="Avenir Next"/>
              </a:rPr>
              <a:t>VERIFY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125AC1-0660-4DEE-B989-9EBB2FC71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52292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04">
            <a:extLst xmlns:a="http://schemas.openxmlformats.org/drawingml/2006/main">
              <a:ext uri="{FF2B5EF4-FFF2-40B4-BE49-F238E27FC236}">
                <a16:creationId xmlns:a16="http://schemas.microsoft.com/office/drawing/2014/main" id="{B35E526A-C67C-4EBC-97B0-63000FB2F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BE7839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BE7839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BE7839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20" name="Invoice with changed vendor account">
            <a:extLst xmlns:a="http://schemas.openxmlformats.org/drawingml/2006/main">
              <a:ext uri="{FF2B5EF4-FFF2-40B4-BE49-F238E27FC236}">
                <a16:creationId xmlns:a16="http://schemas.microsoft.com/office/drawing/2014/main" id="{F57B3C17-13B1-4461-A541-AF3B831FE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8481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Invoice with changed vendor account</a:t>
            </a:r>
          </a:p>
        </p:txBody>
      </p:sp>
      <p:sp>
        <p:nvSpPr>
          <p:cNvPr id="21" name="REVIEW">
            <a:extLst xmlns:a="http://schemas.openxmlformats.org/drawingml/2006/main">
              <a:ext uri="{FF2B5EF4-FFF2-40B4-BE49-F238E27FC236}">
                <a16:creationId xmlns:a16="http://schemas.microsoft.com/office/drawing/2014/main" id="{3381D9C4-F669-40F6-91AD-FB6AAE2DE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848100"/>
            <a:ext cx="1009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750" b="1">
                <a:solidFill>
                  <a:srgbClr val="9F4E3B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r">
              <a:lnSpc>
                <a:spcPct val="106000"/>
              </a:lnSpc>
              <a:buNone/>
              <a:defRPr sz="750" b="1">
                <a:solidFill>
                  <a:srgbClr val="9F4E3B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9F4E3B"/>
                </a:solidFill>
                <a:latin typeface="Avenir Next"/>
                <a:ea typeface="Avenir Next"/>
                <a:cs typeface="Avenir Next"/>
              </a:rPr>
              <a:t>REVIEW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DA98E2-E51F-40DB-A36E-14A4CDE6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52900"/>
            <a:ext cx="52292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05">
            <a:extLst xmlns:a="http://schemas.openxmlformats.org/drawingml/2006/main">
              <a:ext uri="{FF2B5EF4-FFF2-40B4-BE49-F238E27FC236}">
                <a16:creationId xmlns:a16="http://schemas.microsoft.com/office/drawing/2014/main" id="{C1FB8941-6ABF-4D2A-957C-2D3A44DB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815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BE7839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BE7839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BE7839"/>
                </a:solidFill>
                <a:latin typeface="Avenir Next"/>
                <a:ea typeface="Avenir Next"/>
                <a:cs typeface="Avenir Next"/>
              </a:rPr>
              <a:t>05</a:t>
            </a:r>
          </a:p>
        </p:txBody>
      </p:sp>
      <p:sp>
        <p:nvSpPr>
          <p:cNvPr id="24" name="Repeat invoice, matching account">
            <a:extLst xmlns:a="http://schemas.openxmlformats.org/drawingml/2006/main">
              <a:ext uri="{FF2B5EF4-FFF2-40B4-BE49-F238E27FC236}">
                <a16:creationId xmlns:a16="http://schemas.microsoft.com/office/drawing/2014/main" id="{D8AC6165-E2CD-4A2B-8FF5-13183F077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481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Repeat invoice, matching account</a:t>
            </a:r>
          </a:p>
        </p:txBody>
      </p:sp>
      <p:sp>
        <p:nvSpPr>
          <p:cNvPr id="25" name="CONTINUE">
            <a:extLst xmlns:a="http://schemas.openxmlformats.org/drawingml/2006/main">
              <a:ext uri="{FF2B5EF4-FFF2-40B4-BE49-F238E27FC236}">
                <a16:creationId xmlns:a16="http://schemas.microsoft.com/office/drawing/2014/main" id="{60C54C25-A57A-46A5-A52B-70019F58B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248150"/>
            <a:ext cx="1009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750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r">
              <a:lnSpc>
                <a:spcPct val="106000"/>
              </a:lnSpc>
              <a:buNone/>
              <a:defRPr sz="750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176B4B"/>
                </a:solidFill>
                <a:latin typeface="Avenir Next"/>
                <a:ea typeface="Avenir Next"/>
                <a:cs typeface="Avenir Next"/>
              </a:rPr>
              <a:t>CONTINUE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ADDA5E-84DB-4E7A-B54A-B59D9B600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52950"/>
            <a:ext cx="52292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06">
            <a:extLst xmlns:a="http://schemas.openxmlformats.org/drawingml/2006/main">
              <a:ext uri="{FF2B5EF4-FFF2-40B4-BE49-F238E27FC236}">
                <a16:creationId xmlns:a16="http://schemas.microsoft.com/office/drawing/2014/main" id="{A315594E-281D-454F-8249-7777E9D13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BE7839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BE7839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BE7839"/>
                </a:solidFill>
                <a:latin typeface="Avenir Next"/>
                <a:ea typeface="Avenir Next"/>
                <a:cs typeface="Avenir Next"/>
              </a:rPr>
              <a:t>06</a:t>
            </a:r>
          </a:p>
        </p:txBody>
      </p:sp>
      <p:sp>
        <p:nvSpPr>
          <p:cNvPr id="28" name="Context provider timeout">
            <a:extLst xmlns:a="http://schemas.openxmlformats.org/drawingml/2006/main">
              <a:ext uri="{FF2B5EF4-FFF2-40B4-BE49-F238E27FC236}">
                <a16:creationId xmlns:a16="http://schemas.microsoft.com/office/drawing/2014/main" id="{07EA7341-32E6-4120-BAF0-97FECDE8E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6482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Context provider timeout</a:t>
            </a:r>
          </a:p>
        </p:txBody>
      </p:sp>
      <p:sp>
        <p:nvSpPr>
          <p:cNvPr id="29" name="VERIFY">
            <a:extLst xmlns:a="http://schemas.openxmlformats.org/drawingml/2006/main">
              <a:ext uri="{FF2B5EF4-FFF2-40B4-BE49-F238E27FC236}">
                <a16:creationId xmlns:a16="http://schemas.microsoft.com/office/drawing/2014/main" id="{167113CE-6A2D-49C5-8995-BDD63833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648200"/>
            <a:ext cx="1009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750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r">
              <a:lnSpc>
                <a:spcPct val="106000"/>
              </a:lnSpc>
              <a:buNone/>
              <a:defRPr sz="750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176B4B"/>
                </a:solidFill>
                <a:latin typeface="Avenir Next"/>
                <a:ea typeface="Avenir Next"/>
                <a:cs typeface="Avenir Next"/>
              </a:rPr>
              <a:t>VERIFY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23C59B5-CBCD-4090-9A8C-CBFE81A5A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52292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56B55C5-D2BA-49E9-86EC-3925684F4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314575"/>
            <a:ext cx="9525" cy="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2" name="EVALUATION PLAN">
            <a:extLst xmlns:a="http://schemas.openxmlformats.org/drawingml/2006/main">
              <a:ext uri="{FF2B5EF4-FFF2-40B4-BE49-F238E27FC236}">
                <a16:creationId xmlns:a16="http://schemas.microsoft.com/office/drawing/2014/main" id="{4995AC86-A5D9-4DCA-B21A-705D7656F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31457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176B4B"/>
                </a:solidFill>
                <a:latin typeface="Avenir Next"/>
                <a:ea typeface="Avenir Next"/>
                <a:cs typeface="Avenir Next"/>
              </a:rPr>
              <a:t>EVALUATION PLAN</a:t>
            </a:r>
          </a:p>
        </p:txBody>
      </p:sp>
      <p:sp>
        <p:nvSpPr>
          <p:cNvPr id="33" name="40">
            <a:extLst xmlns:a="http://schemas.openxmlformats.org/drawingml/2006/main">
              <a:ext uri="{FF2B5EF4-FFF2-40B4-BE49-F238E27FC236}">
                <a16:creationId xmlns:a16="http://schemas.microsoft.com/office/drawing/2014/main" id="{E94EA989-11FB-42E3-AD94-7526A3AA8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676525"/>
            <a:ext cx="9048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60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360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40</a:t>
            </a:r>
          </a:p>
        </p:txBody>
      </p:sp>
      <p:sp>
        <p:nvSpPr>
          <p:cNvPr id="34" name="synthetic examples">
            <a:extLst xmlns:a="http://schemas.openxmlformats.org/drawingml/2006/main">
              <a:ext uri="{FF2B5EF4-FFF2-40B4-BE49-F238E27FC236}">
                <a16:creationId xmlns:a16="http://schemas.microsoft.com/office/drawing/2014/main" id="{B2940213-3F83-4050-89DF-E0A5B323C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847975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synthetic examples</a:t>
            </a:r>
          </a:p>
        </p:txBody>
      </p:sp>
      <p:sp>
        <p:nvSpPr>
          <p:cNvPr id="35" name="20 development  /  20 held out">
            <a:extLst xmlns:a="http://schemas.openxmlformats.org/drawingml/2006/main">
              <a:ext uri="{FF2B5EF4-FFF2-40B4-BE49-F238E27FC236}">
                <a16:creationId xmlns:a16="http://schemas.microsoft.com/office/drawing/2014/main" id="{297D15FD-2C15-4AEA-8260-86694A077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409950"/>
            <a:ext cx="419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20 development  /  20 held out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1CD2114-AEF8-4EE8-9A77-BD7DF813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800475"/>
            <a:ext cx="40481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Compare rules-only with the&#10;configured c">
            <a:extLst xmlns:a="http://schemas.openxmlformats.org/drawingml/2006/main">
              <a:ext uri="{FF2B5EF4-FFF2-40B4-BE49-F238E27FC236}">
                <a16:creationId xmlns:a16="http://schemas.microsoft.com/office/drawing/2014/main" id="{A465DE95-4344-47FB-8D8F-595A8DE48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019550"/>
            <a:ext cx="4286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Compare rules-only with the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configured classifier on identical inputs.</a:t>
            </a:r>
          </a:p>
        </p:txBody>
      </p:sp>
      <p:sp>
        <p:nvSpPr>
          <p:cNvPr id="38" name="Report intervention recall, intervention">
            <a:extLst xmlns:a="http://schemas.openxmlformats.org/drawingml/2006/main">
              <a:ext uri="{FF2B5EF4-FFF2-40B4-BE49-F238E27FC236}">
                <a16:creationId xmlns:a16="http://schemas.microsoft.com/office/drawing/2014/main" id="{97D817C8-E8A2-45C9-9524-4EB98B5C3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762500"/>
            <a:ext cx="4305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Report intervention recall, intervention rate on legitimate cases, ambiguous routing and provider failures. Measure latency separately.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923AE74-2DEA-4D00-BC8D-E3D1FEB41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Synthetic evaluation plan  /  No measure">
            <a:extLst xmlns:a="http://schemas.openxmlformats.org/drawingml/2006/main">
              <a:ext uri="{FF2B5EF4-FFF2-40B4-BE49-F238E27FC236}">
                <a16:creationId xmlns:a16="http://schemas.microsoft.com/office/drawing/2014/main" id="{67C9AEA2-65B5-49E5-8BB9-FDC1794C9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67475"/>
            <a:ext cx="10820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Synthetic evaluation plan  /  No measured accuracy or latency claims</a:t>
            </a:r>
          </a:p>
        </p:txBody>
      </p:sp>
    </p:spTree>
    <p:extLst>
      <p:ext uri="{BB962C8B-B14F-4D97-AF65-F5344CB8AC3E}">
        <p14:creationId xmlns:p14="http://schemas.microsoft.com/office/powerpoint/2010/main" val="689695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SCAMSHIELD  /  CONCEPT PITCH">
            <a:extLst xmlns:a="http://schemas.openxmlformats.org/drawingml/2006/main">
              <a:ext uri="{FF2B5EF4-FFF2-40B4-BE49-F238E27FC236}">
                <a16:creationId xmlns:a16="http://schemas.microsoft.com/office/drawing/2014/main" id="{9B1AFB6E-6EA3-4BB9-8CEC-EE16A3F3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176B4B"/>
                </a:solidFill>
                <a:latin typeface="Avenir Next"/>
                <a:ea typeface="Avenir Next"/>
                <a:cs typeface="Avenir Next"/>
              </a:rPr>
              <a:t>SCAMSHIELD  /  CONCEPT PITCH</a:t>
            </a:r>
          </a:p>
        </p:txBody>
      </p:sp>
      <p:sp>
        <p:nvSpPr>
          <p:cNvPr id="2" name="06  /  06">
            <a:extLst xmlns:a="http://schemas.openxmlformats.org/drawingml/2006/main">
              <a:ext uri="{FF2B5EF4-FFF2-40B4-BE49-F238E27FC236}">
                <a16:creationId xmlns:a16="http://schemas.microsoft.com/office/drawing/2014/main" id="{A3FFEDF6-CE29-4746-9623-D5F0368C1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09575"/>
            <a:ext cx="933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06  /  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DBB38A-CE6E-48EA-A1DC-096930023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A focused prototype fits a 48–72 hour bu">
            <a:extLst xmlns:a="http://schemas.openxmlformats.org/drawingml/2006/main">
              <a:ext uri="{FF2B5EF4-FFF2-40B4-BE49-F238E27FC236}">
                <a16:creationId xmlns:a16="http://schemas.microsoft.com/office/drawing/2014/main" id="{F6C1D755-8B3C-47CA-B888-B998AE46C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00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98000"/>
              </a:lnSpc>
              <a:buNone/>
              <a:defRPr sz="300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A focused prototype fits a 48–72 hour build window</a:t>
            </a:r>
          </a:p>
        </p:txBody>
      </p:sp>
      <p:sp>
        <p:nvSpPr>
          <p:cNvPr id="5" name="Deliver the two simulators and an audita">
            <a:extLst xmlns:a="http://schemas.openxmlformats.org/drawingml/2006/main">
              <a:ext uri="{FF2B5EF4-FFF2-40B4-BE49-F238E27FC236}">
                <a16:creationId xmlns:a16="http://schemas.microsoft.com/office/drawing/2014/main" id="{5E8654E1-9E79-43EB-BA3F-FA5CA7C1D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8775"/>
            <a:ext cx="10477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Deliver the two simulators and an auditable recommendation path before extending scope.</a:t>
            </a:r>
          </a:p>
        </p:txBody>
      </p:sp>
      <p:sp>
        <p:nvSpPr>
          <p:cNvPr id="6" name="FIRST 48 HOURS">
            <a:extLst xmlns:a="http://schemas.openxmlformats.org/drawingml/2006/main">
              <a:ext uri="{FF2B5EF4-FFF2-40B4-BE49-F238E27FC236}">
                <a16:creationId xmlns:a16="http://schemas.microsoft.com/office/drawing/2014/main" id="{523EFF6F-2FA1-40E4-BA36-3304BE096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176B4B"/>
                </a:solidFill>
                <a:latin typeface="Avenir Next"/>
                <a:ea typeface="Avenir Next"/>
                <a:cs typeface="Avenir Next"/>
              </a:rPr>
              <a:t>FIRST 48 HOURS</a:t>
            </a:r>
          </a:p>
        </p:txBody>
      </p:sp>
      <p:sp>
        <p:nvSpPr>
          <p:cNvPr id="7" name="Contracts and fixtures">
            <a:extLst xmlns:a="http://schemas.openxmlformats.org/drawingml/2006/main">
              <a:ext uri="{FF2B5EF4-FFF2-40B4-BE49-F238E27FC236}">
                <a16:creationId xmlns:a16="http://schemas.microsoft.com/office/drawing/2014/main" id="{CE11F6F8-4CD6-4E35-A6AE-C2E391CB8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4572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Contracts and fixtures</a:t>
            </a:r>
          </a:p>
        </p:txBody>
      </p:sp>
      <p:sp>
        <p:nvSpPr>
          <p:cNvPr id="8" name="Two adapters, deterministic rules, polic">
            <a:extLst xmlns:a="http://schemas.openxmlformats.org/drawingml/2006/main">
              <a:ext uri="{FF2B5EF4-FFF2-40B4-BE49-F238E27FC236}">
                <a16:creationId xmlns:a16="http://schemas.microsoft.com/office/drawing/2014/main" id="{F856D29C-4051-49D2-A583-A29ADFDEC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44291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Two adapters, deterministic rules, policy checks and a shared API.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382A12-9341-42D7-B95E-267968572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71900"/>
            <a:ext cx="457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imulators and investigation view">
            <a:extLst xmlns:a="http://schemas.openxmlformats.org/drawingml/2006/main">
              <a:ext uri="{FF2B5EF4-FFF2-40B4-BE49-F238E27FC236}">
                <a16:creationId xmlns:a16="http://schemas.microsoft.com/office/drawing/2014/main" id="{DE451EC2-2768-4DB0-BBFB-381CBFA20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495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Simulators and investigation view</a:t>
            </a:r>
          </a:p>
        </p:txBody>
      </p:sp>
      <p:sp>
        <p:nvSpPr>
          <p:cNvPr id="11" name="Consumer transfer, invoice payment, case">
            <a:extLst xmlns:a="http://schemas.openxmlformats.org/drawingml/2006/main">
              <a:ext uri="{FF2B5EF4-FFF2-40B4-BE49-F238E27FC236}">
                <a16:creationId xmlns:a16="http://schemas.microsoft.com/office/drawing/2014/main" id="{07B4BFC4-4DDB-4E10-B849-BA8B0A050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62450"/>
            <a:ext cx="4572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Consumer transfer, invoice payment, case history and recorded evidence.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3CB821-9716-4642-A2E9-F85B4C85C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67300"/>
            <a:ext cx="457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rovider integrations">
            <a:extLst xmlns:a="http://schemas.openxmlformats.org/drawingml/2006/main">
              <a:ext uri="{FF2B5EF4-FFF2-40B4-BE49-F238E27FC236}">
                <a16:creationId xmlns:a16="http://schemas.microsoft.com/office/drawing/2014/main" id="{C88DE107-7435-423A-8BEF-85AEB0E8C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Provider integrations</a:t>
            </a:r>
          </a:p>
        </p:txBody>
      </p:sp>
      <p:sp>
        <p:nvSpPr>
          <p:cNvPr id="14" name="Configure Gemini classification and expl">
            <a:extLst xmlns:a="http://schemas.openxmlformats.org/drawingml/2006/main">
              <a:ext uri="{FF2B5EF4-FFF2-40B4-BE49-F238E27FC236}">
                <a16:creationId xmlns:a16="http://schemas.microsoft.com/office/drawing/2014/main" id="{423F497B-9596-4913-8A2E-F93FCF69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452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Configure Gemini classification and explanation separately; Jev remains optional.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0936EE-9003-4899-8FE2-7C83CEE3C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24100"/>
            <a:ext cx="9525" cy="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16" name="NEXT 24 HOURS  /  BUFFER">
            <a:extLst xmlns:a="http://schemas.openxmlformats.org/drawingml/2006/main">
              <a:ext uri="{FF2B5EF4-FFF2-40B4-BE49-F238E27FC236}">
                <a16:creationId xmlns:a16="http://schemas.microsoft.com/office/drawing/2014/main" id="{7046BE3F-22CE-4983-972C-6349D496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32410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BE7839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BE783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BE7839"/>
                </a:solidFill>
                <a:latin typeface="Avenir Next"/>
                <a:ea typeface="Avenir Next"/>
                <a:cs typeface="Avenir Next"/>
              </a:rPr>
              <a:t>NEXT 24 HOURS  /  BUFFER</a:t>
            </a:r>
          </a:p>
        </p:txBody>
      </p:sp>
      <p:sp>
        <p:nvSpPr>
          <p:cNvPr id="17" name="Held-out evaluation">
            <a:extLst xmlns:a="http://schemas.openxmlformats.org/drawingml/2006/main">
              <a:ext uri="{FF2B5EF4-FFF2-40B4-BE49-F238E27FC236}">
                <a16:creationId xmlns:a16="http://schemas.microsoft.com/office/drawing/2014/main" id="{CAF28D9F-BF0F-45A6-B0C1-4FB98D978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686050"/>
            <a:ext cx="4095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Held-out evaluation</a:t>
            </a:r>
          </a:p>
        </p:txBody>
      </p:sp>
      <p:sp>
        <p:nvSpPr>
          <p:cNvPr id="18" name="Compare policy behavior, record failures">
            <a:extLst xmlns:a="http://schemas.openxmlformats.org/drawingml/2006/main">
              <a:ext uri="{FF2B5EF4-FFF2-40B4-BE49-F238E27FC236}">
                <a16:creationId xmlns:a16="http://schemas.microsoft.com/office/drawing/2014/main" id="{D918D7BA-25D3-4425-8579-8A7C85999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067050"/>
            <a:ext cx="4133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Compare policy behavior, record failures and measure latency by stage.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C1DE98-3551-4E6B-8B61-AD10C361C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771900"/>
            <a:ext cx="415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Cloud readiness check">
            <a:extLst xmlns:a="http://schemas.openxmlformats.org/drawingml/2006/main">
              <a:ext uri="{FF2B5EF4-FFF2-40B4-BE49-F238E27FC236}">
                <a16:creationId xmlns:a16="http://schemas.microsoft.com/office/drawing/2014/main" id="{4FAA1678-0A92-4937-A133-F485561DD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981450"/>
            <a:ext cx="4095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Cloud readiness check</a:t>
            </a:r>
          </a:p>
        </p:txBody>
      </p:sp>
      <p:sp>
        <p:nvSpPr>
          <p:cNvPr id="21" name="Test persistence and both flows before d">
            <a:extLst xmlns:a="http://schemas.openxmlformats.org/drawingml/2006/main">
              <a:ext uri="{FF2B5EF4-FFF2-40B4-BE49-F238E27FC236}">
                <a16:creationId xmlns:a16="http://schemas.microsoft.com/office/drawing/2014/main" id="{3951E480-4AE7-44A7-9EE2-97BED5D37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362450"/>
            <a:ext cx="4143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Test persistence and both flows before describing a cloud deployment.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8A4702-E516-4168-A0C0-0B0E03EE9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067300"/>
            <a:ext cx="415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MVP boundary">
            <a:extLst xmlns:a="http://schemas.openxmlformats.org/drawingml/2006/main">
              <a:ext uri="{FF2B5EF4-FFF2-40B4-BE49-F238E27FC236}">
                <a16:creationId xmlns:a16="http://schemas.microsoft.com/office/drawing/2014/main" id="{1C34525E-AA80-4474-8604-BAB97AE4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27685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6B4B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176B4B"/>
                </a:solidFill>
                <a:latin typeface="Avenir Next"/>
                <a:ea typeface="Avenir Next"/>
                <a:cs typeface="Avenir Next"/>
              </a:rPr>
              <a:t>MVP boundary</a:t>
            </a:r>
          </a:p>
        </p:txBody>
      </p:sp>
      <p:sp>
        <p:nvSpPr>
          <p:cNvPr id="24" name="Synthetic data. Simulated outcomes. No p">
            <a:extLst xmlns:a="http://schemas.openxmlformats.org/drawingml/2006/main">
              <a:ext uri="{FF2B5EF4-FFF2-40B4-BE49-F238E27FC236}">
                <a16:creationId xmlns:a16="http://schemas.microsoft.com/office/drawing/2014/main" id="{CF7EE32E-56BF-4FA1-A733-60BE9E584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638800"/>
            <a:ext cx="421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72821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172821"/>
                </a:solidFill>
                <a:latin typeface="Avenir Next"/>
                <a:ea typeface="Avenir Next"/>
                <a:cs typeface="Avenir Next"/>
              </a:rPr>
              <a:t>Synthetic data. Simulated outcomes. No payment execution.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D878EE-3BF0-455A-85FB-FEC642124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Next step: confirm provider access and b">
            <a:extLst xmlns:a="http://schemas.openxmlformats.org/drawingml/2006/main">
              <a:ext uri="{FF2B5EF4-FFF2-40B4-BE49-F238E27FC236}">
                <a16:creationId xmlns:a16="http://schemas.microsoft.com/office/drawing/2014/main" id="{40DF2234-2952-4132-9571-58D028511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67475"/>
            <a:ext cx="10820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def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59675F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59675F"/>
                </a:solidFill>
                <a:latin typeface="Avenir Next"/>
                <a:ea typeface="Avenir Next"/>
                <a:cs typeface="Avenir Next"/>
              </a:rPr>
              <a:t>Next step: confirm provider access and begin with fixtures  /  Live integrations remain unverified</a:t>
            </a:r>
          </a:p>
        </p:txBody>
      </p:sp>
    </p:spTree>
    <p:extLst>
      <p:ext uri="{BB962C8B-B14F-4D97-AF65-F5344CB8AC3E}">
        <p14:creationId xmlns:p14="http://schemas.microsoft.com/office/powerpoint/2010/main" val="4325269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2026-10-11T14:44:14.6550000Z</dcterms:created>
  <dcterms:modified xsi:type="dcterms:W3CDTF">2026-10-11T14:44:14.6550000Z</dcterms:modified>
</coreProperties>
</file>